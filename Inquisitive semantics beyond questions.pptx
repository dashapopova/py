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slide" Target="slides/slide81.xml"/><Relationship Id="rId41" Type="http://schemas.openxmlformats.org/officeDocument/2006/relationships/slide" Target="slides/slide36.xml"/><Relationship Id="rId85" Type="http://schemas.openxmlformats.org/officeDocument/2006/relationships/slide" Target="slides/slide80.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1c5bdae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1c5bdae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1c5bdae7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1c5bdae7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1c5bdae7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1c5bdae7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1c5bdae7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1c5bdae7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1c5bdae70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1c5bdae70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1c5bdae7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1c5bdae7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1c5bdae7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1c5bdae7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1c5bdae7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1c5bdae7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d1c5bdae7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d1c5bdae7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1c5bdae7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d1c5bdae7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1c5bdae7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d1c5bdae7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1c5bdae70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1c5bdae70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1c5bdae7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d1c5bdae7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20345e8b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20345e8b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20345e8b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20345e8b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1c5bdae70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1c5bdae70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20345e8b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d20345e8b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20345e8b2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d20345e8b2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1c5bdae70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d1c5bdae70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20345e8b2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d20345e8b2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20345e8b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d20345e8b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20345e8b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d20345e8b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20345e8b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d20345e8b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d20345e8b2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d20345e8b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1c5bdae70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d1c5bdae70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20345e8b2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d20345e8b2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d20345e8b2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d20345e8b2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d20345e8b2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d20345e8b2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d20345e8b2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d20345e8b2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20345e8b2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d20345e8b2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d20345e8b2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d20345e8b2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20345e8b2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d20345e8b2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d20345e8b2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d20345e8b2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d20345e8b2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d20345e8b2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d20345e8b2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d20345e8b2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20345e8b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d20345e8b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d20345e8b2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d20345e8b2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d20345e8b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d20345e8b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d20345e8b2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d20345e8b2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d20345e8b2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d20345e8b2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20345e8b2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20345e8b2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d20345e8b2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d20345e8b2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20345e8b2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d20345e8b2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20345e8b2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d20345e8b2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d2388560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d2388560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d23885607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d23885607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d25736f3c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d25736f3c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d25736f3c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d25736f3c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d25736f3c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d25736f3c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d25736f3c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d25736f3c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d25736f3c9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d25736f3c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d25736f3c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d25736f3c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d25736f3c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d25736f3c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d25736f3c9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d25736f3c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d25736f3c9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d25736f3c9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d25736f3c9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d25736f3c9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d25736f3c9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d25736f3c9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d25dde805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d25dde805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d25dde805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d25dde805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25dde805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d25dde805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d23885607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d23885607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d23885607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d23885607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d25dde805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d25dde805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d25dde8057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d25dde8057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d25dde805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d25dde805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d25dde8057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d25dde8057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d25dde8057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d25dde8057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d25dde8057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d25dde8057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d25dde8057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d25dde8057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d25dde8057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d25dde8057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d25dde8057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d25dde8057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d25dde8057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d25dde8057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25dde8057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d25dde8057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25dde8057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d25dde8057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d25dde8057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d25dde8057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d25dde8057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d25dde8057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d25dde8057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d25dde8057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d25dde8057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d25dde8057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d25dde8057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d25dde8057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d25dde8057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d25dde8057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2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29.png"/><Relationship Id="rId4" Type="http://schemas.openxmlformats.org/officeDocument/2006/relationships/image" Target="../media/image2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2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21.png"/><Relationship Id="rId4" Type="http://schemas.openxmlformats.org/officeDocument/2006/relationships/image" Target="../media/image1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1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20.png"/><Relationship Id="rId4" Type="http://schemas.openxmlformats.org/officeDocument/2006/relationships/image" Target="../media/image16.png"/><Relationship Id="rId5" Type="http://schemas.openxmlformats.org/officeDocument/2006/relationships/image" Target="../media/image28.png"/><Relationship Id="rId6" Type="http://schemas.openxmlformats.org/officeDocument/2006/relationships/image" Target="../media/image2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28.png"/><Relationship Id="rId4" Type="http://schemas.openxmlformats.org/officeDocument/2006/relationships/image" Target="../media/image2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24.png"/><Relationship Id="rId4" Type="http://schemas.openxmlformats.org/officeDocument/2006/relationships/image" Target="../media/image2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2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2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2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2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ru">
                <a:latin typeface="Times New Roman"/>
                <a:ea typeface="Times New Roman"/>
                <a:cs typeface="Times New Roman"/>
                <a:sym typeface="Times New Roman"/>
              </a:rPr>
              <a:t>Inquisitive semantics beyond questions</a:t>
            </a:r>
            <a:endParaRPr>
              <a:latin typeface="Times New Roman"/>
              <a:ea typeface="Times New Roman"/>
              <a:cs typeface="Times New Roman"/>
              <a:sym typeface="Times New Roman"/>
            </a:endParaRPr>
          </a:p>
        </p:txBody>
      </p:sp>
      <p:sp>
        <p:nvSpPr>
          <p:cNvPr id="55" name="Google Shape;55;p13"/>
          <p:cNvSpPr txBox="1"/>
          <p:nvPr>
            <p:ph idx="1" type="subTitle"/>
          </p:nvPr>
        </p:nvSpPr>
        <p:spPr>
          <a:xfrm>
            <a:off x="311700" y="2834125"/>
            <a:ext cx="8584500" cy="23094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ru">
                <a:solidFill>
                  <a:schemeClr val="dk1"/>
                </a:solidFill>
                <a:latin typeface="Times New Roman"/>
                <a:ea typeface="Times New Roman"/>
                <a:cs typeface="Times New Roman"/>
                <a:sym typeface="Times New Roman"/>
              </a:rPr>
              <a:t>Daria Popova</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ru">
                <a:solidFill>
                  <a:schemeClr val="dk1"/>
                </a:solidFill>
                <a:latin typeface="Times New Roman"/>
                <a:ea typeface="Times New Roman"/>
                <a:cs typeface="Times New Roman"/>
                <a:sym typeface="Times New Roman"/>
              </a:rPr>
              <a:t>HSE University</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ru">
                <a:latin typeface="Times New Roman"/>
                <a:ea typeface="Times New Roman"/>
                <a:cs typeface="Times New Roman"/>
                <a:sym typeface="Times New Roman"/>
              </a:rPr>
              <a:t>Spring School of Logic, Linguistics and Formal Philosophy </a:t>
            </a:r>
            <a:endParaRPr>
              <a:latin typeface="Times New Roman"/>
              <a:ea typeface="Times New Roman"/>
              <a:cs typeface="Times New Roman"/>
              <a:sym typeface="Times New Roman"/>
            </a:endParaRPr>
          </a:p>
          <a:p>
            <a:pPr indent="0" lvl="0" marL="0" rtl="0" algn="ctr">
              <a:spcBef>
                <a:spcPts val="0"/>
              </a:spcBef>
              <a:spcAft>
                <a:spcPts val="0"/>
              </a:spcAft>
              <a:buNone/>
            </a:pPr>
            <a:r>
              <a:rPr lang="ru">
                <a:latin typeface="Times New Roman"/>
                <a:ea typeface="Times New Roman"/>
                <a:cs typeface="Times New Roman"/>
                <a:sym typeface="Times New Roman"/>
              </a:rPr>
              <a:t>23-28.03.2026</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a:t>
            </a:r>
            <a:r>
              <a:rPr lang="ru">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p:txBody>
      </p:sp>
      <p:sp>
        <p:nvSpPr>
          <p:cNvPr id="61" name="Google Shape;61;p14"/>
          <p:cNvSpPr txBox="1"/>
          <p:nvPr>
            <p:ph idx="1" type="body"/>
          </p:nvPr>
        </p:nvSpPr>
        <p:spPr>
          <a:xfrm>
            <a:off x="311700" y="1152475"/>
            <a:ext cx="8520600" cy="37596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Inquisitive semantics is a semantic framework for the analysis of linguistic information exchange. </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Information exchange is seen as a process of raising and resolving issues. </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Inquisitive semantics provides a new formal notion of issues, which makes it possible to model the semantic content of both declarative and interrogative sentences in an integrated way, capturing not only the information that such sentences convey but also the issues that they raise, which makes it possible to model various concepts that are crucial for the analysis of linguistic information exchange in a more refined and more principled way than has been possible in previous frameworks.</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Motivation</a:t>
            </a:r>
            <a:endParaRPr>
              <a:latin typeface="Times New Roman"/>
              <a:ea typeface="Times New Roman"/>
              <a:cs typeface="Times New Roman"/>
              <a:sym typeface="Times New Roman"/>
            </a:endParaRPr>
          </a:p>
        </p:txBody>
      </p:sp>
      <p:sp>
        <p:nvSpPr>
          <p:cNvPr id="67" name="Google Shape;67;p15"/>
          <p:cNvSpPr txBox="1"/>
          <p:nvPr>
            <p:ph idx="1" type="body"/>
          </p:nvPr>
        </p:nvSpPr>
        <p:spPr>
          <a:xfrm>
            <a:off x="311700" y="1152475"/>
            <a:ext cx="8520600" cy="3941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ru" sz="1200">
                <a:solidFill>
                  <a:schemeClr val="dk1"/>
                </a:solidFill>
                <a:latin typeface="Times New Roman"/>
                <a:ea typeface="Times New Roman"/>
                <a:cs typeface="Times New Roman"/>
                <a:sym typeface="Times New Roman"/>
              </a:rPr>
              <a:t>Why do we need a formal notion of issues?</a:t>
            </a:r>
            <a:endParaRPr sz="12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1200">
                <a:solidFill>
                  <a:schemeClr val="dk1"/>
                </a:solidFill>
                <a:latin typeface="Times New Roman"/>
                <a:ea typeface="Times New Roman"/>
                <a:cs typeface="Times New Roman"/>
                <a:sym typeface="Times New Roman"/>
              </a:rPr>
              <a:t>Reason 1: To represent the content of interrogative sentences</a:t>
            </a:r>
            <a:endParaRPr sz="1200">
              <a:solidFill>
                <a:schemeClr val="dk1"/>
              </a:solidFill>
              <a:latin typeface="Times New Roman"/>
              <a:ea typeface="Times New Roman"/>
              <a:cs typeface="Times New Roman"/>
              <a:sym typeface="Times New Roman"/>
            </a:endParaRPr>
          </a:p>
          <a:p>
            <a:pPr indent="-304800" lvl="0" marL="457200" rtl="0" algn="just">
              <a:spcBef>
                <a:spcPts val="1200"/>
              </a:spcBef>
              <a:spcAft>
                <a:spcPts val="0"/>
              </a:spcAft>
              <a:buClr>
                <a:schemeClr val="dk1"/>
              </a:buClr>
              <a:buSzPts val="1200"/>
              <a:buFont typeface="Times New Roman"/>
              <a:buChar char="●"/>
            </a:pPr>
            <a:r>
              <a:rPr lang="ru" sz="1200">
                <a:solidFill>
                  <a:schemeClr val="dk1"/>
                </a:solidFill>
                <a:latin typeface="Times New Roman"/>
                <a:ea typeface="Times New Roman"/>
                <a:cs typeface="Times New Roman"/>
                <a:sym typeface="Times New Roman"/>
              </a:rPr>
              <a:t>The semantic content of a declarative sentence is standardly construed as a set of possible worlds, those worlds that are compatible with the information that the sentence conveys. </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chemeClr val="dk1"/>
              </a:buClr>
              <a:buSzPts val="1200"/>
              <a:buFont typeface="Times New Roman"/>
              <a:buChar char="●"/>
            </a:pPr>
            <a:r>
              <a:rPr lang="ru" sz="1200">
                <a:solidFill>
                  <a:schemeClr val="dk1"/>
                </a:solidFill>
                <a:latin typeface="Times New Roman"/>
                <a:ea typeface="Times New Roman"/>
                <a:cs typeface="Times New Roman"/>
                <a:sym typeface="Times New Roman"/>
              </a:rPr>
              <a:t>This set of worlds is referred to as the proposition that the sentence expresses. This notion of semantic content works well for declarative sentences, whose main conversational role is indeed to provide information. </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chemeClr val="dk1"/>
              </a:buClr>
              <a:buSzPts val="1200"/>
              <a:buFont typeface="Times New Roman"/>
              <a:buChar char="●"/>
            </a:pPr>
            <a:r>
              <a:rPr lang="ru" sz="1200">
                <a:solidFill>
                  <a:schemeClr val="dk1"/>
                </a:solidFill>
                <a:latin typeface="Times New Roman"/>
                <a:ea typeface="Times New Roman"/>
                <a:cs typeface="Times New Roman"/>
                <a:sym typeface="Times New Roman"/>
              </a:rPr>
              <a:t>Can the semantic content of an interrogative sentence be construed as a set of possible worlds as well?</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chemeClr val="dk1"/>
              </a:buClr>
              <a:buSzPts val="1200"/>
              <a:buFont typeface="Times New Roman"/>
              <a:buAutoNum type="arabicParenBoth"/>
            </a:pPr>
            <a:r>
              <a:rPr lang="ru" sz="1200">
                <a:solidFill>
                  <a:schemeClr val="dk1"/>
                </a:solidFill>
                <a:latin typeface="Times New Roman"/>
                <a:ea typeface="Times New Roman"/>
                <a:cs typeface="Times New Roman"/>
                <a:sym typeface="Times New Roman"/>
              </a:rPr>
              <a:t>Ivan is calling.</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chemeClr val="dk1"/>
              </a:buClr>
              <a:buSzPts val="1200"/>
              <a:buFont typeface="Times New Roman"/>
              <a:buAutoNum type="arabicParenBoth"/>
            </a:pPr>
            <a:r>
              <a:rPr lang="ru" sz="1200">
                <a:solidFill>
                  <a:schemeClr val="dk1"/>
                </a:solidFill>
                <a:latin typeface="Times New Roman"/>
                <a:ea typeface="Times New Roman"/>
                <a:cs typeface="Times New Roman"/>
                <a:sym typeface="Times New Roman"/>
              </a:rPr>
              <a:t>Is Ivan calling?</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chemeClr val="dk1"/>
              </a:buClr>
              <a:buSzPts val="1200"/>
              <a:buFont typeface="Times New Roman"/>
              <a:buChar char="●"/>
            </a:pPr>
            <a:r>
              <a:rPr lang="ru" sz="1200">
                <a:solidFill>
                  <a:schemeClr val="dk1"/>
                </a:solidFill>
                <a:latin typeface="Times New Roman"/>
                <a:ea typeface="Times New Roman"/>
                <a:cs typeface="Times New Roman"/>
                <a:sym typeface="Times New Roman"/>
              </a:rPr>
              <a:t>“An interrogative sentence and an indicative one contain the same thought; but the indicative contains something else as well, namely, the assertion. The interrogative sentence contains something more too, namely a request. Therefore two things must be distinguished in an indicative sentence: the content, which it has in common with the corresponding sentence-question, and the assertion.” (Frege, 1918)</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chemeClr val="dk1"/>
              </a:buClr>
              <a:buSzPts val="1200"/>
              <a:buFont typeface="Times New Roman"/>
              <a:buChar char="●"/>
            </a:pPr>
            <a:r>
              <a:rPr lang="ru" sz="1200">
                <a:solidFill>
                  <a:schemeClr val="dk1"/>
                </a:solidFill>
                <a:latin typeface="Times New Roman"/>
                <a:ea typeface="Times New Roman"/>
                <a:cs typeface="Times New Roman"/>
                <a:sym typeface="Times New Roman"/>
              </a:rPr>
              <a:t>So the idea is that declaratives and interrogatives have the same semantic content—a proposition—but come with a different force—either assertion or request. </a:t>
            </a:r>
            <a:endParaRPr sz="1200">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sz="1200">
                <a:solidFill>
                  <a:schemeClr val="dk1"/>
                </a:solidFill>
                <a:latin typeface="Times New Roman"/>
                <a:ea typeface="Times New Roman"/>
                <a:cs typeface="Times New Roman"/>
                <a:sym typeface="Times New Roman"/>
              </a:rPr>
              <a:t>Ciardelli et al. 2017</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Motivation</a:t>
            </a:r>
            <a:endParaRPr>
              <a:latin typeface="Times New Roman"/>
              <a:ea typeface="Times New Roman"/>
              <a:cs typeface="Times New Roman"/>
              <a:sym typeface="Times New Roman"/>
            </a:endParaRPr>
          </a:p>
        </p:txBody>
      </p:sp>
      <p:sp>
        <p:nvSpPr>
          <p:cNvPr id="73" name="Google Shape;73;p16"/>
          <p:cNvSpPr txBox="1"/>
          <p:nvPr>
            <p:ph idx="1" type="body"/>
          </p:nvPr>
        </p:nvSpPr>
        <p:spPr>
          <a:xfrm>
            <a:off x="311700" y="1152475"/>
            <a:ext cx="8520600" cy="37596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ru">
                <a:solidFill>
                  <a:schemeClr val="dk1"/>
                </a:solidFill>
                <a:latin typeface="Times New Roman"/>
                <a:ea typeface="Times New Roman"/>
                <a:cs typeface="Times New Roman"/>
                <a:sym typeface="Times New Roman"/>
              </a:rPr>
              <a:t>Why do we need a formal notion of issues?</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Reason 1: To represent the content of interrogative sentences</a:t>
            </a:r>
            <a:endParaRPr>
              <a:solidFill>
                <a:schemeClr val="dk1"/>
              </a:solidFill>
              <a:latin typeface="Times New Roman"/>
              <a:ea typeface="Times New Roman"/>
              <a:cs typeface="Times New Roman"/>
              <a:sym typeface="Times New Roman"/>
            </a:endParaRPr>
          </a:p>
          <a:p>
            <a:pPr indent="-308610" lvl="0" marL="457200" rtl="0" algn="l">
              <a:spcBef>
                <a:spcPts val="1200"/>
              </a:spcBef>
              <a:spcAft>
                <a:spcPts val="0"/>
              </a:spcAft>
              <a:buClr>
                <a:schemeClr val="dk1"/>
              </a:buClr>
              <a:buSzPct val="100000"/>
              <a:buFont typeface="Times New Roman"/>
              <a:buAutoNum type="arabicParenBoth"/>
            </a:pPr>
            <a:r>
              <a:rPr lang="ru">
                <a:solidFill>
                  <a:schemeClr val="dk1"/>
                </a:solidFill>
                <a:latin typeface="Times New Roman"/>
                <a:ea typeface="Times New Roman"/>
                <a:cs typeface="Times New Roman"/>
                <a:sym typeface="Times New Roman"/>
              </a:rPr>
              <a:t>Is Ivan calling, or Penny?</a:t>
            </a:r>
            <a:endParaRPr>
              <a:solidFill>
                <a:schemeClr val="dk1"/>
              </a:solidFill>
              <a:latin typeface="Times New Roman"/>
              <a:ea typeface="Times New Roman"/>
              <a:cs typeface="Times New Roman"/>
              <a:sym typeface="Times New Roman"/>
            </a:endParaRPr>
          </a:p>
          <a:p>
            <a:pPr indent="-308610" lvl="0" marL="457200" rtl="0" algn="l">
              <a:spcBef>
                <a:spcPts val="0"/>
              </a:spcBef>
              <a:spcAft>
                <a:spcPts val="0"/>
              </a:spcAft>
              <a:buClr>
                <a:schemeClr val="dk1"/>
              </a:buClr>
              <a:buSzPct val="100000"/>
              <a:buFont typeface="Times New Roman"/>
              <a:buAutoNum type="arabicParenBoth"/>
            </a:pPr>
            <a:r>
              <a:rPr lang="ru">
                <a:solidFill>
                  <a:schemeClr val="dk1"/>
                </a:solidFill>
                <a:latin typeface="Times New Roman"/>
                <a:ea typeface="Times New Roman"/>
                <a:cs typeface="Times New Roman"/>
                <a:sym typeface="Times New Roman"/>
              </a:rPr>
              <a:t>Who is calling?</a:t>
            </a:r>
            <a:endParaRPr>
              <a:solidFill>
                <a:schemeClr val="dk1"/>
              </a:solidFill>
              <a:latin typeface="Times New Roman"/>
              <a:ea typeface="Times New Roman"/>
              <a:cs typeface="Times New Roman"/>
              <a:sym typeface="Times New Roman"/>
            </a:endParaRPr>
          </a:p>
          <a:p>
            <a:pPr indent="-308610" lvl="0" marL="457200" rtl="0" algn="l">
              <a:spcBef>
                <a:spcPts val="0"/>
              </a:spcBef>
              <a:spcAft>
                <a:spcPts val="0"/>
              </a:spcAft>
              <a:buClr>
                <a:schemeClr val="dk1"/>
              </a:buClr>
              <a:buSzPct val="100000"/>
              <a:buFont typeface="Times New Roman"/>
              <a:buAutoNum type="arabicParenBoth"/>
            </a:pPr>
            <a:r>
              <a:rPr lang="ru">
                <a:solidFill>
                  <a:schemeClr val="dk1"/>
                </a:solidFill>
                <a:latin typeface="Times New Roman"/>
                <a:ea typeface="Times New Roman"/>
                <a:cs typeface="Times New Roman"/>
                <a:sym typeface="Times New Roman"/>
              </a:rPr>
              <a:t>John knows that Ivan is calling.</a:t>
            </a:r>
            <a:endParaRPr>
              <a:solidFill>
                <a:schemeClr val="dk1"/>
              </a:solidFill>
              <a:latin typeface="Times New Roman"/>
              <a:ea typeface="Times New Roman"/>
              <a:cs typeface="Times New Roman"/>
              <a:sym typeface="Times New Roman"/>
            </a:endParaRPr>
          </a:p>
          <a:p>
            <a:pPr indent="-308610" lvl="0" marL="457200" rtl="0" algn="l">
              <a:spcBef>
                <a:spcPts val="0"/>
              </a:spcBef>
              <a:spcAft>
                <a:spcPts val="0"/>
              </a:spcAft>
              <a:buClr>
                <a:schemeClr val="dk1"/>
              </a:buClr>
              <a:buSzPct val="100000"/>
              <a:buFont typeface="Times New Roman"/>
              <a:buAutoNum type="arabicParenBoth"/>
            </a:pPr>
            <a:r>
              <a:rPr lang="ru">
                <a:solidFill>
                  <a:schemeClr val="dk1"/>
                </a:solidFill>
                <a:latin typeface="Times New Roman"/>
                <a:ea typeface="Times New Roman"/>
                <a:cs typeface="Times New Roman"/>
                <a:sym typeface="Times New Roman"/>
              </a:rPr>
              <a:t>John knows whether Ivan is calling.</a:t>
            </a:r>
            <a:endParaRPr>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308610" lvl="0" marL="457200" rtl="0" algn="l">
              <a:spcBef>
                <a:spcPts val="1200"/>
              </a:spcBef>
              <a:spcAft>
                <a:spcPts val="0"/>
              </a:spcAft>
              <a:buClr>
                <a:schemeClr val="dk1"/>
              </a:buClr>
              <a:buSzPct val="100000"/>
              <a:buFont typeface="Times New Roman"/>
              <a:buChar char="●"/>
            </a:pPr>
            <a:r>
              <a:rPr lang="ru">
                <a:solidFill>
                  <a:schemeClr val="dk1"/>
                </a:solidFill>
                <a:latin typeface="Times New Roman"/>
                <a:ea typeface="Times New Roman"/>
                <a:cs typeface="Times New Roman"/>
                <a:sym typeface="Times New Roman"/>
              </a:rPr>
              <a:t>If the embedded clauses had the same content, then by the principle of compositionality the two sentences as a whole should also have the same content. But this is clearly not the case. So the embedded clauses must differ in content.</a:t>
            </a:r>
            <a:endParaRPr>
              <a:solidFill>
                <a:schemeClr val="dk1"/>
              </a:solidFill>
              <a:latin typeface="Times New Roman"/>
              <a:ea typeface="Times New Roman"/>
              <a:cs typeface="Times New Roman"/>
              <a:sym typeface="Times New Roman"/>
            </a:endParaRPr>
          </a:p>
          <a:p>
            <a:pPr indent="-308610" lvl="0" marL="457200" rtl="0" algn="l">
              <a:spcBef>
                <a:spcPts val="0"/>
              </a:spcBef>
              <a:spcAft>
                <a:spcPts val="0"/>
              </a:spcAft>
              <a:buClr>
                <a:schemeClr val="dk1"/>
              </a:buClr>
              <a:buSzPct val="100000"/>
              <a:buFont typeface="Times New Roman"/>
              <a:buChar char="●"/>
            </a:pPr>
            <a:r>
              <a:rPr lang="ru">
                <a:solidFill>
                  <a:schemeClr val="dk1"/>
                </a:solidFill>
                <a:latin typeface="Times New Roman"/>
                <a:ea typeface="Times New Roman"/>
                <a:cs typeface="Times New Roman"/>
                <a:sym typeface="Times New Roman"/>
              </a:rPr>
              <a:t>Thus, the standard notion of semantic content does not seem applicable to interrogative sentences. Rather, what we need for interrogatives is a notion of content that directly captures the issues that they raise.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Motivation</a:t>
            </a:r>
            <a:endParaRPr>
              <a:latin typeface="Times New Roman"/>
              <a:ea typeface="Times New Roman"/>
              <a:cs typeface="Times New Roman"/>
              <a:sym typeface="Times New Roman"/>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ru">
                <a:solidFill>
                  <a:schemeClr val="dk1"/>
                </a:solidFill>
                <a:latin typeface="Times New Roman"/>
                <a:ea typeface="Times New Roman"/>
                <a:cs typeface="Times New Roman"/>
                <a:sym typeface="Times New Roman"/>
              </a:rPr>
              <a:t>Why do we need a formal notion of issues?</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Reason 2: To model conversational contexts</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Conversational contexts are modeled in a way that does not only take account of the information that has been established in the conversation so far, but also of the issues that have been brought up, often referred to as the questions under discussion.</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(1</a:t>
            </a:r>
            <a:r>
              <a:rPr lang="ru">
                <a:solidFill>
                  <a:schemeClr val="dk1"/>
                </a:solidFill>
                <a:latin typeface="Times New Roman"/>
                <a:ea typeface="Times New Roman"/>
                <a:cs typeface="Times New Roman"/>
                <a:sym typeface="Times New Roman"/>
              </a:rPr>
              <a:t>)	A: What did you do this morning?</a:t>
            </a:r>
            <a:endParaRPr>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rPr lang="ru">
                <a:solidFill>
                  <a:schemeClr val="dk1"/>
                </a:solidFill>
                <a:latin typeface="Times New Roman"/>
                <a:ea typeface="Times New Roman"/>
                <a:cs typeface="Times New Roman"/>
                <a:sym typeface="Times New Roman"/>
              </a:rPr>
              <a:t>B: I read the newspaper. Implicature: B did not do the laundry</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(2)	A: What did you read this morning?</a:t>
            </a:r>
            <a:endParaRPr>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rPr lang="ru">
                <a:solidFill>
                  <a:schemeClr val="dk1"/>
                </a:solidFill>
                <a:latin typeface="Times New Roman"/>
                <a:ea typeface="Times New Roman"/>
                <a:cs typeface="Times New Roman"/>
                <a:sym typeface="Times New Roman"/>
              </a:rPr>
              <a:t>B: I read the newspaper. Implicature: B did not read anything besides the newspaper</a:t>
            </a:r>
            <a:r>
              <a:rPr lang="ru">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Motivation</a:t>
            </a:r>
            <a:endParaRPr>
              <a:latin typeface="Times New Roman"/>
              <a:ea typeface="Times New Roman"/>
              <a:cs typeface="Times New Roman"/>
              <a:sym typeface="Times New Roman"/>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ru">
                <a:solidFill>
                  <a:schemeClr val="dk1"/>
                </a:solidFill>
                <a:latin typeface="Times New Roman"/>
                <a:ea typeface="Times New Roman"/>
                <a:cs typeface="Times New Roman"/>
                <a:sym typeface="Times New Roman"/>
              </a:rPr>
              <a:t>Why do we need a formal notion of issues?</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Reason 2: To model conversational contexts</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Conversational contexts are modeled in a way that does not only take account of the information that has been established in the conversation so far, but also of the issues that have been brought up, often referred to as the questions under discussion.</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(1)	A: </a:t>
            </a:r>
            <a:r>
              <a:rPr lang="ru">
                <a:solidFill>
                  <a:schemeClr val="dk1"/>
                </a:solidFill>
                <a:latin typeface="Times New Roman"/>
                <a:ea typeface="Times New Roman"/>
                <a:cs typeface="Times New Roman"/>
                <a:sym typeface="Times New Roman"/>
              </a:rPr>
              <a:t>Who did Alf rescue?</a:t>
            </a:r>
            <a:endParaRPr>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rPr lang="ru">
                <a:solidFill>
                  <a:schemeClr val="dk1"/>
                </a:solidFill>
                <a:latin typeface="Times New Roman"/>
                <a:ea typeface="Times New Roman"/>
                <a:cs typeface="Times New Roman"/>
                <a:sym typeface="Times New Roman"/>
              </a:rPr>
              <a:t>B: Alf rescued ZOE [FOC]. / #ALF [FOC] rescued Zoe.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(2)	A: W</a:t>
            </a:r>
            <a:r>
              <a:rPr lang="ru">
                <a:solidFill>
                  <a:schemeClr val="dk1"/>
                </a:solidFill>
                <a:latin typeface="Times New Roman"/>
                <a:ea typeface="Times New Roman"/>
                <a:cs typeface="Times New Roman"/>
                <a:sym typeface="Times New Roman"/>
              </a:rPr>
              <a:t>ho rescued Zoe?</a:t>
            </a:r>
            <a:endParaRPr>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rPr lang="ru">
                <a:solidFill>
                  <a:schemeClr val="dk1"/>
                </a:solidFill>
                <a:latin typeface="Times New Roman"/>
                <a:ea typeface="Times New Roman"/>
                <a:cs typeface="Times New Roman"/>
                <a:sym typeface="Times New Roman"/>
              </a:rPr>
              <a:t>B: </a:t>
            </a:r>
            <a:r>
              <a:rPr lang="ru">
                <a:solidFill>
                  <a:schemeClr val="dk1"/>
                </a:solidFill>
                <a:latin typeface="Times New Roman"/>
                <a:ea typeface="Times New Roman"/>
                <a:cs typeface="Times New Roman"/>
                <a:sym typeface="Times New Roman"/>
              </a:rPr>
              <a:t>ALF [FOC] rescued Zoe. / #Alf rescued ZOE [FOC].</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Focus marking, just like pragmatic reasoning, is sensitive to the issue under discussion.</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Motivation</a:t>
            </a:r>
            <a:endParaRPr>
              <a:latin typeface="Times New Roman"/>
              <a:ea typeface="Times New Roman"/>
              <a:cs typeface="Times New Roman"/>
              <a:sym typeface="Times New Roman"/>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just">
              <a:spcBef>
                <a:spcPts val="0"/>
              </a:spcBef>
              <a:spcAft>
                <a:spcPts val="0"/>
              </a:spcAft>
              <a:buNone/>
            </a:pPr>
            <a:r>
              <a:rPr lang="ru">
                <a:solidFill>
                  <a:schemeClr val="dk1"/>
                </a:solidFill>
                <a:latin typeface="Times New Roman"/>
                <a:ea typeface="Times New Roman"/>
                <a:cs typeface="Times New Roman"/>
                <a:sym typeface="Times New Roman"/>
              </a:rPr>
              <a:t>Why do we need a formal notion of issues?</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a:solidFill>
                  <a:schemeClr val="dk1"/>
                </a:solidFill>
                <a:latin typeface="Times New Roman"/>
                <a:ea typeface="Times New Roman"/>
                <a:cs typeface="Times New Roman"/>
                <a:sym typeface="Times New Roman"/>
              </a:rPr>
              <a:t>Reason 3: To model issue-directed propositional attitudes and capture the meaning of verbs that report such attitudes</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a:solidFill>
                  <a:schemeClr val="dk1"/>
                </a:solidFill>
                <a:latin typeface="Times New Roman"/>
                <a:ea typeface="Times New Roman"/>
                <a:cs typeface="Times New Roman"/>
                <a:sym typeface="Times New Roman"/>
              </a:rPr>
              <a:t>J</a:t>
            </a:r>
            <a:r>
              <a:rPr lang="ru">
                <a:solidFill>
                  <a:schemeClr val="dk1"/>
                </a:solidFill>
                <a:latin typeface="Times New Roman"/>
                <a:ea typeface="Times New Roman"/>
                <a:cs typeface="Times New Roman"/>
                <a:sym typeface="Times New Roman"/>
              </a:rPr>
              <a:t>ust like there are verbs like </a:t>
            </a:r>
            <a:r>
              <a:rPr i="1" lang="ru">
                <a:solidFill>
                  <a:schemeClr val="dk1"/>
                </a:solidFill>
                <a:latin typeface="Times New Roman"/>
                <a:ea typeface="Times New Roman"/>
                <a:cs typeface="Times New Roman"/>
                <a:sym typeface="Times New Roman"/>
              </a:rPr>
              <a:t>know</a:t>
            </a:r>
            <a:r>
              <a:rPr lang="ru">
                <a:solidFill>
                  <a:schemeClr val="dk1"/>
                </a:solidFill>
                <a:latin typeface="Times New Roman"/>
                <a:ea typeface="Times New Roman"/>
                <a:cs typeface="Times New Roman"/>
                <a:sym typeface="Times New Roman"/>
              </a:rPr>
              <a:t> and </a:t>
            </a:r>
            <a:r>
              <a:rPr i="1" lang="ru">
                <a:solidFill>
                  <a:schemeClr val="dk1"/>
                </a:solidFill>
                <a:latin typeface="Times New Roman"/>
                <a:ea typeface="Times New Roman"/>
                <a:cs typeface="Times New Roman"/>
                <a:sym typeface="Times New Roman"/>
              </a:rPr>
              <a:t>believe</a:t>
            </a:r>
            <a:r>
              <a:rPr lang="ru">
                <a:solidFill>
                  <a:schemeClr val="dk1"/>
                </a:solidFill>
                <a:latin typeface="Times New Roman"/>
                <a:ea typeface="Times New Roman"/>
                <a:cs typeface="Times New Roman"/>
                <a:sym typeface="Times New Roman"/>
              </a:rPr>
              <a:t> that describe the information state of an agent, as in (1) below, there are also verbs like </a:t>
            </a:r>
            <a:r>
              <a:rPr i="1" lang="ru">
                <a:solidFill>
                  <a:schemeClr val="dk1"/>
                </a:solidFill>
                <a:latin typeface="Times New Roman"/>
                <a:ea typeface="Times New Roman"/>
                <a:cs typeface="Times New Roman"/>
                <a:sym typeface="Times New Roman"/>
              </a:rPr>
              <a:t>wonder</a:t>
            </a:r>
            <a:r>
              <a:rPr lang="ru">
                <a:solidFill>
                  <a:schemeClr val="dk1"/>
                </a:solidFill>
                <a:latin typeface="Times New Roman"/>
                <a:ea typeface="Times New Roman"/>
                <a:cs typeface="Times New Roman"/>
                <a:sym typeface="Times New Roman"/>
              </a:rPr>
              <a:t> and </a:t>
            </a:r>
            <a:r>
              <a:rPr i="1" lang="ru">
                <a:solidFill>
                  <a:schemeClr val="dk1"/>
                </a:solidFill>
                <a:latin typeface="Times New Roman"/>
                <a:ea typeface="Times New Roman"/>
                <a:cs typeface="Times New Roman"/>
                <a:sym typeface="Times New Roman"/>
              </a:rPr>
              <a:t>be curious</a:t>
            </a:r>
            <a:r>
              <a:rPr lang="ru">
                <a:solidFill>
                  <a:schemeClr val="dk1"/>
                </a:solidFill>
                <a:latin typeface="Times New Roman"/>
                <a:ea typeface="Times New Roman"/>
                <a:cs typeface="Times New Roman"/>
                <a:sym typeface="Times New Roman"/>
              </a:rPr>
              <a:t> that describe the inquisitive state of an agent, as in (2).</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a:solidFill>
                  <a:schemeClr val="dk1"/>
                </a:solidFill>
                <a:latin typeface="Times New Roman"/>
                <a:ea typeface="Times New Roman"/>
                <a:cs typeface="Times New Roman"/>
                <a:sym typeface="Times New Roman"/>
              </a:rPr>
              <a:t>(1) John knows that Bill is coming.</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a:solidFill>
                  <a:schemeClr val="dk1"/>
                </a:solidFill>
                <a:latin typeface="Times New Roman"/>
                <a:ea typeface="Times New Roman"/>
                <a:cs typeface="Times New Roman"/>
                <a:sym typeface="Times New Roman"/>
              </a:rPr>
              <a:t>(2) John wonders who is coming.</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a:solidFill>
                  <a:schemeClr val="dk1"/>
                </a:solidFill>
                <a:latin typeface="Times New Roman"/>
                <a:ea typeface="Times New Roman"/>
                <a:cs typeface="Times New Roman"/>
                <a:sym typeface="Times New Roman"/>
              </a:rPr>
              <a:t>Knowledge and belief are information-directed propositional attitudes; wondering is an issue-directed propositional attitude. The standard way to model the knowledge and beliefs of an agent is as a set of possible worlds, namely those worlds that are compatible with what the agent knows or believes. Such a set of worlds is thought of as representing the agent’s information state. Similarly, in order to capture what an agent wonders about, we need a representation of her inquisitive state. For such a representation, we again need a formal notion of issues.</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Motivation</a:t>
            </a:r>
            <a:endParaRPr>
              <a:latin typeface="Times New Roman"/>
              <a:ea typeface="Times New Roman"/>
              <a:cs typeface="Times New Roman"/>
              <a:sym typeface="Times New Roman"/>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ru">
                <a:solidFill>
                  <a:schemeClr val="dk1"/>
                </a:solidFill>
                <a:latin typeface="Times New Roman"/>
                <a:ea typeface="Times New Roman"/>
                <a:cs typeface="Times New Roman"/>
                <a:sym typeface="Times New Roman"/>
              </a:rPr>
              <a:t>Declaratives and interrogatives can’t be treated separately</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Reason 1: Mutual embedding</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Declarative and interrogative sentences can be embedded into one another:</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(1) Bill asked me who won. 									embedded interrogative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(2) Who told you that Jane won? 								embedded declarative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(3) Bill asked me who told you that Jane won. 						two-level embedding</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So the meaning of a declarative sentence is sometimes partly determined by the meaning of an embedded interrogative sentence, and vice versa.</a:t>
            </a:r>
            <a:endParaRPr>
              <a:solidFill>
                <a:schemeClr val="dk1"/>
              </a:solidFill>
              <a:latin typeface="Times New Roman"/>
              <a:ea typeface="Times New Roman"/>
              <a:cs typeface="Times New Roman"/>
              <a:sym typeface="Times New Roman"/>
            </a:endParaRPr>
          </a:p>
          <a:p>
            <a:pPr indent="457200" lvl="0" marL="5486400" rtl="0" algn="l">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Motivation</a:t>
            </a:r>
            <a:endParaRPr>
              <a:latin typeface="Times New Roman"/>
              <a:ea typeface="Times New Roman"/>
              <a:cs typeface="Times New Roman"/>
              <a:sym typeface="Times New Roman"/>
            </a:endParaRPr>
          </a:p>
        </p:txBody>
      </p:sp>
      <p:sp>
        <p:nvSpPr>
          <p:cNvPr id="103" name="Google Shape;103;p21"/>
          <p:cNvSpPr txBox="1"/>
          <p:nvPr>
            <p:ph idx="1" type="body"/>
          </p:nvPr>
        </p:nvSpPr>
        <p:spPr>
          <a:xfrm>
            <a:off x="311700" y="1163175"/>
            <a:ext cx="8520600" cy="3416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ru">
                <a:solidFill>
                  <a:schemeClr val="dk1"/>
                </a:solidFill>
                <a:latin typeface="Times New Roman"/>
                <a:ea typeface="Times New Roman"/>
                <a:cs typeface="Times New Roman"/>
                <a:sym typeface="Times New Roman"/>
              </a:rPr>
              <a:t>Declaratives and interrogatives can’t be treated separately</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Reason 2: Interpretational dependencies</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T</a:t>
            </a:r>
            <a:r>
              <a:rPr lang="ru">
                <a:solidFill>
                  <a:schemeClr val="dk1"/>
                </a:solidFill>
                <a:latin typeface="Times New Roman"/>
                <a:ea typeface="Times New Roman"/>
                <a:cs typeface="Times New Roman"/>
                <a:sym typeface="Times New Roman"/>
              </a:rPr>
              <a:t>he interpretation of a declarative sentence depends on the issue raised by a preceding interrogative: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a:t>
            </a:r>
            <a:r>
              <a:rPr lang="ru">
                <a:solidFill>
                  <a:schemeClr val="dk1"/>
                </a:solidFill>
                <a:latin typeface="Times New Roman"/>
                <a:ea typeface="Times New Roman"/>
                <a:cs typeface="Times New Roman"/>
                <a:sym typeface="Times New Roman"/>
              </a:rPr>
              <a:t>1)	A: What did you do this morning?</a:t>
            </a:r>
            <a:endParaRPr>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rPr lang="ru">
                <a:solidFill>
                  <a:schemeClr val="dk1"/>
                </a:solidFill>
                <a:latin typeface="Times New Roman"/>
                <a:ea typeface="Times New Roman"/>
                <a:cs typeface="Times New Roman"/>
                <a:sym typeface="Times New Roman"/>
              </a:rPr>
              <a:t>B: I only read the newspaper. Implicature: B did not do the laundry</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(2)	A: What did you read this morning?</a:t>
            </a:r>
            <a:endParaRPr>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rPr lang="ru">
                <a:solidFill>
                  <a:schemeClr val="dk1"/>
                </a:solidFill>
                <a:latin typeface="Times New Roman"/>
                <a:ea typeface="Times New Roman"/>
                <a:cs typeface="Times New Roman"/>
                <a:sym typeface="Times New Roman"/>
              </a:rPr>
              <a:t>B: I only read the newspaper. Impl.: B did not read anything besides the newspaper</a:t>
            </a:r>
            <a:endParaRPr>
              <a:solidFill>
                <a:schemeClr val="dk1"/>
              </a:solidFill>
              <a:latin typeface="Times New Roman"/>
              <a:ea typeface="Times New Roman"/>
              <a:cs typeface="Times New Roman"/>
              <a:sym typeface="Times New Roman"/>
            </a:endParaRPr>
          </a:p>
          <a:p>
            <a:pPr indent="457200" lvl="0" marL="5943600" rtl="0" algn="l">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Motivation</a:t>
            </a:r>
            <a:endParaRPr>
              <a:latin typeface="Times New Roman"/>
              <a:ea typeface="Times New Roman"/>
              <a:cs typeface="Times New Roman"/>
              <a:sym typeface="Times New Roman"/>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a:bodyPr>
          <a:lstStyle/>
          <a:p>
            <a:pPr indent="0" lvl="0" marL="0" rtl="0" algn="just">
              <a:spcBef>
                <a:spcPts val="0"/>
              </a:spcBef>
              <a:spcAft>
                <a:spcPts val="0"/>
              </a:spcAft>
              <a:buNone/>
            </a:pPr>
            <a:r>
              <a:rPr lang="ru">
                <a:solidFill>
                  <a:schemeClr val="dk1"/>
                </a:solidFill>
                <a:latin typeface="Times New Roman"/>
                <a:ea typeface="Times New Roman"/>
                <a:cs typeface="Times New Roman"/>
                <a:sym typeface="Times New Roman"/>
              </a:rPr>
              <a:t>Why do we need an integrated notion of semantic content?</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a:solidFill>
                  <a:schemeClr val="dk1"/>
                </a:solidFill>
                <a:latin typeface="Times New Roman"/>
                <a:ea typeface="Times New Roman"/>
                <a:cs typeface="Times New Roman"/>
                <a:sym typeface="Times New Roman"/>
              </a:rPr>
              <a:t>Reason 1: Common building blocks</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a:solidFill>
                  <a:schemeClr val="dk1"/>
                </a:solidFill>
                <a:latin typeface="Times New Roman"/>
                <a:ea typeface="Times New Roman"/>
                <a:cs typeface="Times New Roman"/>
                <a:sym typeface="Times New Roman"/>
              </a:rPr>
              <a:t>Declaratives and interrogatives are to a large extent built up from the same lexical, morphological, and intonational elements.</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a:solidFill>
                  <a:schemeClr val="dk1"/>
                </a:solidFill>
                <a:latin typeface="Times New Roman"/>
                <a:ea typeface="Times New Roman"/>
                <a:cs typeface="Times New Roman"/>
                <a:sym typeface="Times New Roman"/>
              </a:rPr>
              <a:t>(1)	Luca is from Italy↑ or from Spain↓.</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a:solidFill>
                  <a:schemeClr val="dk1"/>
                </a:solidFill>
                <a:latin typeface="Times New Roman"/>
                <a:ea typeface="Times New Roman"/>
                <a:cs typeface="Times New Roman"/>
                <a:sym typeface="Times New Roman"/>
              </a:rPr>
              <a:t>(2)	Is Luca from Italy↑ or from Spain↓?</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a:solidFill>
                  <a:schemeClr val="dk1"/>
                </a:solidFill>
                <a:latin typeface="Times New Roman"/>
                <a:ea typeface="Times New Roman"/>
                <a:cs typeface="Times New Roman"/>
                <a:sym typeface="Times New Roman"/>
              </a:rPr>
              <a:t>In declaratives, </a:t>
            </a:r>
            <a:r>
              <a:rPr i="1" lang="ru">
                <a:solidFill>
                  <a:schemeClr val="dk1"/>
                </a:solidFill>
                <a:latin typeface="Times New Roman"/>
                <a:ea typeface="Times New Roman"/>
                <a:cs typeface="Times New Roman"/>
                <a:sym typeface="Times New Roman"/>
              </a:rPr>
              <a:t>or</a:t>
            </a:r>
            <a:r>
              <a:rPr lang="ru">
                <a:solidFill>
                  <a:schemeClr val="dk1"/>
                </a:solidFill>
                <a:latin typeface="Times New Roman"/>
                <a:ea typeface="Times New Roman"/>
                <a:cs typeface="Times New Roman"/>
                <a:sym typeface="Times New Roman"/>
              </a:rPr>
              <a:t> is normally taken to yield the union of the semantic values of the disjuncts. In (1), each disjunct expresses a proposition, standardly represented as a set of possible worlds: the semantic value of the first disjunct is the set of worlds where Luca is from Italy, and the semantic value of the second disjunct is the set of worlds where Luca is from Spain. The proposition expressed by (1) is the union of these two sets. This seems a reasonable account of </a:t>
            </a:r>
            <a:r>
              <a:rPr i="1" lang="ru">
                <a:solidFill>
                  <a:schemeClr val="dk1"/>
                </a:solidFill>
                <a:latin typeface="Times New Roman"/>
                <a:ea typeface="Times New Roman"/>
                <a:cs typeface="Times New Roman"/>
                <a:sym typeface="Times New Roman"/>
              </a:rPr>
              <a:t>or </a:t>
            </a:r>
            <a:r>
              <a:rPr lang="ru">
                <a:solidFill>
                  <a:schemeClr val="dk1"/>
                </a:solidFill>
                <a:latin typeface="Times New Roman"/>
                <a:ea typeface="Times New Roman"/>
                <a:cs typeface="Times New Roman"/>
                <a:sym typeface="Times New Roman"/>
              </a:rPr>
              <a:t>in declaratives. But what is the role of </a:t>
            </a:r>
            <a:r>
              <a:rPr i="1" lang="ru">
                <a:solidFill>
                  <a:schemeClr val="dk1"/>
                </a:solidFill>
                <a:latin typeface="Times New Roman"/>
                <a:ea typeface="Times New Roman"/>
                <a:cs typeface="Times New Roman"/>
                <a:sym typeface="Times New Roman"/>
              </a:rPr>
              <a:t>or</a:t>
            </a:r>
            <a:r>
              <a:rPr lang="ru">
                <a:solidFill>
                  <a:schemeClr val="dk1"/>
                </a:solidFill>
                <a:latin typeface="Times New Roman"/>
                <a:ea typeface="Times New Roman"/>
                <a:cs typeface="Times New Roman"/>
                <a:sym typeface="Times New Roman"/>
              </a:rPr>
              <a:t> in interrogatives? </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Motivation</a:t>
            </a:r>
            <a:endParaRPr>
              <a:latin typeface="Times New Roman"/>
              <a:ea typeface="Times New Roman"/>
              <a:cs typeface="Times New Roman"/>
              <a:sym typeface="Times New Roman"/>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ru">
                <a:solidFill>
                  <a:schemeClr val="dk1"/>
                </a:solidFill>
                <a:latin typeface="Times New Roman"/>
                <a:ea typeface="Times New Roman"/>
                <a:cs typeface="Times New Roman"/>
                <a:sym typeface="Times New Roman"/>
              </a:rPr>
              <a:t>Why do we need an integrated notion of semantic content?</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Reason 2: Entailment</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a:solidFill>
                  <a:schemeClr val="dk1"/>
                </a:solidFill>
                <a:latin typeface="Times New Roman"/>
                <a:ea typeface="Times New Roman"/>
                <a:cs typeface="Times New Roman"/>
                <a:sym typeface="Times New Roman"/>
              </a:rPr>
              <a:t>W</a:t>
            </a:r>
            <a:r>
              <a:rPr lang="ru">
                <a:solidFill>
                  <a:schemeClr val="dk1"/>
                </a:solidFill>
                <a:latin typeface="Times New Roman"/>
                <a:ea typeface="Times New Roman"/>
                <a:cs typeface="Times New Roman"/>
                <a:sym typeface="Times New Roman"/>
              </a:rPr>
              <a:t>e need a notion of entailment which is sensitive to both informative and inquisitive strength</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a:solidFill>
                  <a:schemeClr val="dk1"/>
                </a:solidFill>
                <a:latin typeface="Times New Roman"/>
                <a:ea typeface="Times New Roman"/>
                <a:cs typeface="Times New Roman"/>
                <a:sym typeface="Times New Roman"/>
              </a:rPr>
              <a:t>(1)	a. The number of planets is 8. Entails:</a:t>
            </a:r>
            <a:endParaRPr>
              <a:solidFill>
                <a:schemeClr val="dk1"/>
              </a:solidFill>
              <a:latin typeface="Times New Roman"/>
              <a:ea typeface="Times New Roman"/>
              <a:cs typeface="Times New Roman"/>
              <a:sym typeface="Times New Roman"/>
            </a:endParaRPr>
          </a:p>
          <a:p>
            <a:pPr indent="457200" lvl="0" marL="0" rtl="0" algn="just">
              <a:spcBef>
                <a:spcPts val="1200"/>
              </a:spcBef>
              <a:spcAft>
                <a:spcPts val="0"/>
              </a:spcAft>
              <a:buNone/>
            </a:pPr>
            <a:r>
              <a:rPr lang="ru">
                <a:solidFill>
                  <a:schemeClr val="dk1"/>
                </a:solidFill>
                <a:latin typeface="Times New Roman"/>
                <a:ea typeface="Times New Roman"/>
                <a:cs typeface="Times New Roman"/>
                <a:sym typeface="Times New Roman"/>
              </a:rPr>
              <a:t>b. The number of planets is even.</a:t>
            </a:r>
            <a:endParaRPr>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a:solidFill>
                  <a:schemeClr val="dk1"/>
                </a:solidFill>
                <a:latin typeface="Times New Roman"/>
                <a:ea typeface="Times New Roman"/>
                <a:cs typeface="Times New Roman"/>
                <a:sym typeface="Times New Roman"/>
              </a:rPr>
              <a:t>(2)	a. What is the number of planets? Entails:</a:t>
            </a:r>
            <a:endParaRPr>
              <a:solidFill>
                <a:schemeClr val="dk1"/>
              </a:solidFill>
              <a:latin typeface="Times New Roman"/>
              <a:ea typeface="Times New Roman"/>
              <a:cs typeface="Times New Roman"/>
              <a:sym typeface="Times New Roman"/>
            </a:endParaRPr>
          </a:p>
          <a:p>
            <a:pPr indent="457200" lvl="0" marL="0" rtl="0" algn="just">
              <a:spcBef>
                <a:spcPts val="1200"/>
              </a:spcBef>
              <a:spcAft>
                <a:spcPts val="0"/>
              </a:spcAft>
              <a:buNone/>
            </a:pPr>
            <a:r>
              <a:rPr lang="ru">
                <a:solidFill>
                  <a:schemeClr val="dk1"/>
                </a:solidFill>
                <a:latin typeface="Times New Roman"/>
                <a:ea typeface="Times New Roman"/>
                <a:cs typeface="Times New Roman"/>
                <a:sym typeface="Times New Roman"/>
              </a:rPr>
              <a:t>b. Is the number of planets even?</a:t>
            </a:r>
            <a:endParaRPr>
              <a:solidFill>
                <a:schemeClr val="dk1"/>
              </a:solidFill>
              <a:latin typeface="Times New Roman"/>
              <a:ea typeface="Times New Roman"/>
              <a:cs typeface="Times New Roman"/>
              <a:sym typeface="Times New Roman"/>
            </a:endParaRPr>
          </a:p>
          <a:p>
            <a:pPr indent="457200" lvl="0" marL="5943600" rtl="0" algn="l">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Motivation</a:t>
            </a:r>
            <a:endParaRPr>
              <a:latin typeface="Times New Roman"/>
              <a:ea typeface="Times New Roman"/>
              <a:cs typeface="Times New Roman"/>
              <a:sym typeface="Times New Roman"/>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ru">
                <a:solidFill>
                  <a:schemeClr val="dk1"/>
                </a:solidFill>
                <a:latin typeface="Times New Roman"/>
                <a:ea typeface="Times New Roman"/>
                <a:cs typeface="Times New Roman"/>
                <a:sym typeface="Times New Roman"/>
              </a:rPr>
              <a:t>Why do we need an integrated notion of semantic content?</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Reason 3: Logical operations</a:t>
            </a:r>
            <a:endParaRPr>
              <a:solidFill>
                <a:schemeClr val="dk1"/>
              </a:solidFill>
              <a:latin typeface="Times New Roman"/>
              <a:ea typeface="Times New Roman"/>
              <a:cs typeface="Times New Roman"/>
              <a:sym typeface="Times New Roman"/>
            </a:endParaRPr>
          </a:p>
          <a:p>
            <a:pPr indent="-325755" lvl="0" marL="457200" rtl="0" algn="l">
              <a:spcBef>
                <a:spcPts val="1200"/>
              </a:spcBef>
              <a:spcAft>
                <a:spcPts val="0"/>
              </a:spcAft>
              <a:buClr>
                <a:schemeClr val="dk1"/>
              </a:buClr>
              <a:buSzPct val="100000"/>
              <a:buFont typeface="Times New Roman"/>
              <a:buAutoNum type="arabicParenBoth"/>
            </a:pPr>
            <a:r>
              <a:rPr lang="ru">
                <a:solidFill>
                  <a:schemeClr val="dk1"/>
                </a:solidFill>
                <a:latin typeface="Times New Roman"/>
                <a:ea typeface="Times New Roman"/>
                <a:cs typeface="Times New Roman"/>
                <a:sym typeface="Times New Roman"/>
              </a:rPr>
              <a:t>Peter rented a car and Mary booked a hotel.</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(2)	Peter rented a car or he borrowed one.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(3)	Where can we rent a car, and which hotel should we take?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(4)	Where can we rent a car, or who might have one that we could borrow?</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(5)	If Bill asks Mary out, she will accept.</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(6)	If Bill asks Mary out, will she accept?</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notions</a:t>
            </a:r>
            <a:endParaRPr>
              <a:latin typeface="Times New Roman"/>
              <a:ea typeface="Times New Roman"/>
              <a:cs typeface="Times New Roman"/>
              <a:sym typeface="Times New Roman"/>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128" name="Google Shape;128;p25"/>
          <p:cNvPicPr preferRelativeResize="0"/>
          <p:nvPr/>
        </p:nvPicPr>
        <p:blipFill>
          <a:blip r:embed="rId3">
            <a:alphaModFix/>
          </a:blip>
          <a:stretch>
            <a:fillRect/>
          </a:stretch>
        </p:blipFill>
        <p:spPr>
          <a:xfrm>
            <a:off x="1432325" y="1258025"/>
            <a:ext cx="4007600" cy="37057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Information States</a:t>
            </a:r>
            <a:endParaRPr>
              <a:latin typeface="Times New Roman"/>
              <a:ea typeface="Times New Roman"/>
              <a:cs typeface="Times New Roman"/>
              <a:sym typeface="Times New Roman"/>
            </a:endParaRPr>
          </a:p>
        </p:txBody>
      </p:sp>
      <p:sp>
        <p:nvSpPr>
          <p:cNvPr id="134" name="Google Shape;134;p26"/>
          <p:cNvSpPr txBox="1"/>
          <p:nvPr>
            <p:ph idx="1" type="body"/>
          </p:nvPr>
        </p:nvSpPr>
        <p:spPr>
          <a:xfrm>
            <a:off x="311700" y="1152475"/>
            <a:ext cx="8520600" cy="3898800"/>
          </a:xfrm>
          <a:prstGeom prst="rect">
            <a:avLst/>
          </a:prstGeom>
        </p:spPr>
        <p:txBody>
          <a:bodyPr anchorCtr="0" anchor="t" bIns="91425" lIns="91425" spcFirstLastPara="1" rIns="91425" wrap="square" tIns="91425">
            <a:normAutofit/>
          </a:bodyPr>
          <a:lstStyle/>
          <a:p>
            <a:pPr indent="-336550" lvl="0" marL="457200" rtl="0" algn="just">
              <a:spcBef>
                <a:spcPts val="0"/>
              </a:spcBef>
              <a:spcAft>
                <a:spcPts val="0"/>
              </a:spcAft>
              <a:buClr>
                <a:schemeClr val="dk1"/>
              </a:buClr>
              <a:buSzPts val="1700"/>
              <a:buFont typeface="Times New Roman"/>
              <a:buChar char="●"/>
            </a:pPr>
            <a:r>
              <a:rPr lang="ru" sz="1700">
                <a:solidFill>
                  <a:schemeClr val="dk1"/>
                </a:solidFill>
                <a:latin typeface="Times New Roman"/>
                <a:ea typeface="Times New Roman"/>
                <a:cs typeface="Times New Roman"/>
                <a:sym typeface="Times New Roman"/>
              </a:rPr>
              <a:t>Information states are modeled as sets of possible worlds—those worlds that are compatible with the information available in the state.</a:t>
            </a:r>
            <a:endParaRPr sz="1700">
              <a:solidFill>
                <a:schemeClr val="dk1"/>
              </a:solidFill>
              <a:latin typeface="Times New Roman"/>
              <a:ea typeface="Times New Roman"/>
              <a:cs typeface="Times New Roman"/>
              <a:sym typeface="Times New Roman"/>
            </a:endParaRPr>
          </a:p>
          <a:p>
            <a:pPr indent="-336550" lvl="0" marL="457200" rtl="0" algn="just">
              <a:spcBef>
                <a:spcPts val="0"/>
              </a:spcBef>
              <a:spcAft>
                <a:spcPts val="0"/>
              </a:spcAft>
              <a:buClr>
                <a:schemeClr val="dk1"/>
              </a:buClr>
              <a:buSzPts val="1700"/>
              <a:buFont typeface="Times New Roman"/>
              <a:buChar char="●"/>
            </a:pPr>
            <a:r>
              <a:rPr lang="ru" sz="1700">
                <a:solidFill>
                  <a:schemeClr val="dk1"/>
                </a:solidFill>
                <a:latin typeface="Times New Roman"/>
                <a:ea typeface="Times New Roman"/>
                <a:cs typeface="Times New Roman"/>
                <a:sym typeface="Times New Roman"/>
              </a:rPr>
              <a:t>An information state s is a set of possible worlds, s ⊆ W, where W denotes the set of all possible worlds.</a:t>
            </a:r>
            <a:endParaRPr sz="1700">
              <a:solidFill>
                <a:schemeClr val="dk1"/>
              </a:solidFill>
              <a:latin typeface="Times New Roman"/>
              <a:ea typeface="Times New Roman"/>
              <a:cs typeface="Times New Roman"/>
              <a:sym typeface="Times New Roman"/>
            </a:endParaRPr>
          </a:p>
          <a:p>
            <a:pPr indent="-336550" lvl="0" marL="457200" rtl="0" algn="just">
              <a:spcBef>
                <a:spcPts val="0"/>
              </a:spcBef>
              <a:spcAft>
                <a:spcPts val="0"/>
              </a:spcAft>
              <a:buClr>
                <a:schemeClr val="dk1"/>
              </a:buClr>
              <a:buSzPts val="1700"/>
              <a:buFont typeface="Times New Roman"/>
              <a:buChar char="●"/>
            </a:pPr>
            <a:r>
              <a:rPr lang="ru" sz="1700">
                <a:solidFill>
                  <a:schemeClr val="dk1"/>
                </a:solidFill>
                <a:latin typeface="Times New Roman"/>
                <a:ea typeface="Times New Roman"/>
                <a:cs typeface="Times New Roman"/>
                <a:sym typeface="Times New Roman"/>
              </a:rPr>
              <a:t>An information state can be thought of as locating the actual world within a certain region of the logical space. The state in (d) contains the information that the actual world is located in the upper left corner of the logical space.</a:t>
            </a:r>
            <a:endParaRPr sz="17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135" name="Google Shape;135;p26"/>
          <p:cNvPicPr preferRelativeResize="0"/>
          <p:nvPr/>
        </p:nvPicPr>
        <p:blipFill>
          <a:blip r:embed="rId3">
            <a:alphaModFix/>
          </a:blip>
          <a:stretch>
            <a:fillRect/>
          </a:stretch>
        </p:blipFill>
        <p:spPr>
          <a:xfrm>
            <a:off x="1158475" y="3701175"/>
            <a:ext cx="5165876" cy="1349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Information States</a:t>
            </a:r>
            <a:endParaRPr>
              <a:latin typeface="Times New Roman"/>
              <a:ea typeface="Times New Roman"/>
              <a:cs typeface="Times New Roman"/>
              <a:sym typeface="Times New Roman"/>
            </a:endParaRPr>
          </a:p>
        </p:txBody>
      </p:sp>
      <p:sp>
        <p:nvSpPr>
          <p:cNvPr id="141" name="Google Shape;14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An information state </a:t>
            </a:r>
            <a:r>
              <a:rPr i="1" lang="ru">
                <a:solidFill>
                  <a:schemeClr val="dk1"/>
                </a:solidFill>
                <a:latin typeface="Times New Roman"/>
                <a:ea typeface="Times New Roman"/>
                <a:cs typeface="Times New Roman"/>
                <a:sym typeface="Times New Roman"/>
              </a:rPr>
              <a:t>s</a:t>
            </a:r>
            <a:r>
              <a:rPr lang="ru">
                <a:solidFill>
                  <a:schemeClr val="dk1"/>
                </a:solidFill>
                <a:latin typeface="Times New Roman"/>
                <a:ea typeface="Times New Roman"/>
                <a:cs typeface="Times New Roman"/>
                <a:sym typeface="Times New Roman"/>
              </a:rPr>
              <a:t> is a set of possible worlds, s ⊆ W, where W denotes the set of all possible worlds.</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A state t is called an enhancement of s just in case t ⊆ s.</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Is the state (b) is an enhancement of the state in (a)?</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142" name="Google Shape;142;p27"/>
          <p:cNvPicPr preferRelativeResize="0"/>
          <p:nvPr/>
        </p:nvPicPr>
        <p:blipFill>
          <a:blip r:embed="rId3">
            <a:alphaModFix/>
          </a:blip>
          <a:stretch>
            <a:fillRect/>
          </a:stretch>
        </p:blipFill>
        <p:spPr>
          <a:xfrm>
            <a:off x="1222800" y="2918925"/>
            <a:ext cx="5165876" cy="1349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Information States</a:t>
            </a:r>
            <a:endParaRPr>
              <a:latin typeface="Times New Roman"/>
              <a:ea typeface="Times New Roman"/>
              <a:cs typeface="Times New Roman"/>
              <a:sym typeface="Times New Roman"/>
            </a:endParaRPr>
          </a:p>
        </p:txBody>
      </p:sp>
      <p:sp>
        <p:nvSpPr>
          <p:cNvPr id="148" name="Google Shape;14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just">
              <a:spcBef>
                <a:spcPts val="0"/>
              </a:spcBef>
              <a:spcAft>
                <a:spcPts val="0"/>
              </a:spcAft>
              <a:buClr>
                <a:schemeClr val="dk1"/>
              </a:buClr>
              <a:buSzPts val="1700"/>
              <a:buFont typeface="Times New Roman"/>
              <a:buChar char="●"/>
            </a:pPr>
            <a:r>
              <a:rPr lang="ru" sz="1700">
                <a:solidFill>
                  <a:schemeClr val="dk1"/>
                </a:solidFill>
                <a:latin typeface="Times New Roman"/>
                <a:ea typeface="Times New Roman"/>
                <a:cs typeface="Times New Roman"/>
                <a:sym typeface="Times New Roman"/>
              </a:rPr>
              <a:t>The</a:t>
            </a:r>
            <a:r>
              <a:rPr lang="ru" sz="1700">
                <a:solidFill>
                  <a:schemeClr val="dk1"/>
                </a:solidFill>
                <a:latin typeface="Times New Roman"/>
                <a:ea typeface="Times New Roman"/>
                <a:cs typeface="Times New Roman"/>
                <a:sym typeface="Times New Roman"/>
              </a:rPr>
              <a:t> state (a) is referred to as the ignorant state. Every other state is an enhancement of it.</a:t>
            </a:r>
            <a:endParaRPr sz="1700">
              <a:solidFill>
                <a:schemeClr val="dk1"/>
              </a:solidFill>
              <a:latin typeface="Times New Roman"/>
              <a:ea typeface="Times New Roman"/>
              <a:cs typeface="Times New Roman"/>
              <a:sym typeface="Times New Roman"/>
            </a:endParaRPr>
          </a:p>
          <a:p>
            <a:pPr indent="-336550" lvl="0" marL="457200" rtl="0" algn="just">
              <a:spcBef>
                <a:spcPts val="0"/>
              </a:spcBef>
              <a:spcAft>
                <a:spcPts val="0"/>
              </a:spcAft>
              <a:buClr>
                <a:schemeClr val="dk1"/>
              </a:buClr>
              <a:buSzPts val="1700"/>
              <a:buFont typeface="Times New Roman"/>
              <a:buChar char="●"/>
            </a:pPr>
            <a:r>
              <a:rPr lang="ru" sz="1700">
                <a:solidFill>
                  <a:schemeClr val="dk1"/>
                </a:solidFill>
                <a:latin typeface="Times New Roman"/>
                <a:ea typeface="Times New Roman"/>
                <a:cs typeface="Times New Roman"/>
                <a:sym typeface="Times New Roman"/>
              </a:rPr>
              <a:t>At the other far end of the enhancement order is the empty state, ∅. This is an enhancement of any other state. It is a state in which all possible worlds have been discarded as candidates for the actual world, i.e., the available information has become inconsistent. It is therefore referred to as the inconsistent state.</a:t>
            </a:r>
            <a:endParaRPr sz="1700">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149" name="Google Shape;149;p28"/>
          <p:cNvPicPr preferRelativeResize="0"/>
          <p:nvPr/>
        </p:nvPicPr>
        <p:blipFill>
          <a:blip r:embed="rId3">
            <a:alphaModFix/>
          </a:blip>
          <a:stretch>
            <a:fillRect/>
          </a:stretch>
        </p:blipFill>
        <p:spPr>
          <a:xfrm>
            <a:off x="1104875" y="2993925"/>
            <a:ext cx="5165876" cy="1349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Issues</a:t>
            </a:r>
            <a:endParaRPr>
              <a:latin typeface="Times New Roman"/>
              <a:ea typeface="Times New Roman"/>
              <a:cs typeface="Times New Roman"/>
              <a:sym typeface="Times New Roman"/>
            </a:endParaRPr>
          </a:p>
        </p:txBody>
      </p:sp>
      <p:sp>
        <p:nvSpPr>
          <p:cNvPr id="155" name="Google Shape;155;p29"/>
          <p:cNvSpPr txBox="1"/>
          <p:nvPr>
            <p:ph idx="1" type="body"/>
          </p:nvPr>
        </p:nvSpPr>
        <p:spPr>
          <a:xfrm>
            <a:off x="311700" y="1152475"/>
            <a:ext cx="8520600" cy="37596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An issue is a non-empty, downward closed set of information states.</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We say that an information state s resolves an issue I just in case s ∈ I. If </a:t>
            </a:r>
            <a:r>
              <a:rPr lang="ru">
                <a:solidFill>
                  <a:schemeClr val="dk1"/>
                </a:solidFill>
                <a:latin typeface="Times New Roman"/>
                <a:ea typeface="Times New Roman"/>
                <a:cs typeface="Times New Roman"/>
                <a:sym typeface="Times New Roman"/>
              </a:rPr>
              <a:t>s </a:t>
            </a:r>
            <a:r>
              <a:rPr lang="ru">
                <a:solidFill>
                  <a:schemeClr val="dk1"/>
                </a:solidFill>
                <a:latin typeface="Times New Roman"/>
                <a:ea typeface="Times New Roman"/>
                <a:cs typeface="Times New Roman"/>
                <a:sym typeface="Times New Roman"/>
              </a:rPr>
              <a:t>resolves I, we will sometimes also say that I is settled in s.</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The issue depicted in subfigure (a) can only be settled consistently by specifying precisely which world is the actual one.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156" name="Google Shape;156;p29"/>
          <p:cNvPicPr preferRelativeResize="0"/>
          <p:nvPr/>
        </p:nvPicPr>
        <p:blipFill>
          <a:blip r:embed="rId3">
            <a:alphaModFix/>
          </a:blip>
          <a:stretch>
            <a:fillRect/>
          </a:stretch>
        </p:blipFill>
        <p:spPr>
          <a:xfrm>
            <a:off x="397425" y="3184925"/>
            <a:ext cx="6066249" cy="1597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Issues</a:t>
            </a:r>
            <a:endParaRPr>
              <a:latin typeface="Times New Roman"/>
              <a:ea typeface="Times New Roman"/>
              <a:cs typeface="Times New Roman"/>
              <a:sym typeface="Times New Roman"/>
            </a:endParaRPr>
          </a:p>
        </p:txBody>
      </p:sp>
      <p:sp>
        <p:nvSpPr>
          <p:cNvPr id="162" name="Google Shape;162;p30"/>
          <p:cNvSpPr txBox="1"/>
          <p:nvPr>
            <p:ph idx="1" type="body"/>
          </p:nvPr>
        </p:nvSpPr>
        <p:spPr>
          <a:xfrm>
            <a:off x="311700" y="1152475"/>
            <a:ext cx="8520600" cy="37596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Let I be an issue and s an information state. Then we say that I is an issue over s if and only if ⋃I = s.</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Let I, J be two issues over a state s. Then I is at least as inquisitive as J if and only if I ⊆ J. In this case, we say that I is a refinement of J.</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Which issue below is the most inquisitive issue over W, and thus a refinement of all other issues? Which issue below is the least inquisitive issue over W, and all other issues are refinements of it?</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163" name="Google Shape;163;p30"/>
          <p:cNvPicPr preferRelativeResize="0"/>
          <p:nvPr/>
        </p:nvPicPr>
        <p:blipFill>
          <a:blip r:embed="rId3">
            <a:alphaModFix/>
          </a:blip>
          <a:stretch>
            <a:fillRect/>
          </a:stretch>
        </p:blipFill>
        <p:spPr>
          <a:xfrm>
            <a:off x="686750" y="3428375"/>
            <a:ext cx="6066249" cy="15972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Issues</a:t>
            </a:r>
            <a:endParaRPr>
              <a:latin typeface="Times New Roman"/>
              <a:ea typeface="Times New Roman"/>
              <a:cs typeface="Times New Roman"/>
              <a:sym typeface="Times New Roman"/>
            </a:endParaRPr>
          </a:p>
        </p:txBody>
      </p:sp>
      <p:sp>
        <p:nvSpPr>
          <p:cNvPr id="169" name="Google Shape;169;p31"/>
          <p:cNvSpPr txBox="1"/>
          <p:nvPr>
            <p:ph idx="1" type="body"/>
          </p:nvPr>
        </p:nvSpPr>
        <p:spPr>
          <a:xfrm>
            <a:off x="311700" y="1152475"/>
            <a:ext cx="8520600" cy="37596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The maximal elements of an issue I are called the alternatives in I.</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Which of the issues below are not inquisitive (contain a single alternative)?</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Which of the issues are inquisitive (contain multiple alternatives)?</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170" name="Google Shape;170;p31"/>
          <p:cNvPicPr preferRelativeResize="0"/>
          <p:nvPr/>
        </p:nvPicPr>
        <p:blipFill>
          <a:blip r:embed="rId3">
            <a:alphaModFix/>
          </a:blip>
          <a:stretch>
            <a:fillRect/>
          </a:stretch>
        </p:blipFill>
        <p:spPr>
          <a:xfrm>
            <a:off x="654625" y="2806875"/>
            <a:ext cx="6066249" cy="15972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Propositions</a:t>
            </a:r>
            <a:endParaRPr>
              <a:latin typeface="Times New Roman"/>
              <a:ea typeface="Times New Roman"/>
              <a:cs typeface="Times New Roman"/>
              <a:sym typeface="Times New Roman"/>
            </a:endParaRPr>
          </a:p>
        </p:txBody>
      </p:sp>
      <p:sp>
        <p:nvSpPr>
          <p:cNvPr id="176" name="Google Shape;176;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A proposition P is a non-empty, downward closed set of information states.</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For any proposition P: informative content info(P ) := ⋃P</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The issue embodied by a proposition P is the one that is resolved in a state s just in case s ∈ P .</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A proposition P is true in a world w just in case w ∈ info(P ).</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An information state s supports a proposition P if and only if s ∈ P .</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A proposition P is true in a world w if and only if P is supported by {w}.</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The informative content of a proposition is the set of all worlds in which the proposition is true.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Propositions</a:t>
            </a:r>
            <a:endParaRPr>
              <a:latin typeface="Times New Roman"/>
              <a:ea typeface="Times New Roman"/>
              <a:cs typeface="Times New Roman"/>
              <a:sym typeface="Times New Roman"/>
            </a:endParaRPr>
          </a:p>
        </p:txBody>
      </p:sp>
      <p:sp>
        <p:nvSpPr>
          <p:cNvPr id="182" name="Google Shape;182;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We will say that a proposition P is informative just in case its informative content is non-trivial, i.e., info(P ) = W . </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We will say that P is inquisitive just in case establishing its informative content is not sufficient to settle the issue that it raises, i.e., info(P) ∈ P .</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The maximal elements of a proposition P are called the alternatives in P.</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The set of alternatives in P is denoted as alt(P).</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A proposition containing finitely many elements is inquisitive if and only if it contains multiple alternatives.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cxnSp>
        <p:nvCxnSpPr>
          <p:cNvPr id="183" name="Google Shape;183;p33"/>
          <p:cNvCxnSpPr/>
          <p:nvPr/>
        </p:nvCxnSpPr>
        <p:spPr>
          <a:xfrm flipH="1">
            <a:off x="5735050" y="2265275"/>
            <a:ext cx="107100" cy="171600"/>
          </a:xfrm>
          <a:prstGeom prst="straightConnector1">
            <a:avLst/>
          </a:prstGeom>
          <a:noFill/>
          <a:ln cap="flat" cmpd="sng" w="9525">
            <a:solidFill>
              <a:schemeClr val="dk2"/>
            </a:solidFill>
            <a:prstDash val="solid"/>
            <a:round/>
            <a:headEnd len="med" w="med" type="none"/>
            <a:tailEnd len="med" w="med" type="none"/>
          </a:ln>
        </p:spPr>
      </p:cxnSp>
      <p:cxnSp>
        <p:nvCxnSpPr>
          <p:cNvPr id="184" name="Google Shape;184;p33"/>
          <p:cNvCxnSpPr/>
          <p:nvPr/>
        </p:nvCxnSpPr>
        <p:spPr>
          <a:xfrm flipH="1">
            <a:off x="3112100" y="1624700"/>
            <a:ext cx="107100" cy="171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Propositions</a:t>
            </a:r>
            <a:endParaRPr>
              <a:latin typeface="Times New Roman"/>
              <a:ea typeface="Times New Roman"/>
              <a:cs typeface="Times New Roman"/>
              <a:sym typeface="Times New Roman"/>
            </a:endParaRPr>
          </a:p>
        </p:txBody>
      </p:sp>
      <p:sp>
        <p:nvSpPr>
          <p:cNvPr id="190" name="Google Shape;190;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P is non-inquisitive iff info(P ) ∈ P .</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P is non-informative iff info(P ) = W .</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P is a tautology iff W ∈ P.</a:t>
            </a:r>
            <a:endParaRPr>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Which one of the propositions below is a tautology?</a:t>
            </a:r>
            <a:endParaRPr>
              <a:solidFill>
                <a:schemeClr val="dk1"/>
              </a:solidFill>
              <a:latin typeface="Times New Roman"/>
              <a:ea typeface="Times New Roman"/>
              <a:cs typeface="Times New Roman"/>
              <a:sym typeface="Times New Roman"/>
            </a:endParaRPr>
          </a:p>
          <a:p>
            <a:pPr indent="0" lvl="0" marL="457200" rtl="0" algn="just">
              <a:spcBef>
                <a:spcPts val="1200"/>
              </a:spcBef>
              <a:spcAft>
                <a:spcPts val="0"/>
              </a:spcAft>
              <a:buNone/>
            </a:pPr>
            <a:r>
              <a:rPr lang="ru">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191" name="Google Shape;191;p34"/>
          <p:cNvPicPr preferRelativeResize="0"/>
          <p:nvPr/>
        </p:nvPicPr>
        <p:blipFill>
          <a:blip r:embed="rId3">
            <a:alphaModFix/>
          </a:blip>
          <a:stretch>
            <a:fillRect/>
          </a:stretch>
        </p:blipFill>
        <p:spPr>
          <a:xfrm>
            <a:off x="519100" y="2571750"/>
            <a:ext cx="5933825" cy="17319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Propositions</a:t>
            </a:r>
            <a:endParaRPr>
              <a:latin typeface="Times New Roman"/>
              <a:ea typeface="Times New Roman"/>
              <a:cs typeface="Times New Roman"/>
              <a:sym typeface="Times New Roman"/>
            </a:endParaRPr>
          </a:p>
        </p:txBody>
      </p:sp>
      <p:sp>
        <p:nvSpPr>
          <p:cNvPr id="197" name="Google Shape;197;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198" name="Google Shape;198;p35"/>
          <p:cNvPicPr preferRelativeResize="0"/>
          <p:nvPr/>
        </p:nvPicPr>
        <p:blipFill>
          <a:blip r:embed="rId3">
            <a:alphaModFix/>
          </a:blip>
          <a:stretch>
            <a:fillRect/>
          </a:stretch>
        </p:blipFill>
        <p:spPr>
          <a:xfrm>
            <a:off x="875100" y="1152475"/>
            <a:ext cx="5829300" cy="31527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Propositions</a:t>
            </a:r>
            <a:endParaRPr>
              <a:latin typeface="Times New Roman"/>
              <a:ea typeface="Times New Roman"/>
              <a:cs typeface="Times New Roman"/>
              <a:sym typeface="Times New Roman"/>
            </a:endParaRPr>
          </a:p>
        </p:txBody>
      </p:sp>
      <p:sp>
        <p:nvSpPr>
          <p:cNvPr id="204" name="Google Shape;204;p36"/>
          <p:cNvSpPr txBox="1"/>
          <p:nvPr>
            <p:ph idx="1" type="body"/>
          </p:nvPr>
        </p:nvSpPr>
        <p:spPr>
          <a:xfrm>
            <a:off x="311700" y="1281075"/>
            <a:ext cx="8520600" cy="3705900"/>
          </a:xfrm>
          <a:prstGeom prst="rect">
            <a:avLst/>
          </a:prstGeom>
        </p:spPr>
        <p:txBody>
          <a:bodyPr anchorCtr="0" anchor="t" bIns="91425" lIns="91425" spcFirstLastPara="1" rIns="91425" wrap="square" tIns="91425">
            <a:normAutofit fontScale="25000" lnSpcReduction="20000"/>
          </a:bodyPr>
          <a:lstStyle/>
          <a:p>
            <a:pPr indent="-317500" lvl="0" marL="457200" rtl="0" algn="just">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P entails Q just in case P is both at least as informative and at least as inquisitive as Q.</a:t>
            </a:r>
            <a:endParaRPr sz="5600">
              <a:solidFill>
                <a:schemeClr val="dk1"/>
              </a:solidFill>
              <a:latin typeface="Times New Roman"/>
              <a:ea typeface="Times New Roman"/>
              <a:cs typeface="Times New Roman"/>
              <a:sym typeface="Times New Roman"/>
            </a:endParaRPr>
          </a:p>
          <a:p>
            <a:pPr indent="0" lvl="0" marL="45720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317500" lvl="0" marL="457200" rtl="0" algn="just">
              <a:lnSpc>
                <a:spcPct val="100000"/>
              </a:lnSpc>
              <a:spcBef>
                <a:spcPts val="1200"/>
              </a:spcBef>
              <a:spcAft>
                <a:spcPts val="0"/>
              </a:spcAft>
              <a:buClr>
                <a:schemeClr val="dk1"/>
              </a:buClr>
              <a:buSzPct val="100000"/>
              <a:buFont typeface="Times New Roman"/>
              <a:buAutoNum type="arabicParenBoth"/>
            </a:pPr>
            <a:r>
              <a:rPr lang="ru" sz="5600">
                <a:solidFill>
                  <a:schemeClr val="dk1"/>
                </a:solidFill>
                <a:latin typeface="Times New Roman"/>
                <a:ea typeface="Times New Roman"/>
                <a:cs typeface="Times New Roman"/>
                <a:sym typeface="Times New Roman"/>
              </a:rPr>
              <a:t>a. The code is 11.</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ru" sz="5600">
                <a:solidFill>
                  <a:schemeClr val="dk1"/>
                </a:solidFill>
                <a:latin typeface="Times New Roman"/>
                <a:ea typeface="Times New Roman"/>
                <a:cs typeface="Times New Roman"/>
                <a:sym typeface="Times New Roman"/>
              </a:rPr>
              <a:t>b. The second digit of the code is 1.</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ru" sz="5600">
                <a:solidFill>
                  <a:schemeClr val="dk1"/>
                </a:solidFill>
                <a:latin typeface="Times New Roman"/>
                <a:ea typeface="Times New Roman"/>
                <a:cs typeface="Times New Roman"/>
                <a:sym typeface="Times New Roman"/>
              </a:rPr>
              <a:t>c. If the first digit is 1, the second digit is also 1.</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ru" sz="5600">
                <a:solidFill>
                  <a:schemeClr val="dk1"/>
                </a:solidFill>
                <a:latin typeface="Times New Roman"/>
                <a:ea typeface="Times New Roman"/>
                <a:cs typeface="Times New Roman"/>
                <a:sym typeface="Times New Roman"/>
              </a:rPr>
              <a:t>d. Is the code 11?</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ru" sz="5600">
                <a:solidFill>
                  <a:schemeClr val="dk1"/>
                </a:solidFill>
                <a:latin typeface="Times New Roman"/>
                <a:ea typeface="Times New Roman"/>
                <a:cs typeface="Times New Roman"/>
                <a:sym typeface="Times New Roman"/>
              </a:rPr>
              <a:t>e. What is the first digit?</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ru" sz="5600">
                <a:solidFill>
                  <a:schemeClr val="dk1"/>
                </a:solidFill>
                <a:latin typeface="Times New Roman"/>
                <a:ea typeface="Times New Roman"/>
                <a:cs typeface="Times New Roman"/>
                <a:sym typeface="Times New Roman"/>
              </a:rPr>
              <a:t>f. What is the second digit?</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ru" sz="5600">
                <a:solidFill>
                  <a:schemeClr val="dk1"/>
                </a:solidFill>
                <a:latin typeface="Times New Roman"/>
                <a:ea typeface="Times New Roman"/>
                <a:cs typeface="Times New Roman"/>
                <a:sym typeface="Times New Roman"/>
              </a:rPr>
              <a:t>g. What is the code?</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ru" sz="5600">
                <a:solidFill>
                  <a:schemeClr val="dk1"/>
                </a:solidFill>
                <a:latin typeface="Times New Roman"/>
                <a:ea typeface="Times New Roman"/>
                <a:cs typeface="Times New Roman"/>
                <a:sym typeface="Times New Roman"/>
              </a:rPr>
              <a:t>h. If the first digit is 1, what is the second?</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sz="5600">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While the semantic contents of (1a)-(1c) could have been captured just as well by means of the standard notion of a proposition as a set of possible worlds, the enriched notion of propositions allows us to analyze also the interrogatives in (1d)-(1h). In each case, the relevant proposition is inquisitive, since it contains multiple alternatives, and it is not informative, since these alternatives jointly cover the entire logical space. This captures the fact that, in uttering one of (1d)-(1h), a speaker raises an issue and does not provide any information.</a:t>
            </a:r>
            <a:endParaRPr sz="5600">
              <a:solidFill>
                <a:schemeClr val="dk1"/>
              </a:solidFill>
              <a:latin typeface="Times New Roman"/>
              <a:ea typeface="Times New Roman"/>
              <a:cs typeface="Times New Roman"/>
              <a:sym typeface="Times New Roman"/>
            </a:endParaRPr>
          </a:p>
          <a:p>
            <a:pPr indent="457200" lvl="0" marL="5943600" rtl="0" algn="just">
              <a:spcBef>
                <a:spcPts val="0"/>
              </a:spcBef>
              <a:spcAft>
                <a:spcPts val="0"/>
              </a:spcAft>
              <a:buClr>
                <a:schemeClr val="dk1"/>
              </a:buClr>
              <a:buSzPts val="275"/>
              <a:buFont typeface="Arial"/>
              <a:buNone/>
            </a:pPr>
            <a:r>
              <a:rPr lang="ru" sz="5800">
                <a:solidFill>
                  <a:schemeClr val="dk1"/>
                </a:solidFill>
                <a:latin typeface="Times New Roman"/>
                <a:ea typeface="Times New Roman"/>
                <a:cs typeface="Times New Roman"/>
                <a:sym typeface="Times New Roman"/>
              </a:rPr>
              <a:t>C</a:t>
            </a:r>
            <a:r>
              <a:rPr lang="ru" sz="5800">
                <a:solidFill>
                  <a:schemeClr val="dk1"/>
                </a:solidFill>
                <a:latin typeface="Times New Roman"/>
                <a:ea typeface="Times New Roman"/>
                <a:cs typeface="Times New Roman"/>
                <a:sym typeface="Times New Roman"/>
              </a:rPr>
              <a:t>iardelli et al. 2017</a:t>
            </a:r>
            <a:endParaRPr sz="5800">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205" name="Google Shape;205;p36"/>
          <p:cNvPicPr preferRelativeResize="0"/>
          <p:nvPr/>
        </p:nvPicPr>
        <p:blipFill>
          <a:blip r:embed="rId3">
            <a:alphaModFix/>
          </a:blip>
          <a:stretch>
            <a:fillRect/>
          </a:stretch>
        </p:blipFill>
        <p:spPr>
          <a:xfrm>
            <a:off x="4800625" y="1602838"/>
            <a:ext cx="3236675" cy="1937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Propositions</a:t>
            </a:r>
            <a:endParaRPr>
              <a:latin typeface="Times New Roman"/>
              <a:ea typeface="Times New Roman"/>
              <a:cs typeface="Times New Roman"/>
              <a:sym typeface="Times New Roman"/>
            </a:endParaRPr>
          </a:p>
        </p:txBody>
      </p:sp>
      <p:sp>
        <p:nvSpPr>
          <p:cNvPr id="211" name="Google Shape;211;p37"/>
          <p:cNvSpPr txBox="1"/>
          <p:nvPr>
            <p:ph idx="1" type="body"/>
          </p:nvPr>
        </p:nvSpPr>
        <p:spPr>
          <a:xfrm>
            <a:off x="311700" y="1281075"/>
            <a:ext cx="8520600" cy="4241700"/>
          </a:xfrm>
          <a:prstGeom prst="rect">
            <a:avLst/>
          </a:prstGeom>
        </p:spPr>
        <p:txBody>
          <a:bodyPr anchorCtr="0" anchor="t" bIns="91425" lIns="91425" spcFirstLastPara="1" rIns="91425" wrap="square" tIns="91425">
            <a:normAutofit fontScale="25000" lnSpcReduction="20000"/>
          </a:bodyPr>
          <a:lstStyle/>
          <a:p>
            <a:pPr indent="-317500" lvl="0" marL="457200" rtl="0" algn="just">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P entails Q just in case P is both at least as informative and at least as inquisitive as Q.</a:t>
            </a:r>
            <a:endParaRPr sz="5600">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ct val="100000"/>
              <a:buFont typeface="Times New Roman"/>
              <a:buAutoNum type="arabicParenBoth"/>
            </a:pPr>
            <a:r>
              <a:rPr lang="ru" sz="5600">
                <a:solidFill>
                  <a:schemeClr val="dk1"/>
                </a:solidFill>
                <a:latin typeface="Times New Roman"/>
                <a:ea typeface="Times New Roman"/>
                <a:cs typeface="Times New Roman"/>
                <a:sym typeface="Times New Roman"/>
              </a:rPr>
              <a:t>a. The code is 11.</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ru" sz="5600">
                <a:solidFill>
                  <a:schemeClr val="dk1"/>
                </a:solidFill>
                <a:latin typeface="Times New Roman"/>
                <a:ea typeface="Times New Roman"/>
                <a:cs typeface="Times New Roman"/>
                <a:sym typeface="Times New Roman"/>
              </a:rPr>
              <a:t>b. The second digit of the code is 1.</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ru" sz="5600">
                <a:solidFill>
                  <a:schemeClr val="dk1"/>
                </a:solidFill>
                <a:latin typeface="Times New Roman"/>
                <a:ea typeface="Times New Roman"/>
                <a:cs typeface="Times New Roman"/>
                <a:sym typeface="Times New Roman"/>
              </a:rPr>
              <a:t>c. If the first digit is 1, the second digit is also 1.</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ru" sz="5600">
                <a:solidFill>
                  <a:schemeClr val="dk1"/>
                </a:solidFill>
                <a:latin typeface="Times New Roman"/>
                <a:ea typeface="Times New Roman"/>
                <a:cs typeface="Times New Roman"/>
                <a:sym typeface="Times New Roman"/>
              </a:rPr>
              <a:t>d. Is the code 11?</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ru" sz="5600">
                <a:solidFill>
                  <a:schemeClr val="dk1"/>
                </a:solidFill>
                <a:latin typeface="Times New Roman"/>
                <a:ea typeface="Times New Roman"/>
                <a:cs typeface="Times New Roman"/>
                <a:sym typeface="Times New Roman"/>
              </a:rPr>
              <a:t>e. What is the first digit?</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ru" sz="5600">
                <a:solidFill>
                  <a:schemeClr val="dk1"/>
                </a:solidFill>
                <a:latin typeface="Times New Roman"/>
                <a:ea typeface="Times New Roman"/>
                <a:cs typeface="Times New Roman"/>
                <a:sym typeface="Times New Roman"/>
              </a:rPr>
              <a:t>f. What is the second digit?</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ru" sz="5600">
                <a:solidFill>
                  <a:schemeClr val="dk1"/>
                </a:solidFill>
                <a:latin typeface="Times New Roman"/>
                <a:ea typeface="Times New Roman"/>
                <a:cs typeface="Times New Roman"/>
                <a:sym typeface="Times New Roman"/>
              </a:rPr>
              <a:t>g. What is the code?</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lang="ru" sz="5600">
                <a:solidFill>
                  <a:schemeClr val="dk1"/>
                </a:solidFill>
                <a:latin typeface="Times New Roman"/>
                <a:ea typeface="Times New Roman"/>
                <a:cs typeface="Times New Roman"/>
                <a:sym typeface="Times New Roman"/>
              </a:rPr>
              <a:t>h. If the first digit is 1, what is the second?</a:t>
            </a:r>
            <a:endParaRPr sz="5600">
              <a:solidFill>
                <a:schemeClr val="dk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sz="5600">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(1a) entails (1b), which in turn entails (1c).</a:t>
            </a:r>
            <a:endParaRPr sz="5600">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For questions in (1d)-(1h) informative content is trivial, and entailment will compare inquisitive strength; an entailment between a pair of questions will hold if the issue expressed by the first is at least as demanding as the issue expressed by the second.</a:t>
            </a:r>
            <a:endParaRPr sz="5600">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Does (1g) entail any of the other questions? </a:t>
            </a:r>
            <a:endParaRPr sz="5600">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Does (1f) entail (1h)?</a:t>
            </a:r>
            <a:endParaRPr sz="5600">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Questions in (1d) and (1e) are incomparable in terms of inquisitive strength: on the one hand, the information that the code is not 11 resolves (1d) but not (1e); on the other hand, the information that the first digit is 1 resolves (1e) but not (1d); thus, neither of these questions entails the other.</a:t>
            </a:r>
            <a:endParaRPr sz="5600">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A declarative entails an interrogative just in case the information provided by the former suffices to resolve the issue raised by the latter. </a:t>
            </a:r>
            <a:endParaRPr sz="5600">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(1a) entails all of the above questions; (1b) entails only (1f) and (1h); and (1c) entails only (1h).</a:t>
            </a:r>
            <a:endParaRPr sz="5600">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Conversely none of the above questions entails any of the given declaratives. This is because, in terms of informative content, (1d)-(1h) are trivial, while (1a)-(1c) are not.				</a:t>
            </a:r>
            <a:r>
              <a:rPr lang="ru" sz="5800">
                <a:solidFill>
                  <a:schemeClr val="dk1"/>
                </a:solidFill>
                <a:latin typeface="Times New Roman"/>
                <a:ea typeface="Times New Roman"/>
                <a:cs typeface="Times New Roman"/>
                <a:sym typeface="Times New Roman"/>
              </a:rPr>
              <a:t>Ciardelli et al. 2017</a:t>
            </a:r>
            <a:endParaRPr sz="5800">
              <a:solidFill>
                <a:schemeClr val="dk1"/>
              </a:solidFill>
              <a:latin typeface="Times New Roman"/>
              <a:ea typeface="Times New Roman"/>
              <a:cs typeface="Times New Roman"/>
              <a:sym typeface="Times New Roman"/>
            </a:endParaRPr>
          </a:p>
          <a:p>
            <a:pPr indent="457200" lvl="0" marL="5943600" rtl="0" algn="just">
              <a:spcBef>
                <a:spcPts val="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t/>
            </a:r>
            <a:endParaRPr>
              <a:solidFill>
                <a:schemeClr val="dk1"/>
              </a:solidFill>
              <a:latin typeface="Times New Roman"/>
              <a:ea typeface="Times New Roman"/>
              <a:cs typeface="Times New Roman"/>
              <a:sym typeface="Times New Roman"/>
            </a:endParaRPr>
          </a:p>
        </p:txBody>
      </p:sp>
      <p:pic>
        <p:nvPicPr>
          <p:cNvPr id="212" name="Google Shape;212;p37"/>
          <p:cNvPicPr preferRelativeResize="0"/>
          <p:nvPr/>
        </p:nvPicPr>
        <p:blipFill>
          <a:blip r:embed="rId3">
            <a:alphaModFix/>
          </a:blip>
          <a:stretch>
            <a:fillRect/>
          </a:stretch>
        </p:blipFill>
        <p:spPr>
          <a:xfrm>
            <a:off x="5690025" y="1613550"/>
            <a:ext cx="2627450" cy="15730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Contexts</a:t>
            </a:r>
            <a:endParaRPr>
              <a:latin typeface="Times New Roman"/>
              <a:ea typeface="Times New Roman"/>
              <a:cs typeface="Times New Roman"/>
              <a:sym typeface="Times New Roman"/>
            </a:endParaRPr>
          </a:p>
        </p:txBody>
      </p:sp>
      <p:sp>
        <p:nvSpPr>
          <p:cNvPr id="218" name="Google Shape;218;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30200" lvl="0" marL="457200" rtl="0" algn="just">
              <a:spcBef>
                <a:spcPts val="0"/>
              </a:spcBef>
              <a:spcAft>
                <a:spcPts val="0"/>
              </a:spcAft>
              <a:buClr>
                <a:schemeClr val="dk1"/>
              </a:buClr>
              <a:buSzPts val="1600"/>
              <a:buFont typeface="Times New Roman"/>
              <a:buChar char="●"/>
            </a:pPr>
            <a:r>
              <a:rPr lang="ru" sz="1600">
                <a:solidFill>
                  <a:schemeClr val="dk1"/>
                </a:solidFill>
                <a:latin typeface="Times New Roman"/>
                <a:ea typeface="Times New Roman"/>
                <a:cs typeface="Times New Roman"/>
                <a:sym typeface="Times New Roman"/>
              </a:rPr>
              <a:t>A context C is a non-empty, downward closed set of information states.</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ru" sz="1600">
                <a:solidFill>
                  <a:schemeClr val="dk1"/>
                </a:solidFill>
                <a:latin typeface="Times New Roman"/>
                <a:ea typeface="Times New Roman"/>
                <a:cs typeface="Times New Roman"/>
                <a:sym typeface="Times New Roman"/>
              </a:rPr>
              <a:t>For any context C: info(C) := ⋃C</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ru" sz="1600">
                <a:solidFill>
                  <a:schemeClr val="dk1"/>
                </a:solidFill>
                <a:latin typeface="Times New Roman"/>
                <a:ea typeface="Times New Roman"/>
                <a:cs typeface="Times New Roman"/>
                <a:sym typeface="Times New Roman"/>
              </a:rPr>
              <a:t>A context C is informed iff info(C) = W.</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ru" sz="1600">
                <a:solidFill>
                  <a:schemeClr val="dk1"/>
                </a:solidFill>
                <a:latin typeface="Times New Roman"/>
                <a:ea typeface="Times New Roman"/>
                <a:cs typeface="Times New Roman"/>
                <a:sym typeface="Times New Roman"/>
              </a:rPr>
              <a:t>A context C is uninformed iff info(C) = W.</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ru" sz="1600">
                <a:solidFill>
                  <a:schemeClr val="dk1"/>
                </a:solidFill>
                <a:latin typeface="Times New Roman"/>
                <a:ea typeface="Times New Roman"/>
                <a:cs typeface="Times New Roman"/>
                <a:sym typeface="Times New Roman"/>
              </a:rPr>
              <a:t>A context C is inquisitive iff info(C) ∈ C.</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ru" sz="1600">
                <a:solidFill>
                  <a:schemeClr val="dk1"/>
                </a:solidFill>
                <a:latin typeface="Times New Roman"/>
                <a:ea typeface="Times New Roman"/>
                <a:cs typeface="Times New Roman"/>
                <a:sym typeface="Times New Roman"/>
              </a:rPr>
              <a:t>A context C is indifferent iff info(C) ∈ C.</a:t>
            </a:r>
            <a:endParaRPr sz="1600">
              <a:solidFill>
                <a:schemeClr val="dk1"/>
              </a:solidFill>
              <a:latin typeface="Times New Roman"/>
              <a:ea typeface="Times New Roman"/>
              <a:cs typeface="Times New Roman"/>
              <a:sym typeface="Times New Roman"/>
            </a:endParaRPr>
          </a:p>
          <a:p>
            <a:pPr indent="0" lvl="0" marL="4572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cxnSp>
        <p:nvCxnSpPr>
          <p:cNvPr id="219" name="Google Shape;219;p38"/>
          <p:cNvCxnSpPr/>
          <p:nvPr/>
        </p:nvCxnSpPr>
        <p:spPr>
          <a:xfrm flipH="1">
            <a:off x="3778900" y="1753300"/>
            <a:ext cx="107100" cy="171600"/>
          </a:xfrm>
          <a:prstGeom prst="straightConnector1">
            <a:avLst/>
          </a:prstGeom>
          <a:noFill/>
          <a:ln cap="flat" cmpd="sng" w="9525">
            <a:solidFill>
              <a:schemeClr val="dk2"/>
            </a:solidFill>
            <a:prstDash val="solid"/>
            <a:round/>
            <a:headEnd len="med" w="med" type="none"/>
            <a:tailEnd len="med" w="med" type="none"/>
          </a:ln>
        </p:spPr>
      </p:cxnSp>
      <p:cxnSp>
        <p:nvCxnSpPr>
          <p:cNvPr id="220" name="Google Shape;220;p38"/>
          <p:cNvCxnSpPr/>
          <p:nvPr/>
        </p:nvCxnSpPr>
        <p:spPr>
          <a:xfrm flipH="1">
            <a:off x="3886000" y="2207400"/>
            <a:ext cx="107100" cy="171600"/>
          </a:xfrm>
          <a:prstGeom prst="straightConnector1">
            <a:avLst/>
          </a:prstGeom>
          <a:noFill/>
          <a:ln cap="flat" cmpd="sng" w="9525">
            <a:solidFill>
              <a:schemeClr val="dk2"/>
            </a:solidFill>
            <a:prstDash val="solid"/>
            <a:round/>
            <a:headEnd len="med" w="med" type="none"/>
            <a:tailEnd len="med" w="med" type="none"/>
          </a:ln>
        </p:spPr>
      </p:cxnSp>
      <p:pic>
        <p:nvPicPr>
          <p:cNvPr id="221" name="Google Shape;221;p38"/>
          <p:cNvPicPr preferRelativeResize="0"/>
          <p:nvPr/>
        </p:nvPicPr>
        <p:blipFill>
          <a:blip r:embed="rId3">
            <a:alphaModFix/>
          </a:blip>
          <a:stretch>
            <a:fillRect/>
          </a:stretch>
        </p:blipFill>
        <p:spPr>
          <a:xfrm>
            <a:off x="697700" y="3096775"/>
            <a:ext cx="5005150" cy="14721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Contexts</a:t>
            </a:r>
            <a:endParaRPr>
              <a:latin typeface="Times New Roman"/>
              <a:ea typeface="Times New Roman"/>
              <a:cs typeface="Times New Roman"/>
              <a:sym typeface="Times New Roman"/>
            </a:endParaRPr>
          </a:p>
        </p:txBody>
      </p:sp>
      <p:sp>
        <p:nvSpPr>
          <p:cNvPr id="227" name="Google Shape;227;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just">
              <a:spcBef>
                <a:spcPts val="0"/>
              </a:spcBef>
              <a:spcAft>
                <a:spcPts val="0"/>
              </a:spcAft>
              <a:buClr>
                <a:schemeClr val="dk1"/>
              </a:buClr>
              <a:buSzPts val="1700"/>
              <a:buFont typeface="Times New Roman"/>
              <a:buChar char="●"/>
            </a:pPr>
            <a:r>
              <a:rPr lang="ru" sz="1700">
                <a:solidFill>
                  <a:schemeClr val="dk1"/>
                </a:solidFill>
                <a:latin typeface="Times New Roman"/>
                <a:ea typeface="Times New Roman"/>
                <a:cs typeface="Times New Roman"/>
                <a:sym typeface="Times New Roman"/>
              </a:rPr>
              <a:t>C′ is an extension of C, C′ ≥ C, iff C′ ⊆ C.</a:t>
            </a:r>
            <a:endParaRPr sz="1700">
              <a:solidFill>
                <a:schemeClr val="dk1"/>
              </a:solidFill>
              <a:latin typeface="Times New Roman"/>
              <a:ea typeface="Times New Roman"/>
              <a:cs typeface="Times New Roman"/>
              <a:sym typeface="Times New Roman"/>
            </a:endParaRPr>
          </a:p>
          <a:p>
            <a:pPr indent="-336550" lvl="0" marL="457200" rtl="0" algn="just">
              <a:spcBef>
                <a:spcPts val="0"/>
              </a:spcBef>
              <a:spcAft>
                <a:spcPts val="0"/>
              </a:spcAft>
              <a:buClr>
                <a:schemeClr val="dk1"/>
              </a:buClr>
              <a:buSzPts val="1700"/>
              <a:buFont typeface="Times New Roman"/>
              <a:buChar char="●"/>
            </a:pPr>
            <a:r>
              <a:rPr lang="ru" sz="1700">
                <a:solidFill>
                  <a:schemeClr val="dk1"/>
                </a:solidFill>
                <a:latin typeface="Times New Roman"/>
                <a:ea typeface="Times New Roman"/>
                <a:cs typeface="Times New Roman"/>
                <a:sym typeface="Times New Roman"/>
              </a:rPr>
              <a:t>The contexts in (b), (c), and (d) are all extensions of the trivial context in (a).</a:t>
            </a:r>
            <a:endParaRPr sz="1700">
              <a:solidFill>
                <a:schemeClr val="dk1"/>
              </a:solidFill>
              <a:latin typeface="Times New Roman"/>
              <a:ea typeface="Times New Roman"/>
              <a:cs typeface="Times New Roman"/>
              <a:sym typeface="Times New Roman"/>
            </a:endParaRPr>
          </a:p>
          <a:p>
            <a:pPr indent="-336550" lvl="0" marL="457200" rtl="0" algn="just">
              <a:spcBef>
                <a:spcPts val="0"/>
              </a:spcBef>
              <a:spcAft>
                <a:spcPts val="0"/>
              </a:spcAft>
              <a:buClr>
                <a:schemeClr val="dk1"/>
              </a:buClr>
              <a:buSzPts val="1700"/>
              <a:buFont typeface="Times New Roman"/>
              <a:buChar char="●"/>
            </a:pPr>
            <a:r>
              <a:rPr lang="ru" sz="1700">
                <a:solidFill>
                  <a:schemeClr val="dk1"/>
                </a:solidFill>
                <a:latin typeface="Times New Roman"/>
                <a:ea typeface="Times New Roman"/>
                <a:cs typeface="Times New Roman"/>
                <a:sym typeface="Times New Roman"/>
              </a:rPr>
              <a:t>(d) is also an extension of (b) and (c), but neither (b) nor (c) is an extension of the other.</a:t>
            </a:r>
            <a:endParaRPr sz="1700">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sz="1600">
                <a:solidFill>
                  <a:schemeClr val="dk1"/>
                </a:solidFill>
                <a:latin typeface="Times New Roman"/>
                <a:ea typeface="Times New Roman"/>
                <a:cs typeface="Times New Roman"/>
                <a:sym typeface="Times New Roman"/>
              </a:rPr>
              <a:t>Ciardelli et al. 2017</a:t>
            </a:r>
            <a:endParaRPr sz="1600">
              <a:solidFill>
                <a:schemeClr val="dk1"/>
              </a:solidFill>
              <a:latin typeface="Times New Roman"/>
              <a:ea typeface="Times New Roman"/>
              <a:cs typeface="Times New Roman"/>
              <a:sym typeface="Times New Roman"/>
            </a:endParaRPr>
          </a:p>
        </p:txBody>
      </p:sp>
      <p:pic>
        <p:nvPicPr>
          <p:cNvPr id="228" name="Google Shape;228;p39"/>
          <p:cNvPicPr preferRelativeResize="0"/>
          <p:nvPr/>
        </p:nvPicPr>
        <p:blipFill>
          <a:blip r:embed="rId3">
            <a:alphaModFix/>
          </a:blip>
          <a:stretch>
            <a:fillRect/>
          </a:stretch>
        </p:blipFill>
        <p:spPr>
          <a:xfrm>
            <a:off x="1254675" y="2175275"/>
            <a:ext cx="6505350" cy="19133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Contexts</a:t>
            </a:r>
            <a:endParaRPr>
              <a:latin typeface="Times New Roman"/>
              <a:ea typeface="Times New Roman"/>
              <a:cs typeface="Times New Roman"/>
              <a:sym typeface="Times New Roman"/>
            </a:endParaRPr>
          </a:p>
        </p:txBody>
      </p:sp>
      <p:sp>
        <p:nvSpPr>
          <p:cNvPr id="234" name="Google Shape;234;p40"/>
          <p:cNvSpPr txBox="1"/>
          <p:nvPr>
            <p:ph idx="1" type="body"/>
          </p:nvPr>
        </p:nvSpPr>
        <p:spPr>
          <a:xfrm>
            <a:off x="311700" y="1152475"/>
            <a:ext cx="8520600" cy="3555900"/>
          </a:xfrm>
          <a:prstGeom prst="rect">
            <a:avLst/>
          </a:prstGeom>
        </p:spPr>
        <p:txBody>
          <a:bodyPr anchorCtr="0" anchor="t" bIns="91425" lIns="91425" spcFirstLastPara="1" rIns="91425" wrap="square" tIns="91425">
            <a:normAutofit lnSpcReduction="10000"/>
          </a:bodyPr>
          <a:lstStyle/>
          <a:p>
            <a:pPr indent="-342900" lvl="0" marL="457200" rtl="0" algn="just">
              <a:spcBef>
                <a:spcPts val="0"/>
              </a:spcBef>
              <a:spcAft>
                <a:spcPts val="0"/>
              </a:spcAft>
              <a:buClr>
                <a:schemeClr val="dk1"/>
              </a:buClr>
              <a:buSzPts val="1800"/>
              <a:buFont typeface="Times New Roman"/>
              <a:buChar char="●"/>
            </a:pPr>
            <a:r>
              <a:rPr lang="ru">
                <a:solidFill>
                  <a:schemeClr val="dk1"/>
                </a:solidFill>
                <a:latin typeface="Times New Roman"/>
                <a:ea typeface="Times New Roman"/>
                <a:cs typeface="Times New Roman"/>
                <a:sym typeface="Times New Roman"/>
              </a:rPr>
              <a:t>Context update C[P ] := C ∩ P</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235" name="Google Shape;235;p40"/>
          <p:cNvPicPr preferRelativeResize="0"/>
          <p:nvPr/>
        </p:nvPicPr>
        <p:blipFill>
          <a:blip r:embed="rId3">
            <a:alphaModFix/>
          </a:blip>
          <a:stretch>
            <a:fillRect/>
          </a:stretch>
        </p:blipFill>
        <p:spPr>
          <a:xfrm>
            <a:off x="920225" y="1808925"/>
            <a:ext cx="3914675" cy="33943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241" name="Google Shape;241;p41"/>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62500" lnSpcReduction="20000"/>
          </a:bodyPr>
          <a:lstStyle/>
          <a:p>
            <a:pPr indent="-312737" lvl="0" marL="457200" rtl="0" algn="just">
              <a:spcBef>
                <a:spcPts val="0"/>
              </a:spcBef>
              <a:spcAft>
                <a:spcPts val="0"/>
              </a:spcAft>
              <a:buClr>
                <a:schemeClr val="dk1"/>
              </a:buClr>
              <a:buSzPct val="100000"/>
              <a:buFont typeface="Times New Roman"/>
              <a:buChar char="●"/>
            </a:pPr>
            <a:r>
              <a:rPr lang="ru" sz="2120">
                <a:solidFill>
                  <a:schemeClr val="dk1"/>
                </a:solidFill>
                <a:latin typeface="Times New Roman"/>
                <a:ea typeface="Times New Roman"/>
                <a:cs typeface="Times New Roman"/>
                <a:sym typeface="Times New Roman"/>
              </a:rPr>
              <a:t>Let’s assume that our language contains just one unary predicate symbol, R, and two individual constants, a and b. </a:t>
            </a:r>
            <a:endParaRPr sz="2120">
              <a:solidFill>
                <a:schemeClr val="dk1"/>
              </a:solidFill>
              <a:latin typeface="Times New Roman"/>
              <a:ea typeface="Times New Roman"/>
              <a:cs typeface="Times New Roman"/>
              <a:sym typeface="Times New Roman"/>
            </a:endParaRPr>
          </a:p>
          <a:p>
            <a:pPr indent="-312737" lvl="0" marL="457200" rtl="0" algn="just">
              <a:spcBef>
                <a:spcPts val="0"/>
              </a:spcBef>
              <a:spcAft>
                <a:spcPts val="0"/>
              </a:spcAft>
              <a:buClr>
                <a:schemeClr val="dk1"/>
              </a:buClr>
              <a:buSzPct val="100000"/>
              <a:buFont typeface="Times New Roman"/>
              <a:buChar char="●"/>
            </a:pPr>
            <a:r>
              <a:rPr lang="ru" sz="2120">
                <a:solidFill>
                  <a:schemeClr val="dk1"/>
                </a:solidFill>
                <a:latin typeface="Times New Roman"/>
                <a:ea typeface="Times New Roman"/>
                <a:cs typeface="Times New Roman"/>
                <a:sym typeface="Times New Roman"/>
              </a:rPr>
              <a:t>The domain of discourse consists of just two objects, denoted by a and b.</a:t>
            </a:r>
            <a:endParaRPr sz="2120">
              <a:solidFill>
                <a:schemeClr val="dk1"/>
              </a:solidFill>
              <a:latin typeface="Times New Roman"/>
              <a:ea typeface="Times New Roman"/>
              <a:cs typeface="Times New Roman"/>
              <a:sym typeface="Times New Roman"/>
            </a:endParaRPr>
          </a:p>
          <a:p>
            <a:pPr indent="-312737" lvl="0" marL="457200" rtl="0" algn="just">
              <a:spcBef>
                <a:spcPts val="0"/>
              </a:spcBef>
              <a:spcAft>
                <a:spcPts val="0"/>
              </a:spcAft>
              <a:buClr>
                <a:schemeClr val="dk1"/>
              </a:buClr>
              <a:buSzPct val="100000"/>
              <a:buFont typeface="Times New Roman"/>
              <a:buChar char="●"/>
            </a:pPr>
            <a:r>
              <a:rPr lang="ru" sz="2120">
                <a:solidFill>
                  <a:schemeClr val="dk1"/>
                </a:solidFill>
                <a:latin typeface="Times New Roman"/>
                <a:ea typeface="Times New Roman"/>
                <a:cs typeface="Times New Roman"/>
                <a:sym typeface="Times New Roman"/>
              </a:rPr>
              <a:t>Our logical space consists of four worlds, one in which both Ra and Rb are true, one in which Ra is true but Rb is false, one in which Rb is true but Ra is false, and one in which neither Ra nor Rb is true. These worlds will be labeled 11, 10, 01, and 00, respectively. </a:t>
            </a:r>
            <a:endParaRPr sz="2120">
              <a:solidFill>
                <a:schemeClr val="dk1"/>
              </a:solidFill>
              <a:latin typeface="Times New Roman"/>
              <a:ea typeface="Times New Roman"/>
              <a:cs typeface="Times New Roman"/>
              <a:sym typeface="Times New Roman"/>
            </a:endParaRPr>
          </a:p>
          <a:p>
            <a:pPr indent="-312737" lvl="0" marL="457200" rtl="0" algn="just">
              <a:spcBef>
                <a:spcPts val="0"/>
              </a:spcBef>
              <a:spcAft>
                <a:spcPts val="0"/>
              </a:spcAft>
              <a:buClr>
                <a:schemeClr val="dk1"/>
              </a:buClr>
              <a:buSzPct val="100000"/>
              <a:buFont typeface="Times New Roman"/>
              <a:buChar char="●"/>
            </a:pPr>
            <a:r>
              <a:rPr lang="ru" sz="2120">
                <a:solidFill>
                  <a:schemeClr val="dk1"/>
                </a:solidFill>
                <a:latin typeface="Times New Roman"/>
                <a:ea typeface="Times New Roman"/>
                <a:cs typeface="Times New Roman"/>
                <a:sym typeface="Times New Roman"/>
              </a:rPr>
              <a:t>For concreteness, we will read Ra as ‘Ann is in Rome’, and Rb as ‘Bob is in Rome’.</a:t>
            </a:r>
            <a:endParaRPr sz="2120">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242" name="Google Shape;242;p41"/>
          <p:cNvPicPr preferRelativeResize="0"/>
          <p:nvPr/>
        </p:nvPicPr>
        <p:blipFill>
          <a:blip r:embed="rId3">
            <a:alphaModFix/>
          </a:blip>
          <a:stretch>
            <a:fillRect/>
          </a:stretch>
        </p:blipFill>
        <p:spPr>
          <a:xfrm>
            <a:off x="819150" y="2571750"/>
            <a:ext cx="7505700" cy="16764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248" name="Google Shape;248;p42"/>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62500"/>
          </a:bodyPr>
          <a:lstStyle/>
          <a:p>
            <a:pPr indent="-312737" lvl="0" marL="457200" rtl="0" algn="just">
              <a:spcBef>
                <a:spcPts val="0"/>
              </a:spcBef>
              <a:spcAft>
                <a:spcPts val="0"/>
              </a:spcAft>
              <a:buClr>
                <a:schemeClr val="dk1"/>
              </a:buClr>
              <a:buSzPct val="100000"/>
              <a:buFont typeface="Times New Roman"/>
              <a:buChar char="●"/>
            </a:pPr>
            <a:r>
              <a:rPr lang="ru" sz="2120">
                <a:solidFill>
                  <a:schemeClr val="dk1"/>
                </a:solidFill>
                <a:latin typeface="Times New Roman"/>
                <a:ea typeface="Times New Roman"/>
                <a:cs typeface="Times New Roman"/>
                <a:sym typeface="Times New Roman"/>
              </a:rPr>
              <a:t>Let us first consider the proposition expressed by the atomic sentences Ra and Rb. </a:t>
            </a:r>
            <a:endParaRPr sz="2120">
              <a:solidFill>
                <a:schemeClr val="dk1"/>
              </a:solidFill>
              <a:latin typeface="Times New Roman"/>
              <a:ea typeface="Times New Roman"/>
              <a:cs typeface="Times New Roman"/>
              <a:sym typeface="Times New Roman"/>
            </a:endParaRPr>
          </a:p>
          <a:p>
            <a:pPr indent="-312737" lvl="0" marL="457200" rtl="0" algn="just">
              <a:spcBef>
                <a:spcPts val="0"/>
              </a:spcBef>
              <a:spcAft>
                <a:spcPts val="0"/>
              </a:spcAft>
              <a:buClr>
                <a:schemeClr val="dk1"/>
              </a:buClr>
              <a:buSzPct val="100000"/>
              <a:buFont typeface="Times New Roman"/>
              <a:buChar char="●"/>
            </a:pPr>
            <a:r>
              <a:rPr lang="ru" sz="2120">
                <a:solidFill>
                  <a:schemeClr val="dk1"/>
                </a:solidFill>
                <a:latin typeface="Times New Roman"/>
                <a:ea typeface="Times New Roman"/>
                <a:cs typeface="Times New Roman"/>
                <a:sym typeface="Times New Roman"/>
              </a:rPr>
              <a:t>[Ra] consists of all states s such that every world in s makes Ra true, i.e., the state {11, 10} and all substates thereof.</a:t>
            </a:r>
            <a:endParaRPr sz="2120">
              <a:solidFill>
                <a:schemeClr val="dk1"/>
              </a:solidFill>
              <a:latin typeface="Times New Roman"/>
              <a:ea typeface="Times New Roman"/>
              <a:cs typeface="Times New Roman"/>
              <a:sym typeface="Times New Roman"/>
            </a:endParaRPr>
          </a:p>
          <a:p>
            <a:pPr indent="-312737" lvl="0" marL="457200" rtl="0" algn="just">
              <a:spcBef>
                <a:spcPts val="0"/>
              </a:spcBef>
              <a:spcAft>
                <a:spcPts val="0"/>
              </a:spcAft>
              <a:buClr>
                <a:schemeClr val="dk1"/>
              </a:buClr>
              <a:buSzPct val="100000"/>
              <a:buFont typeface="Times New Roman"/>
              <a:buChar char="●"/>
            </a:pPr>
            <a:r>
              <a:rPr lang="ru" sz="2120">
                <a:solidFill>
                  <a:schemeClr val="dk1"/>
                </a:solidFill>
                <a:latin typeface="Times New Roman"/>
                <a:ea typeface="Times New Roman"/>
                <a:cs typeface="Times New Roman"/>
                <a:sym typeface="Times New Roman"/>
              </a:rPr>
              <a:t>Ra is non-inquisitive. It provides the information that Ann is in Rome, and it does not request any further information. </a:t>
            </a:r>
            <a:endParaRPr sz="2120">
              <a:solidFill>
                <a:schemeClr val="dk1"/>
              </a:solidFill>
              <a:latin typeface="Times New Roman"/>
              <a:ea typeface="Times New Roman"/>
              <a:cs typeface="Times New Roman"/>
              <a:sym typeface="Times New Roman"/>
            </a:endParaRPr>
          </a:p>
          <a:p>
            <a:pPr indent="-312737" lvl="0" marL="457200" rtl="0" algn="just">
              <a:spcBef>
                <a:spcPts val="0"/>
              </a:spcBef>
              <a:spcAft>
                <a:spcPts val="0"/>
              </a:spcAft>
              <a:buClr>
                <a:schemeClr val="dk1"/>
              </a:buClr>
              <a:buSzPct val="100000"/>
              <a:buFont typeface="Times New Roman"/>
              <a:buChar char="●"/>
            </a:pPr>
            <a:r>
              <a:rPr lang="ru" sz="2120">
                <a:solidFill>
                  <a:schemeClr val="dk1"/>
                </a:solidFill>
                <a:latin typeface="Times New Roman"/>
                <a:ea typeface="Times New Roman"/>
                <a:cs typeface="Times New Roman"/>
                <a:sym typeface="Times New Roman"/>
              </a:rPr>
              <a:t>Analogously, Rb provides the information that Bob is in Rome, without requesting any further information.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249" name="Google Shape;249;p42"/>
          <p:cNvPicPr preferRelativeResize="0"/>
          <p:nvPr/>
        </p:nvPicPr>
        <p:blipFill>
          <a:blip r:embed="rId3">
            <a:alphaModFix/>
          </a:blip>
          <a:stretch>
            <a:fillRect/>
          </a:stretch>
        </p:blipFill>
        <p:spPr>
          <a:xfrm>
            <a:off x="819150" y="2571750"/>
            <a:ext cx="7505700" cy="1676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255" name="Google Shape;255;p43"/>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70000" lnSpcReduction="20000"/>
          </a:bodyPr>
          <a:lstStyle/>
          <a:p>
            <a:pPr indent="-312375" lvl="0" marL="457200"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Disjunction [Ra ∨ Rb] consists of those states that are in [Ra] or in [Rb]. These are {11, 10}, {11, 01}, and all substates thereof.</a:t>
            </a:r>
            <a:endParaRPr sz="1884">
              <a:solidFill>
                <a:schemeClr val="dk1"/>
              </a:solidFill>
              <a:latin typeface="Times New Roman"/>
              <a:ea typeface="Times New Roman"/>
              <a:cs typeface="Times New Roman"/>
              <a:sym typeface="Times New Roman"/>
            </a:endParaRPr>
          </a:p>
          <a:p>
            <a:pPr indent="-312375" lvl="0" marL="457200"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Since info(Ra ∨ Rb) = ⋃[Ra ∨ Rb] = {11, 10, 01} = W , the disjunction Ra ∨ Rb is informative. It provides the information that at least one of Ann and Bob is in Rome. </a:t>
            </a:r>
            <a:endParaRPr sz="1884">
              <a:solidFill>
                <a:schemeClr val="dk1"/>
              </a:solidFill>
              <a:latin typeface="Times New Roman"/>
              <a:ea typeface="Times New Roman"/>
              <a:cs typeface="Times New Roman"/>
              <a:sym typeface="Times New Roman"/>
            </a:endParaRPr>
          </a:p>
          <a:p>
            <a:pPr indent="-312375" lvl="0" marL="457200"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Since there are two maximal </a:t>
            </a:r>
            <a:r>
              <a:rPr lang="ru" sz="1884">
                <a:solidFill>
                  <a:schemeClr val="dk1"/>
                </a:solidFill>
                <a:latin typeface="Times New Roman"/>
                <a:ea typeface="Times New Roman"/>
                <a:cs typeface="Times New Roman"/>
                <a:sym typeface="Times New Roman"/>
              </a:rPr>
              <a:t>elements,  it is also inquisitive. In order to settle the issue that it raises, one has to establish either that Ann is in Rome, or that Bob is in Rome.</a:t>
            </a:r>
            <a:endParaRPr sz="1884">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256" name="Google Shape;256;p43"/>
          <p:cNvPicPr preferRelativeResize="0"/>
          <p:nvPr/>
        </p:nvPicPr>
        <p:blipFill>
          <a:blip r:embed="rId3">
            <a:alphaModFix/>
          </a:blip>
          <a:stretch>
            <a:fillRect/>
          </a:stretch>
        </p:blipFill>
        <p:spPr>
          <a:xfrm>
            <a:off x="819150" y="2711050"/>
            <a:ext cx="6791075" cy="1516800"/>
          </a:xfrm>
          <a:prstGeom prst="rect">
            <a:avLst/>
          </a:prstGeom>
          <a:noFill/>
          <a:ln>
            <a:noFill/>
          </a:ln>
        </p:spPr>
      </p:pic>
      <p:cxnSp>
        <p:nvCxnSpPr>
          <p:cNvPr id="257" name="Google Shape;257;p43"/>
          <p:cNvCxnSpPr/>
          <p:nvPr/>
        </p:nvCxnSpPr>
        <p:spPr>
          <a:xfrm flipH="1">
            <a:off x="4464888" y="1628563"/>
            <a:ext cx="107100" cy="171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263" name="Google Shape;263;p44"/>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77500" lnSpcReduction="20000"/>
          </a:bodyPr>
          <a:lstStyle/>
          <a:p>
            <a:pPr indent="-321351" lvl="0" marL="457200"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A disjunctive sentence Ra ∨ Rb does not necessarily correspond to a disjunctive declarative sentence in English like (1) below, or to a disjunctive interrogative sentence like (2).</a:t>
            </a:r>
            <a:endParaRPr sz="1884">
              <a:solidFill>
                <a:schemeClr val="dk1"/>
              </a:solidFill>
              <a:latin typeface="Times New Roman"/>
              <a:ea typeface="Times New Roman"/>
              <a:cs typeface="Times New Roman"/>
              <a:sym typeface="Times New Roman"/>
            </a:endParaRPr>
          </a:p>
          <a:p>
            <a:pPr indent="0" lvl="0" marL="457200" rtl="0" algn="just">
              <a:spcBef>
                <a:spcPts val="1200"/>
              </a:spcBef>
              <a:spcAft>
                <a:spcPts val="0"/>
              </a:spcAft>
              <a:buNone/>
            </a:pPr>
            <a:r>
              <a:rPr lang="ru" sz="1884">
                <a:solidFill>
                  <a:schemeClr val="dk1"/>
                </a:solidFill>
                <a:latin typeface="Times New Roman"/>
                <a:ea typeface="Times New Roman"/>
                <a:cs typeface="Times New Roman"/>
                <a:sym typeface="Times New Roman"/>
              </a:rPr>
              <a:t>(1) Ann is in Rome or Bob is in Rome. 		!(Ra ∨ Rb) </a:t>
            </a:r>
            <a:endParaRPr sz="1884">
              <a:solidFill>
                <a:schemeClr val="dk1"/>
              </a:solidFill>
              <a:latin typeface="Times New Roman"/>
              <a:ea typeface="Times New Roman"/>
              <a:cs typeface="Times New Roman"/>
              <a:sym typeface="Times New Roman"/>
            </a:endParaRPr>
          </a:p>
          <a:p>
            <a:pPr indent="0" lvl="0" marL="457200" rtl="0" algn="just">
              <a:spcBef>
                <a:spcPts val="1200"/>
              </a:spcBef>
              <a:spcAft>
                <a:spcPts val="0"/>
              </a:spcAft>
              <a:buNone/>
            </a:pPr>
            <a:r>
              <a:rPr lang="ru" sz="1884">
                <a:solidFill>
                  <a:schemeClr val="dk1"/>
                </a:solidFill>
                <a:latin typeface="Times New Roman"/>
                <a:ea typeface="Times New Roman"/>
                <a:cs typeface="Times New Roman"/>
                <a:sym typeface="Times New Roman"/>
              </a:rPr>
              <a:t>(2) Is Ann in Rome, or is Bob in Rome?		?(Ra ∨ Rb) or Ra ∨ Rb, depending on intonation</a:t>
            </a:r>
            <a:endParaRPr sz="1884">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264" name="Google Shape;264;p44"/>
          <p:cNvPicPr preferRelativeResize="0"/>
          <p:nvPr/>
        </p:nvPicPr>
        <p:blipFill>
          <a:blip r:embed="rId3">
            <a:alphaModFix/>
          </a:blip>
          <a:stretch>
            <a:fillRect/>
          </a:stretch>
        </p:blipFill>
        <p:spPr>
          <a:xfrm>
            <a:off x="819150" y="2711050"/>
            <a:ext cx="6791075" cy="1516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270" name="Google Shape;270;p45"/>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77500" lnSpcReduction="20000"/>
          </a:bodyPr>
          <a:lstStyle/>
          <a:p>
            <a:pPr indent="-321351" lvl="0" marL="457200"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[¬Ra] consists of all states s such that s does not have any world in common with any state in [Ra]. Thus, [¬Ra] consists of all states that do not contain the worlds 11 and 10, which are |¬Ra| = {01, 00} and all substates thereof.</a:t>
            </a:r>
            <a:endParaRPr sz="1884">
              <a:solidFill>
                <a:schemeClr val="dk1"/>
              </a:solidFill>
              <a:latin typeface="Times New Roman"/>
              <a:ea typeface="Times New Roman"/>
              <a:cs typeface="Times New Roman"/>
              <a:sym typeface="Times New Roman"/>
            </a:endParaRPr>
          </a:p>
          <a:p>
            <a:pPr indent="-321351" lvl="0" marL="457200"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¬Ra is non-inquisitive. It provides the information that Ann is not in Rome, and does not request any further information.</a:t>
            </a:r>
            <a:endParaRPr sz="1884">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271" name="Google Shape;271;p45"/>
          <p:cNvPicPr preferRelativeResize="0"/>
          <p:nvPr/>
        </p:nvPicPr>
        <p:blipFill>
          <a:blip r:embed="rId3">
            <a:alphaModFix/>
          </a:blip>
          <a:stretch>
            <a:fillRect/>
          </a:stretch>
        </p:blipFill>
        <p:spPr>
          <a:xfrm>
            <a:off x="819150" y="2711050"/>
            <a:ext cx="6791075" cy="15168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277" name="Google Shape;277;p46"/>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70000" lnSpcReduction="20000"/>
          </a:bodyPr>
          <a:lstStyle/>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[¬(Ra ∨ Rb)] consists of all states which do not have a world in common with any state in [Ra ∨ Rb]. Thus, [¬(Ra ∨ Rb)] consists of all states that do not contain the worlds 11, 10, and 01, which are {00}and ∅</a:t>
            </a:r>
            <a:r>
              <a:rPr lang="ru" sz="1884">
                <a:solidFill>
                  <a:schemeClr val="dk1"/>
                </a:solidFill>
                <a:latin typeface="Times New Roman"/>
                <a:ea typeface="Times New Roman"/>
                <a:cs typeface="Times New Roman"/>
                <a:sym typeface="Times New Roman"/>
              </a:rPr>
              <a:t>.</a:t>
            </a:r>
            <a:endParaRPr sz="1884">
              <a:solidFill>
                <a:schemeClr val="dk1"/>
              </a:solidFill>
              <a:latin typeface="Times New Roman"/>
              <a:ea typeface="Times New Roman"/>
              <a:cs typeface="Times New Roman"/>
              <a:sym typeface="Times New Roman"/>
            </a:endParaRPr>
          </a:p>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¬(Ra ∨ Rb) provides the information that neither Ann nor Bob is in Rome and does not request any further information.</a:t>
            </a:r>
            <a:endParaRPr sz="1884">
              <a:solidFill>
                <a:schemeClr val="dk1"/>
              </a:solidFill>
              <a:latin typeface="Times New Roman"/>
              <a:ea typeface="Times New Roman"/>
              <a:cs typeface="Times New Roman"/>
              <a:sym typeface="Times New Roman"/>
            </a:endParaRPr>
          </a:p>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The absolute pseudo-complement of a proposition always contains a greatest element.</a:t>
            </a:r>
            <a:endParaRPr sz="1884">
              <a:solidFill>
                <a:schemeClr val="dk1"/>
              </a:solidFill>
              <a:latin typeface="Times New Roman"/>
              <a:ea typeface="Times New Roman"/>
              <a:cs typeface="Times New Roman"/>
              <a:sym typeface="Times New Roman"/>
            </a:endParaRPr>
          </a:p>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This means that a negative sentence ¬ϕ is never inquisitive; it simply provides the information that ϕ is false, and does not request any further information.</a:t>
            </a:r>
            <a:endParaRPr sz="1884">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278" name="Google Shape;278;p46"/>
          <p:cNvPicPr preferRelativeResize="0"/>
          <p:nvPr/>
        </p:nvPicPr>
        <p:blipFill>
          <a:blip r:embed="rId3">
            <a:alphaModFix/>
          </a:blip>
          <a:stretch>
            <a:fillRect/>
          </a:stretch>
        </p:blipFill>
        <p:spPr>
          <a:xfrm>
            <a:off x="819150" y="2711050"/>
            <a:ext cx="6791075" cy="15168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284" name="Google Shape;284;p47"/>
          <p:cNvSpPr txBox="1"/>
          <p:nvPr>
            <p:ph idx="1" type="body"/>
          </p:nvPr>
        </p:nvSpPr>
        <p:spPr>
          <a:xfrm>
            <a:off x="311700" y="1152475"/>
            <a:ext cx="8520600" cy="3555900"/>
          </a:xfrm>
          <a:prstGeom prst="rect">
            <a:avLst/>
          </a:prstGeom>
        </p:spPr>
        <p:txBody>
          <a:bodyPr anchorCtr="0" anchor="t" bIns="91425" lIns="91425" spcFirstLastPara="1" rIns="91425" wrap="square" tIns="91425">
            <a:normAutofit lnSpcReduction="20000"/>
          </a:bodyPr>
          <a:lstStyle/>
          <a:p>
            <a:pPr indent="-348279" lvl="0" marL="269999" rtl="0" algn="just">
              <a:spcBef>
                <a:spcPts val="0"/>
              </a:spcBef>
              <a:spcAft>
                <a:spcPts val="0"/>
              </a:spcAft>
              <a:buClr>
                <a:schemeClr val="dk1"/>
              </a:buClr>
              <a:buSzPts val="1885"/>
              <a:buFont typeface="Times New Roman"/>
              <a:buChar char="●"/>
            </a:pPr>
            <a:r>
              <a:rPr lang="ru" sz="1884">
                <a:solidFill>
                  <a:schemeClr val="dk1"/>
                </a:solidFill>
                <a:latin typeface="Times New Roman"/>
                <a:ea typeface="Times New Roman"/>
                <a:cs typeface="Times New Roman"/>
                <a:sym typeface="Times New Roman"/>
              </a:rPr>
              <a:t>Let us consider !(Ra ∨ Rb), which abbreviates ¬¬(Ra ∨ Rb).</a:t>
            </a:r>
            <a:endParaRPr sz="1884">
              <a:solidFill>
                <a:schemeClr val="dk1"/>
              </a:solidFill>
              <a:latin typeface="Times New Roman"/>
              <a:ea typeface="Times New Roman"/>
              <a:cs typeface="Times New Roman"/>
              <a:sym typeface="Times New Roman"/>
            </a:endParaRPr>
          </a:p>
          <a:p>
            <a:pPr indent="-348279" lvl="0" marL="269999" rtl="0" algn="just">
              <a:spcBef>
                <a:spcPts val="0"/>
              </a:spcBef>
              <a:spcAft>
                <a:spcPts val="0"/>
              </a:spcAft>
              <a:buClr>
                <a:schemeClr val="dk1"/>
              </a:buClr>
              <a:buSzPts val="1885"/>
              <a:buFont typeface="Times New Roman"/>
              <a:buChar char="●"/>
            </a:pPr>
            <a:r>
              <a:rPr lang="ru" sz="1884">
                <a:solidFill>
                  <a:schemeClr val="dk1"/>
                </a:solidFill>
                <a:latin typeface="Times New Roman"/>
                <a:ea typeface="Times New Roman"/>
                <a:cs typeface="Times New Roman"/>
                <a:sym typeface="Times New Roman"/>
              </a:rPr>
              <a:t>For any sentence ϕ, !ϕ is a non-inquisitive proposition with the same informative content as ϕ.</a:t>
            </a:r>
            <a:endParaRPr sz="1884">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285" name="Google Shape;285;p47"/>
          <p:cNvPicPr preferRelativeResize="0"/>
          <p:nvPr/>
        </p:nvPicPr>
        <p:blipFill>
          <a:blip r:embed="rId3">
            <a:alphaModFix/>
          </a:blip>
          <a:stretch>
            <a:fillRect/>
          </a:stretch>
        </p:blipFill>
        <p:spPr>
          <a:xfrm>
            <a:off x="1255875" y="2470575"/>
            <a:ext cx="6986575" cy="15906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291" name="Google Shape;291;p48"/>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70000" lnSpcReduction="20000"/>
          </a:bodyPr>
          <a:lstStyle/>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Consider ?Ra, which is an abbreviation of Ra ∨ ¬Ra.</a:t>
            </a:r>
            <a:endParaRPr sz="1884">
              <a:solidFill>
                <a:schemeClr val="dk1"/>
              </a:solidFill>
              <a:latin typeface="Times New Roman"/>
              <a:ea typeface="Times New Roman"/>
              <a:cs typeface="Times New Roman"/>
              <a:sym typeface="Times New Roman"/>
            </a:endParaRPr>
          </a:p>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[?Ra] = [Ra ∨ ¬Ra] consists of all states that are either in [Ra] or in [¬Ra]. These states are |Ra|, |¬Ra|, and all substates thereof.</a:t>
            </a:r>
            <a:endParaRPr sz="1884">
              <a:solidFill>
                <a:schemeClr val="dk1"/>
              </a:solidFill>
              <a:latin typeface="Times New Roman"/>
              <a:ea typeface="Times New Roman"/>
              <a:cs typeface="Times New Roman"/>
              <a:sym typeface="Times New Roman"/>
            </a:endParaRPr>
          </a:p>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Since info(?Ra) = W , ?Ra is non-informative. </a:t>
            </a:r>
            <a:endParaRPr sz="1884">
              <a:solidFill>
                <a:schemeClr val="dk1"/>
              </a:solidFill>
              <a:latin typeface="Times New Roman"/>
              <a:ea typeface="Times New Roman"/>
              <a:cs typeface="Times New Roman"/>
              <a:sym typeface="Times New Roman"/>
            </a:endParaRPr>
          </a:p>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Since [?Ra] contains two alternatives, it is inquisitive. In order to settle the issue that it raises, one has to establish either that Ann is in Rome, or that Ann is not in Rome. That is, one has to establish whether Ann is in Rome. </a:t>
            </a:r>
            <a:endParaRPr sz="1884">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292" name="Google Shape;292;p48"/>
          <p:cNvPicPr preferRelativeResize="0"/>
          <p:nvPr/>
        </p:nvPicPr>
        <p:blipFill>
          <a:blip r:embed="rId3">
            <a:alphaModFix/>
          </a:blip>
          <a:stretch>
            <a:fillRect/>
          </a:stretch>
        </p:blipFill>
        <p:spPr>
          <a:xfrm>
            <a:off x="1255875" y="2470575"/>
            <a:ext cx="6986575" cy="15906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298" name="Google Shape;298;p49"/>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70000"/>
          </a:bodyPr>
          <a:lstStyle/>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If ? applies to the disjunction Ra ∨ Rb, which is already inquisitive, then it yields the proposition depicted in (d). </a:t>
            </a:r>
            <a:endParaRPr sz="1884">
              <a:solidFill>
                <a:schemeClr val="dk1"/>
              </a:solidFill>
              <a:latin typeface="Times New Roman"/>
              <a:ea typeface="Times New Roman"/>
              <a:cs typeface="Times New Roman"/>
              <a:sym typeface="Times New Roman"/>
            </a:endParaRPr>
          </a:p>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[Ra ∨ Rb] already contains two alternatives, |Ra| and |Rb|; ? adds a third alternative, which is the set of worlds that are neither in |Ra| nor in |Rb|. </a:t>
            </a:r>
            <a:endParaRPr sz="1884">
              <a:solidFill>
                <a:schemeClr val="dk1"/>
              </a:solidFill>
              <a:latin typeface="Times New Roman"/>
              <a:ea typeface="Times New Roman"/>
              <a:cs typeface="Times New Roman"/>
              <a:sym typeface="Times New Roman"/>
            </a:endParaRPr>
          </a:p>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Thus, in order to resolve the issue raised by ?(Ra ∨ Rb), one has to establish either that Ann is in Rome, or that Bob is, or that neither is.</a:t>
            </a:r>
            <a:endParaRPr sz="1884">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299" name="Google Shape;299;p49"/>
          <p:cNvPicPr preferRelativeResize="0"/>
          <p:nvPr/>
        </p:nvPicPr>
        <p:blipFill>
          <a:blip r:embed="rId3">
            <a:alphaModFix/>
          </a:blip>
          <a:stretch>
            <a:fillRect/>
          </a:stretch>
        </p:blipFill>
        <p:spPr>
          <a:xfrm>
            <a:off x="1255875" y="2470575"/>
            <a:ext cx="6986575" cy="15906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305" name="Google Shape;305;p50"/>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62500" lnSpcReduction="10000"/>
          </a:bodyPr>
          <a:lstStyle/>
          <a:p>
            <a:pPr indent="-303399"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Let us consider a case where ! and ? both apply, one after the other: ?!(Ra ∨ Rb). </a:t>
            </a:r>
            <a:endParaRPr sz="1884">
              <a:solidFill>
                <a:schemeClr val="dk1"/>
              </a:solidFill>
              <a:latin typeface="Times New Roman"/>
              <a:ea typeface="Times New Roman"/>
              <a:cs typeface="Times New Roman"/>
              <a:sym typeface="Times New Roman"/>
            </a:endParaRPr>
          </a:p>
          <a:p>
            <a:pPr indent="-303399"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[!(Ra ∨ Rb)] contains a single alternative, consisting of all worlds where at least one of a and b is in Rome. </a:t>
            </a:r>
            <a:endParaRPr sz="1884">
              <a:solidFill>
                <a:schemeClr val="dk1"/>
              </a:solidFill>
              <a:latin typeface="Times New Roman"/>
              <a:ea typeface="Times New Roman"/>
              <a:cs typeface="Times New Roman"/>
              <a:sym typeface="Times New Roman"/>
            </a:endParaRPr>
          </a:p>
          <a:p>
            <a:pPr indent="-303399"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 adds a second alternative, which is the set of worlds where neither Ann nor Bob is in Rome. </a:t>
            </a:r>
            <a:endParaRPr sz="1884">
              <a:solidFill>
                <a:schemeClr val="dk1"/>
              </a:solidFill>
              <a:latin typeface="Times New Roman"/>
              <a:ea typeface="Times New Roman"/>
              <a:cs typeface="Times New Roman"/>
              <a:sym typeface="Times New Roman"/>
            </a:endParaRPr>
          </a:p>
          <a:p>
            <a:pPr indent="-303399"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Notice that the resulting proposition differs from that expressed by ?(Ra ∨ Rb), which contains three alternatives rather than two. In order to settle the issue expressed by ?!(Ra ∨ Rb) it is sufficient to establish that at least one of Ann and Bob is in Rome. </a:t>
            </a:r>
            <a:endParaRPr sz="1884">
              <a:solidFill>
                <a:schemeClr val="dk1"/>
              </a:solidFill>
              <a:latin typeface="Times New Roman"/>
              <a:ea typeface="Times New Roman"/>
              <a:cs typeface="Times New Roman"/>
              <a:sym typeface="Times New Roman"/>
            </a:endParaRPr>
          </a:p>
          <a:p>
            <a:pPr indent="-303399"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In order to settle the issue expressed by ?(Ra ∨ Rb) this is not sufficient; rather, it needs to be established of one of Ann and Bob that he or she is in Rome, or that neither of them is.</a:t>
            </a:r>
            <a:endParaRPr sz="1884">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306" name="Google Shape;306;p50"/>
          <p:cNvPicPr preferRelativeResize="0"/>
          <p:nvPr/>
        </p:nvPicPr>
        <p:blipFill>
          <a:blip r:embed="rId3">
            <a:alphaModFix/>
          </a:blip>
          <a:stretch>
            <a:fillRect/>
          </a:stretch>
        </p:blipFill>
        <p:spPr>
          <a:xfrm>
            <a:off x="1213025" y="2759900"/>
            <a:ext cx="6986575" cy="15906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312" name="Google Shape;312;p51"/>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92500" lnSpcReduction="20000"/>
          </a:bodyPr>
          <a:lstStyle/>
          <a:p>
            <a:pPr indent="-339303"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[Ra ∧ Rb] consists of those states that are both in [Ra] and in [Rb]. These are {11} and ∅. Thus, [Ra ∧ Rb] has a greatest element, namely {11}, and accordingly Ra ∧ Rb provides the information that both Ann and Bob are in Rome and does not request any further information.</a:t>
            </a:r>
            <a:endParaRPr sz="1884">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313" name="Google Shape;313;p51"/>
          <p:cNvPicPr preferRelativeResize="0"/>
          <p:nvPr/>
        </p:nvPicPr>
        <p:blipFill>
          <a:blip r:embed="rId3">
            <a:alphaModFix/>
          </a:blip>
          <a:stretch>
            <a:fillRect/>
          </a:stretch>
        </p:blipFill>
        <p:spPr>
          <a:xfrm>
            <a:off x="740550" y="2737250"/>
            <a:ext cx="7448550" cy="16192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319" name="Google Shape;319;p52"/>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62500" lnSpcReduction="10000"/>
          </a:bodyPr>
          <a:lstStyle/>
          <a:p>
            <a:pPr indent="-303399"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The proposition [?Ra ∧ ?Rb] contains four alternatives, |Ra ∧ Rb|, |Ra ∧ ¬Rb|, |¬Ra ∧ Rb|, and |¬Ra ∧ ¬Rb|. </a:t>
            </a:r>
            <a:endParaRPr sz="1884">
              <a:solidFill>
                <a:schemeClr val="dk1"/>
              </a:solidFill>
              <a:latin typeface="Times New Roman"/>
              <a:ea typeface="Times New Roman"/>
              <a:cs typeface="Times New Roman"/>
              <a:sym typeface="Times New Roman"/>
            </a:endParaRPr>
          </a:p>
          <a:p>
            <a:pPr indent="-303399"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Since these alternatives together cover the entire logical space ?Ra ∧ ?Rb is non-informative.</a:t>
            </a:r>
            <a:endParaRPr sz="1884">
              <a:solidFill>
                <a:schemeClr val="dk1"/>
              </a:solidFill>
              <a:latin typeface="Times New Roman"/>
              <a:ea typeface="Times New Roman"/>
              <a:cs typeface="Times New Roman"/>
              <a:sym typeface="Times New Roman"/>
            </a:endParaRPr>
          </a:p>
          <a:p>
            <a:pPr indent="-303399"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Since there is more than one alternative, ?Ra ∧ ?Rb is inquisitive. </a:t>
            </a:r>
            <a:endParaRPr sz="1884">
              <a:solidFill>
                <a:schemeClr val="dk1"/>
              </a:solidFill>
              <a:latin typeface="Times New Roman"/>
              <a:ea typeface="Times New Roman"/>
              <a:cs typeface="Times New Roman"/>
              <a:sym typeface="Times New Roman"/>
            </a:endParaRPr>
          </a:p>
          <a:p>
            <a:pPr indent="-303399"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Thus, the conjunction is a purely inquisitive sentence which requests enough information to settle both the issue whether Ann is in Rome, contributed by ?Ra, and the issue whether Bob is in Rome, contributed by ?Rb.</a:t>
            </a:r>
            <a:endParaRPr sz="1884">
              <a:solidFill>
                <a:schemeClr val="dk1"/>
              </a:solidFill>
              <a:latin typeface="Times New Roman"/>
              <a:ea typeface="Times New Roman"/>
              <a:cs typeface="Times New Roman"/>
              <a:sym typeface="Times New Roman"/>
            </a:endParaRPr>
          </a:p>
          <a:p>
            <a:pPr indent="-303399"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If ϕ and ψ are non-inquisitive, then the conjunction ϕ ∧ ψ is non-inquisitive as well, conveying both the information provided by ϕ and the information provided by ψ; on the other hand, if ϕ and ψ are non-informative, then the conjunction ϕ∧ψ is non-informative as well, expressing an issue which is settled just in case both the issue expressed by ϕ and the one expressed by ψ are settled.</a:t>
            </a:r>
            <a:endParaRPr sz="1884">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320" name="Google Shape;320;p52"/>
          <p:cNvPicPr preferRelativeResize="0"/>
          <p:nvPr/>
        </p:nvPicPr>
        <p:blipFill>
          <a:blip r:embed="rId3">
            <a:alphaModFix/>
          </a:blip>
          <a:stretch>
            <a:fillRect/>
          </a:stretch>
        </p:blipFill>
        <p:spPr>
          <a:xfrm>
            <a:off x="804850" y="2801550"/>
            <a:ext cx="5937425" cy="12907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326" name="Google Shape;326;p53"/>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85000"/>
          </a:bodyPr>
          <a:lstStyle/>
          <a:p>
            <a:pPr indent="-330327"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Implication [Ra → Rb] consists of all states s such that every substate t ⊆ s that is in [Ra] is also in [Rb]. These are all and only those states that are contained in |Ra → Rb| = {11, 01, 00}. </a:t>
            </a:r>
            <a:endParaRPr sz="1884">
              <a:solidFill>
                <a:schemeClr val="dk1"/>
              </a:solidFill>
              <a:latin typeface="Times New Roman"/>
              <a:ea typeface="Times New Roman"/>
              <a:cs typeface="Times New Roman"/>
              <a:sym typeface="Times New Roman"/>
            </a:endParaRPr>
          </a:p>
          <a:p>
            <a:pPr indent="-330327"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[Ra → Rb] has a unique greatest element, which means that the implication Ra → Rb is a non-inquisitive sentence which provides the information that if Ann is in Rome, then so is Bob.</a:t>
            </a:r>
            <a:endParaRPr sz="1884">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327" name="Google Shape;327;p53"/>
          <p:cNvPicPr preferRelativeResize="0"/>
          <p:nvPr/>
        </p:nvPicPr>
        <p:blipFill>
          <a:blip r:embed="rId3">
            <a:alphaModFix/>
          </a:blip>
          <a:stretch>
            <a:fillRect/>
          </a:stretch>
        </p:blipFill>
        <p:spPr>
          <a:xfrm>
            <a:off x="804850" y="2490300"/>
            <a:ext cx="7369200" cy="1602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333" name="Google Shape;333;p54"/>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70000" lnSpcReduction="20000"/>
          </a:bodyPr>
          <a:lstStyle/>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The proposition [Ra → ?Rb] contains two alternatives, |Ra → Rb| = {11, 01, 00}, and |Ra → ¬Rb| = {10, 01, 00}. Since these two alternatives together cover the entire logical space, our implication is non-informative. Since there is more than one alternative, the implication is inquisitive. In order to settle the issue that it raises, one must either establish Ra → Rb, or Ra → ¬Rb. In the former case one establishes that if Ann is in Rome, then so is Bob; in the latter case, that if Ann is in Rome, then Bob isn’t. So Ra → ?Rb requests enough information to establish whether Bob is in Rome under the assumption that Ann is.</a:t>
            </a:r>
            <a:endParaRPr sz="1884">
              <a:solidFill>
                <a:schemeClr val="dk1"/>
              </a:solidFill>
              <a:latin typeface="Times New Roman"/>
              <a:ea typeface="Times New Roman"/>
              <a:cs typeface="Times New Roman"/>
              <a:sym typeface="Times New Roman"/>
            </a:endParaRPr>
          </a:p>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If ψ is non-inquisitive, then ϕ → ψ is non-inquisitive as well; similarly, if ψ non-informative, then ϕ → ψ is non-informative as well.</a:t>
            </a:r>
            <a:endParaRPr sz="1884">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64008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334" name="Google Shape;334;p54"/>
          <p:cNvPicPr preferRelativeResize="0"/>
          <p:nvPr/>
        </p:nvPicPr>
        <p:blipFill>
          <a:blip r:embed="rId3">
            <a:alphaModFix/>
          </a:blip>
          <a:stretch>
            <a:fillRect/>
          </a:stretch>
        </p:blipFill>
        <p:spPr>
          <a:xfrm>
            <a:off x="815575" y="3077350"/>
            <a:ext cx="6344624" cy="13792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Basic operations and projection operators</a:t>
            </a:r>
            <a:endParaRPr>
              <a:latin typeface="Times New Roman"/>
              <a:ea typeface="Times New Roman"/>
              <a:cs typeface="Times New Roman"/>
              <a:sym typeface="Times New Roman"/>
            </a:endParaRPr>
          </a:p>
        </p:txBody>
      </p:sp>
      <p:sp>
        <p:nvSpPr>
          <p:cNvPr id="340" name="Google Shape;340;p55"/>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70000" lnSpcReduction="10000"/>
          </a:bodyPr>
          <a:lstStyle/>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Existential quantification behaves essentially like disjunction and universal quantification behaves essentially like conjunction. </a:t>
            </a:r>
            <a:endParaRPr sz="1884">
              <a:solidFill>
                <a:schemeClr val="dk1"/>
              </a:solidFill>
              <a:latin typeface="Times New Roman"/>
              <a:ea typeface="Times New Roman"/>
              <a:cs typeface="Times New Roman"/>
              <a:sym typeface="Times New Roman"/>
            </a:endParaRPr>
          </a:p>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Since our current domain of discourse consists of only two objects, denoted by a and b, ∃x.Rx expresses exactly the same proposition as Ra ∨ Rb, and ∀x.Rx expresses exactly the same proposition as Ra ∧ Rb.</a:t>
            </a:r>
            <a:endParaRPr sz="1884">
              <a:solidFill>
                <a:schemeClr val="dk1"/>
              </a:solidFill>
              <a:latin typeface="Times New Roman"/>
              <a:ea typeface="Times New Roman"/>
              <a:cs typeface="Times New Roman"/>
              <a:sym typeface="Times New Roman"/>
            </a:endParaRPr>
          </a:p>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Consider the proposition expressed by ∀x.?Rx.</a:t>
            </a:r>
            <a:endParaRPr sz="1884">
              <a:solidFill>
                <a:schemeClr val="dk1"/>
              </a:solidFill>
              <a:latin typeface="Times New Roman"/>
              <a:ea typeface="Times New Roman"/>
              <a:cs typeface="Times New Roman"/>
              <a:sym typeface="Times New Roman"/>
            </a:endParaRPr>
          </a:p>
          <a:p>
            <a:pPr indent="-312375"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Notice that this proposition induces a partition on the logical space, where each block of the partition consists of worlds that agree on the extension of R. Thus, ∀x.?Rx asks for an exhaustive specification of the individuals that are in Rome.</a:t>
            </a:r>
            <a:endParaRPr sz="1884">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64008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pic>
        <p:nvPicPr>
          <p:cNvPr id="341" name="Google Shape;341;p55"/>
          <p:cNvPicPr preferRelativeResize="0"/>
          <p:nvPr/>
        </p:nvPicPr>
        <p:blipFill>
          <a:blip r:embed="rId3">
            <a:alphaModFix/>
          </a:blip>
          <a:stretch>
            <a:fillRect/>
          </a:stretch>
        </p:blipFill>
        <p:spPr>
          <a:xfrm>
            <a:off x="815575" y="3077350"/>
            <a:ext cx="6344624" cy="13792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Inquisitive semantics: </a:t>
            </a:r>
            <a:r>
              <a:rPr lang="ru">
                <a:latin typeface="Times New Roman"/>
                <a:ea typeface="Times New Roman"/>
                <a:cs typeface="Times New Roman"/>
                <a:sym typeface="Times New Roman"/>
              </a:rPr>
              <a:t>Sufficient conditions for non-inquisitivity</a:t>
            </a:r>
            <a:endParaRPr>
              <a:latin typeface="Times New Roman"/>
              <a:ea typeface="Times New Roman"/>
              <a:cs typeface="Times New Roman"/>
              <a:sym typeface="Times New Roman"/>
            </a:endParaRPr>
          </a:p>
        </p:txBody>
      </p:sp>
      <p:sp>
        <p:nvSpPr>
          <p:cNvPr id="347" name="Google Shape;347;p56"/>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40000" lnSpcReduction="10000"/>
          </a:bodyPr>
          <a:lstStyle/>
          <a:p>
            <a:pPr indent="-323850" lvl="0" marL="269999" rtl="0" algn="just">
              <a:spcBef>
                <a:spcPts val="0"/>
              </a:spcBef>
              <a:spcAft>
                <a:spcPts val="0"/>
              </a:spcAft>
              <a:buClr>
                <a:schemeClr val="dk1"/>
              </a:buClr>
              <a:buSzPct val="100000"/>
              <a:buFont typeface="Times New Roman"/>
              <a:buChar char="●"/>
            </a:pPr>
            <a:r>
              <a:rPr lang="ru" sz="3750">
                <a:solidFill>
                  <a:schemeClr val="dk1"/>
                </a:solidFill>
                <a:latin typeface="Times New Roman"/>
                <a:ea typeface="Times New Roman"/>
                <a:cs typeface="Times New Roman"/>
                <a:sym typeface="Times New Roman"/>
              </a:rPr>
              <a:t>Atomic sentences are always non-inquisitive;</a:t>
            </a:r>
            <a:endParaRPr sz="3750">
              <a:solidFill>
                <a:schemeClr val="dk1"/>
              </a:solidFill>
              <a:latin typeface="Times New Roman"/>
              <a:ea typeface="Times New Roman"/>
              <a:cs typeface="Times New Roman"/>
              <a:sym typeface="Times New Roman"/>
            </a:endParaRPr>
          </a:p>
          <a:p>
            <a:pPr indent="-323850" lvl="0" marL="269999" rtl="0" algn="just">
              <a:spcBef>
                <a:spcPts val="0"/>
              </a:spcBef>
              <a:spcAft>
                <a:spcPts val="0"/>
              </a:spcAft>
              <a:buClr>
                <a:schemeClr val="dk1"/>
              </a:buClr>
              <a:buSzPct val="100000"/>
              <a:buFont typeface="Times New Roman"/>
              <a:buChar char="●"/>
            </a:pPr>
            <a:r>
              <a:rPr lang="ru" sz="3750">
                <a:solidFill>
                  <a:schemeClr val="dk1"/>
                </a:solidFill>
                <a:latin typeface="Times New Roman"/>
                <a:ea typeface="Times New Roman"/>
                <a:cs typeface="Times New Roman"/>
                <a:sym typeface="Times New Roman"/>
              </a:rPr>
              <a:t>¬ϕ is always non-inquisitive;</a:t>
            </a:r>
            <a:endParaRPr sz="3750">
              <a:solidFill>
                <a:schemeClr val="dk1"/>
              </a:solidFill>
              <a:latin typeface="Times New Roman"/>
              <a:ea typeface="Times New Roman"/>
              <a:cs typeface="Times New Roman"/>
              <a:sym typeface="Times New Roman"/>
            </a:endParaRPr>
          </a:p>
          <a:p>
            <a:pPr indent="-323850" lvl="0" marL="269999" rtl="0" algn="just">
              <a:spcBef>
                <a:spcPts val="0"/>
              </a:spcBef>
              <a:spcAft>
                <a:spcPts val="0"/>
              </a:spcAft>
              <a:buClr>
                <a:schemeClr val="dk1"/>
              </a:buClr>
              <a:buSzPct val="100000"/>
              <a:buFont typeface="Times New Roman"/>
              <a:buChar char="●"/>
            </a:pPr>
            <a:r>
              <a:rPr lang="ru" sz="3750">
                <a:solidFill>
                  <a:schemeClr val="dk1"/>
                </a:solidFill>
                <a:latin typeface="Times New Roman"/>
                <a:ea typeface="Times New Roman"/>
                <a:cs typeface="Times New Roman"/>
                <a:sym typeface="Times New Roman"/>
              </a:rPr>
              <a:t>!ϕ is always non-inquisitive;</a:t>
            </a:r>
            <a:endParaRPr sz="3750">
              <a:solidFill>
                <a:schemeClr val="dk1"/>
              </a:solidFill>
              <a:latin typeface="Times New Roman"/>
              <a:ea typeface="Times New Roman"/>
              <a:cs typeface="Times New Roman"/>
              <a:sym typeface="Times New Roman"/>
            </a:endParaRPr>
          </a:p>
          <a:p>
            <a:pPr indent="-323850" lvl="0" marL="269999" rtl="0" algn="just">
              <a:spcBef>
                <a:spcPts val="0"/>
              </a:spcBef>
              <a:spcAft>
                <a:spcPts val="0"/>
              </a:spcAft>
              <a:buClr>
                <a:schemeClr val="dk1"/>
              </a:buClr>
              <a:buSzPct val="100000"/>
              <a:buFont typeface="Times New Roman"/>
              <a:buChar char="●"/>
            </a:pPr>
            <a:r>
              <a:rPr lang="ru" sz="3750">
                <a:solidFill>
                  <a:schemeClr val="dk1"/>
                </a:solidFill>
                <a:latin typeface="Times New Roman"/>
                <a:ea typeface="Times New Roman"/>
                <a:cs typeface="Times New Roman"/>
                <a:sym typeface="Times New Roman"/>
              </a:rPr>
              <a:t>If ϕ and ψ are non-inquisitive, then so is ϕ ∧ ψ;</a:t>
            </a:r>
            <a:endParaRPr sz="3750">
              <a:solidFill>
                <a:schemeClr val="dk1"/>
              </a:solidFill>
              <a:latin typeface="Times New Roman"/>
              <a:ea typeface="Times New Roman"/>
              <a:cs typeface="Times New Roman"/>
              <a:sym typeface="Times New Roman"/>
            </a:endParaRPr>
          </a:p>
          <a:p>
            <a:pPr indent="-323850" lvl="0" marL="269999" rtl="0" algn="just">
              <a:spcBef>
                <a:spcPts val="0"/>
              </a:spcBef>
              <a:spcAft>
                <a:spcPts val="0"/>
              </a:spcAft>
              <a:buClr>
                <a:schemeClr val="dk1"/>
              </a:buClr>
              <a:buSzPct val="100000"/>
              <a:buFont typeface="Times New Roman"/>
              <a:buChar char="●"/>
            </a:pPr>
            <a:r>
              <a:rPr lang="ru" sz="3750">
                <a:solidFill>
                  <a:schemeClr val="dk1"/>
                </a:solidFill>
                <a:latin typeface="Times New Roman"/>
                <a:ea typeface="Times New Roman"/>
                <a:cs typeface="Times New Roman"/>
                <a:sym typeface="Times New Roman"/>
              </a:rPr>
              <a:t>If ψ is a non-inquisitive, then so is ϕ → ψ for any antecedent ϕ;</a:t>
            </a:r>
            <a:endParaRPr sz="3750">
              <a:solidFill>
                <a:schemeClr val="dk1"/>
              </a:solidFill>
              <a:latin typeface="Times New Roman"/>
              <a:ea typeface="Times New Roman"/>
              <a:cs typeface="Times New Roman"/>
              <a:sym typeface="Times New Roman"/>
            </a:endParaRPr>
          </a:p>
          <a:p>
            <a:pPr indent="-323850" lvl="0" marL="269999" rtl="0" algn="just">
              <a:spcBef>
                <a:spcPts val="0"/>
              </a:spcBef>
              <a:spcAft>
                <a:spcPts val="0"/>
              </a:spcAft>
              <a:buClr>
                <a:schemeClr val="dk1"/>
              </a:buClr>
              <a:buSzPct val="100000"/>
              <a:buFont typeface="Times New Roman"/>
              <a:buChar char="●"/>
            </a:pPr>
            <a:r>
              <a:rPr lang="ru" sz="3750">
                <a:solidFill>
                  <a:schemeClr val="dk1"/>
                </a:solidFill>
                <a:latin typeface="Times New Roman"/>
                <a:ea typeface="Times New Roman"/>
                <a:cs typeface="Times New Roman"/>
                <a:sym typeface="Times New Roman"/>
              </a:rPr>
              <a:t>If ϕ(d′) is a non-inquisitive for all d ∈ D, then so is ∀xϕ(x).</a:t>
            </a:r>
            <a:endParaRPr sz="3750">
              <a:solidFill>
                <a:schemeClr val="dk1"/>
              </a:solidFill>
              <a:latin typeface="Times New Roman"/>
              <a:ea typeface="Times New Roman"/>
              <a:cs typeface="Times New Roman"/>
              <a:sym typeface="Times New Roman"/>
            </a:endParaRPr>
          </a:p>
          <a:p>
            <a:pPr indent="-323850" lvl="0" marL="269999" rtl="0" algn="just">
              <a:spcBef>
                <a:spcPts val="0"/>
              </a:spcBef>
              <a:spcAft>
                <a:spcPts val="0"/>
              </a:spcAft>
              <a:buClr>
                <a:schemeClr val="dk1"/>
              </a:buClr>
              <a:buSzPct val="100000"/>
              <a:buFont typeface="Times New Roman"/>
              <a:buChar char="●"/>
            </a:pPr>
            <a:r>
              <a:rPr lang="ru" sz="3750">
                <a:solidFill>
                  <a:schemeClr val="dk1"/>
                </a:solidFill>
                <a:latin typeface="Times New Roman"/>
                <a:ea typeface="Times New Roman"/>
                <a:cs typeface="Times New Roman"/>
                <a:sym typeface="Times New Roman"/>
              </a:rPr>
              <a:t>Any sentence that does not contain ∨, ∃, or ? is non-inquisitive.</a:t>
            </a:r>
            <a:endParaRPr sz="375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t/>
            </a:r>
            <a:endParaRPr sz="3750">
              <a:solidFill>
                <a:schemeClr val="dk1"/>
              </a:solidFill>
              <a:latin typeface="Times New Roman"/>
              <a:ea typeface="Times New Roman"/>
              <a:cs typeface="Times New Roman"/>
              <a:sym typeface="Times New Roman"/>
            </a:endParaRPr>
          </a:p>
          <a:p>
            <a:pPr indent="-323850" lvl="0" marL="269999" rtl="0" algn="just">
              <a:spcBef>
                <a:spcPts val="1200"/>
              </a:spcBef>
              <a:spcAft>
                <a:spcPts val="0"/>
              </a:spcAft>
              <a:buClr>
                <a:schemeClr val="dk1"/>
              </a:buClr>
              <a:buSzPct val="100000"/>
              <a:buFont typeface="Times New Roman"/>
              <a:buChar char="●"/>
            </a:pPr>
            <a:r>
              <a:rPr lang="ru" sz="3750">
                <a:solidFill>
                  <a:schemeClr val="dk1"/>
                </a:solidFill>
                <a:latin typeface="Times New Roman"/>
                <a:ea typeface="Times New Roman"/>
                <a:cs typeface="Times New Roman"/>
                <a:sym typeface="Times New Roman"/>
              </a:rPr>
              <a:t>In many natural languages, question words are homophonous with words for disjunction and/or existentials.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6400800" rtl="0" algn="just">
              <a:spcBef>
                <a:spcPts val="1200"/>
              </a:spcBef>
              <a:spcAft>
                <a:spcPts val="1200"/>
              </a:spcAft>
              <a:buNone/>
            </a:pPr>
            <a:r>
              <a:rPr lang="ru" sz="3050">
                <a:solidFill>
                  <a:schemeClr val="dk1"/>
                </a:solidFill>
                <a:latin typeface="Times New Roman"/>
                <a:ea typeface="Times New Roman"/>
                <a:cs typeface="Times New Roman"/>
                <a:sym typeface="Times New Roman"/>
              </a:rPr>
              <a:t>Ciardelli et al. 2017</a:t>
            </a:r>
            <a:endParaRPr sz="3050">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Sufficient conditions for non-informativity</a:t>
            </a:r>
            <a:endParaRPr sz="2420">
              <a:latin typeface="Times New Roman"/>
              <a:ea typeface="Times New Roman"/>
              <a:cs typeface="Times New Roman"/>
              <a:sym typeface="Times New Roman"/>
            </a:endParaRPr>
          </a:p>
        </p:txBody>
      </p:sp>
      <p:sp>
        <p:nvSpPr>
          <p:cNvPr id="353" name="Google Shape;353;p57"/>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92500" lnSpcReduction="20000"/>
          </a:bodyPr>
          <a:lstStyle/>
          <a:p>
            <a:pPr indent="-339303"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?ϕ is always non-informative;</a:t>
            </a:r>
            <a:endParaRPr sz="1884">
              <a:solidFill>
                <a:schemeClr val="dk1"/>
              </a:solidFill>
              <a:latin typeface="Times New Roman"/>
              <a:ea typeface="Times New Roman"/>
              <a:cs typeface="Times New Roman"/>
              <a:sym typeface="Times New Roman"/>
            </a:endParaRPr>
          </a:p>
          <a:p>
            <a:pPr indent="-339303"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If ϕ and ψ are non-informative, so is ϕ ∧ ψ;</a:t>
            </a:r>
            <a:endParaRPr sz="1884">
              <a:solidFill>
                <a:schemeClr val="dk1"/>
              </a:solidFill>
              <a:latin typeface="Times New Roman"/>
              <a:ea typeface="Times New Roman"/>
              <a:cs typeface="Times New Roman"/>
              <a:sym typeface="Times New Roman"/>
            </a:endParaRPr>
          </a:p>
          <a:p>
            <a:pPr indent="-339303"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If ψ is non-informative, then so are ϕ ∨ ψ and ϕ → ψ, for any ϕ;</a:t>
            </a:r>
            <a:endParaRPr sz="1884">
              <a:solidFill>
                <a:schemeClr val="dk1"/>
              </a:solidFill>
              <a:latin typeface="Times New Roman"/>
              <a:ea typeface="Times New Roman"/>
              <a:cs typeface="Times New Roman"/>
              <a:sym typeface="Times New Roman"/>
            </a:endParaRPr>
          </a:p>
          <a:p>
            <a:pPr indent="-339303"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If ϕ(d′) is non-informative for all d ∈ D, then so is ∀xϕ(x);</a:t>
            </a:r>
            <a:endParaRPr sz="1884">
              <a:solidFill>
                <a:schemeClr val="dk1"/>
              </a:solidFill>
              <a:latin typeface="Times New Roman"/>
              <a:ea typeface="Times New Roman"/>
              <a:cs typeface="Times New Roman"/>
              <a:sym typeface="Times New Roman"/>
            </a:endParaRPr>
          </a:p>
          <a:p>
            <a:pPr indent="-339303" lvl="0" marL="269999" rtl="0" algn="just">
              <a:spcBef>
                <a:spcPts val="0"/>
              </a:spcBef>
              <a:spcAft>
                <a:spcPts val="0"/>
              </a:spcAft>
              <a:buClr>
                <a:schemeClr val="dk1"/>
              </a:buClr>
              <a:buSzPct val="100000"/>
              <a:buFont typeface="Times New Roman"/>
              <a:buChar char="●"/>
            </a:pPr>
            <a:r>
              <a:rPr lang="ru" sz="1884">
                <a:solidFill>
                  <a:schemeClr val="dk1"/>
                </a:solidFill>
                <a:latin typeface="Times New Roman"/>
                <a:ea typeface="Times New Roman"/>
                <a:cs typeface="Times New Roman"/>
                <a:sym typeface="Times New Roman"/>
              </a:rPr>
              <a:t>If ϕ(d′) is non-informative for some d ∈ D, then so is ∃xϕ(x).</a:t>
            </a:r>
            <a:endParaRPr sz="1884">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6400800" rtl="0" algn="just">
              <a:spcBef>
                <a:spcPts val="1200"/>
              </a:spcBef>
              <a:spcAft>
                <a:spcPts val="1200"/>
              </a:spcAft>
              <a:buNone/>
            </a:pPr>
            <a:r>
              <a:rPr lang="ru">
                <a:solidFill>
                  <a:schemeClr val="dk1"/>
                </a:solidFill>
                <a:latin typeface="Times New Roman"/>
                <a:ea typeface="Times New Roman"/>
                <a:cs typeface="Times New Roman"/>
                <a:sym typeface="Times New Roman"/>
              </a:rPr>
              <a:t>Ciardelli et al. 2017</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Polar Questions</a:t>
            </a:r>
            <a:endParaRPr sz="2420">
              <a:latin typeface="Times New Roman"/>
              <a:ea typeface="Times New Roman"/>
              <a:cs typeface="Times New Roman"/>
              <a:sym typeface="Times New Roman"/>
            </a:endParaRPr>
          </a:p>
        </p:txBody>
      </p:sp>
      <p:sp>
        <p:nvSpPr>
          <p:cNvPr id="359" name="Google Shape;359;p58"/>
          <p:cNvSpPr txBox="1"/>
          <p:nvPr>
            <p:ph idx="1" type="body"/>
          </p:nvPr>
        </p:nvSpPr>
        <p:spPr>
          <a:xfrm>
            <a:off x="311700" y="1152475"/>
            <a:ext cx="8520600" cy="3555900"/>
          </a:xfrm>
          <a:prstGeom prst="rect">
            <a:avLst/>
          </a:prstGeom>
        </p:spPr>
        <p:txBody>
          <a:bodyPr anchorCtr="0" anchor="t" bIns="91425" lIns="91425" spcFirstLastPara="1" rIns="91425" wrap="square" tIns="91425">
            <a:noAutofit/>
          </a:bodyPr>
          <a:lstStyle/>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Polar questions are questions that ask for the truth-value of a given proposition</a:t>
            </a:r>
            <a:endParaRPr sz="14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1400">
                <a:solidFill>
                  <a:schemeClr val="dk1"/>
                </a:solidFill>
                <a:latin typeface="Times New Roman"/>
                <a:ea typeface="Times New Roman"/>
                <a:cs typeface="Times New Roman"/>
                <a:sym typeface="Times New Roman"/>
              </a:rPr>
              <a:t>(1) Is Alice married to Bob? 				?Mab</a:t>
            </a:r>
            <a:endParaRPr sz="14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1400">
                <a:solidFill>
                  <a:schemeClr val="dk1"/>
                </a:solidFill>
                <a:latin typeface="Times New Roman"/>
                <a:ea typeface="Times New Roman"/>
                <a:cs typeface="Times New Roman"/>
                <a:sym typeface="Times New Roman"/>
              </a:rPr>
              <a:t>(2) [(1)] = [?Mab] = {|Mab|, |Mab|}↓</a:t>
            </a:r>
            <a:endParaRPr sz="1400">
              <a:solidFill>
                <a:schemeClr val="dk1"/>
              </a:solidFill>
              <a:latin typeface="Times New Roman"/>
              <a:ea typeface="Times New Roman"/>
              <a:cs typeface="Times New Roman"/>
              <a:sym typeface="Times New Roman"/>
            </a:endParaRPr>
          </a:p>
          <a:p>
            <a:pPr indent="-317500" lvl="0" marL="457200" rtl="0" algn="just">
              <a:spcBef>
                <a:spcPts val="120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The issue expressed by (1) is resolved in an information state s if it follows from the information available in s that Alice is married to Bob (i.e., if s ⊆ |Mab|) or if it follows that Alice is not married to Bob (i.e., if s ⊆ |Mab|). </a:t>
            </a:r>
            <a:endParaRPr sz="14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For any set of information states P, we will write P↓ for the set of information states that are contained in some element of P.</a:t>
            </a:r>
            <a:endParaRPr sz="1400">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400800" rtl="0" algn="just">
              <a:spcBef>
                <a:spcPts val="1200"/>
              </a:spcBef>
              <a:spcAft>
                <a:spcPts val="1200"/>
              </a:spcAft>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cxnSp>
        <p:nvCxnSpPr>
          <p:cNvPr id="360" name="Google Shape;360;p58"/>
          <p:cNvCxnSpPr/>
          <p:nvPr/>
        </p:nvCxnSpPr>
        <p:spPr>
          <a:xfrm>
            <a:off x="2766775" y="2083125"/>
            <a:ext cx="289200" cy="0"/>
          </a:xfrm>
          <a:prstGeom prst="straightConnector1">
            <a:avLst/>
          </a:prstGeom>
          <a:noFill/>
          <a:ln cap="flat" cmpd="sng" w="9525">
            <a:solidFill>
              <a:schemeClr val="dk2"/>
            </a:solidFill>
            <a:prstDash val="solid"/>
            <a:round/>
            <a:headEnd len="med" w="med" type="none"/>
            <a:tailEnd len="med" w="med" type="none"/>
          </a:ln>
        </p:spPr>
      </p:cxnSp>
      <p:cxnSp>
        <p:nvCxnSpPr>
          <p:cNvPr id="361" name="Google Shape;361;p58"/>
          <p:cNvCxnSpPr/>
          <p:nvPr/>
        </p:nvCxnSpPr>
        <p:spPr>
          <a:xfrm>
            <a:off x="934400" y="2930425"/>
            <a:ext cx="2892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Alternative Questions</a:t>
            </a:r>
            <a:endParaRPr sz="2420">
              <a:latin typeface="Times New Roman"/>
              <a:ea typeface="Times New Roman"/>
              <a:cs typeface="Times New Roman"/>
              <a:sym typeface="Times New Roman"/>
            </a:endParaRPr>
          </a:p>
        </p:txBody>
      </p:sp>
      <p:sp>
        <p:nvSpPr>
          <p:cNvPr id="367" name="Google Shape;367;p59"/>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25000" lnSpcReduction="10000"/>
          </a:bodyPr>
          <a:lstStyle/>
          <a:p>
            <a:pPr indent="0" lvl="0" marL="269999" rtl="0" algn="just">
              <a:spcBef>
                <a:spcPts val="0"/>
              </a:spcBef>
              <a:spcAft>
                <a:spcPts val="0"/>
              </a:spcAft>
              <a:buNone/>
            </a:pPr>
            <a:r>
              <a:t/>
            </a:r>
            <a:endParaRPr sz="2550">
              <a:solidFill>
                <a:schemeClr val="dk1"/>
              </a:solidFill>
              <a:latin typeface="Times New Roman"/>
              <a:ea typeface="Times New Roman"/>
              <a:cs typeface="Times New Roman"/>
              <a:sym typeface="Times New Roman"/>
            </a:endParaRPr>
          </a:p>
          <a:p>
            <a:pPr indent="-317500" lvl="0" marL="457200" rtl="0" algn="just">
              <a:spcBef>
                <a:spcPts val="120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Alternative questions are questions that list a number of options, separated by disjunction, and ask for a choice among these</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(1) </a:t>
            </a:r>
            <a:r>
              <a:rPr lang="ru" sz="5600">
                <a:solidFill>
                  <a:schemeClr val="dk1"/>
                </a:solidFill>
                <a:latin typeface="Times New Roman"/>
                <a:ea typeface="Times New Roman"/>
                <a:cs typeface="Times New Roman"/>
                <a:sym typeface="Times New Roman"/>
              </a:rPr>
              <a:t>Is Alice married to Bob↑ or to Charlie↓?				Mab ∨ Mac</a:t>
            </a:r>
            <a:r>
              <a:rPr lang="ru" sz="5600">
                <a:solidFill>
                  <a:schemeClr val="dk1"/>
                </a:solidFill>
                <a:latin typeface="Times New Roman"/>
                <a:ea typeface="Times New Roman"/>
                <a:cs typeface="Times New Roman"/>
                <a:sym typeface="Times New Roman"/>
              </a:rPr>
              <a:t>			</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(2) [(1)] = </a:t>
            </a:r>
            <a:r>
              <a:rPr lang="ru" sz="5600">
                <a:solidFill>
                  <a:schemeClr val="dk1"/>
                </a:solidFill>
                <a:latin typeface="Times New Roman"/>
                <a:ea typeface="Times New Roman"/>
                <a:cs typeface="Times New Roman"/>
                <a:sym typeface="Times New Roman"/>
              </a:rPr>
              <a:t>[Mab ∨ Mac] = {|Mab|, |Mac|}↓</a:t>
            </a:r>
            <a:endParaRPr sz="5600">
              <a:solidFill>
                <a:schemeClr val="dk1"/>
              </a:solidFill>
              <a:latin typeface="Times New Roman"/>
              <a:ea typeface="Times New Roman"/>
              <a:cs typeface="Times New Roman"/>
              <a:sym typeface="Times New Roman"/>
            </a:endParaRPr>
          </a:p>
          <a:p>
            <a:pPr indent="-317500" lvl="0" marL="457200" rtl="0" algn="just">
              <a:spcBef>
                <a:spcPts val="120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The issue expressed by (1) is resolved in an information state s if it follows from the information available in s that Alice is married to Bob (i.e., if s ⊆ |Mab|) or if it follows that she is married to Charlie (i.e., s ⊆ |Mac|).</a:t>
            </a:r>
            <a:endParaRPr sz="56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One concern with translating (1) in this way is that, in our terminology, the formula Mab ∨ Mac is not only inquisitive, but also informative. Its informative content is that Alice is married to either Bob or Charlie. However, in uttering the question in (1), a speaker does not present the information that Alice is married to either Bob or Charlie as new information, but rather as something that she presupposes. </a:t>
            </a:r>
            <a:endParaRPr sz="5600">
              <a:solidFill>
                <a:schemeClr val="dk1"/>
              </a:solidFill>
              <a:latin typeface="Times New Roman"/>
              <a:ea typeface="Times New Roman"/>
              <a:cs typeface="Times New Roman"/>
              <a:sym typeface="Times New Roman"/>
            </a:endParaRPr>
          </a:p>
          <a:p>
            <a:pPr indent="0" lvl="0" marL="6400800" rtl="0" algn="just">
              <a:spcBef>
                <a:spcPts val="1200"/>
              </a:spcBef>
              <a:spcAft>
                <a:spcPts val="1200"/>
              </a:spcAft>
              <a:buNone/>
            </a:pPr>
            <a:r>
              <a:rPr lang="ru" sz="5600">
                <a:solidFill>
                  <a:schemeClr val="dk1"/>
                </a:solidFill>
                <a:latin typeface="Times New Roman"/>
                <a:ea typeface="Times New Roman"/>
                <a:cs typeface="Times New Roman"/>
                <a:sym typeface="Times New Roman"/>
              </a:rPr>
              <a:t>Ciardelli et al. 2017</a:t>
            </a:r>
            <a:endParaRPr sz="5600">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6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Alternative Questions</a:t>
            </a:r>
            <a:endParaRPr sz="2420">
              <a:latin typeface="Times New Roman"/>
              <a:ea typeface="Times New Roman"/>
              <a:cs typeface="Times New Roman"/>
              <a:sym typeface="Times New Roman"/>
            </a:endParaRPr>
          </a:p>
        </p:txBody>
      </p:sp>
      <p:sp>
        <p:nvSpPr>
          <p:cNvPr id="373" name="Google Shape;373;p60"/>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32500"/>
          </a:bodyPr>
          <a:lstStyle/>
          <a:p>
            <a:pPr indent="0" lvl="0" marL="269999" rtl="0" algn="just">
              <a:spcBef>
                <a:spcPts val="0"/>
              </a:spcBef>
              <a:spcAft>
                <a:spcPts val="0"/>
              </a:spcAft>
              <a:buNone/>
            </a:pPr>
            <a:r>
              <a:t/>
            </a:r>
            <a:endParaRPr sz="2550">
              <a:solidFill>
                <a:schemeClr val="dk1"/>
              </a:solidFill>
              <a:latin typeface="Times New Roman"/>
              <a:ea typeface="Times New Roman"/>
              <a:cs typeface="Times New Roman"/>
              <a:sym typeface="Times New Roman"/>
            </a:endParaRPr>
          </a:p>
          <a:p>
            <a:pPr indent="-344170" lvl="0" marL="457200" rtl="0" algn="just">
              <a:spcBef>
                <a:spcPts val="120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Alternative questions are questions that list a number of options, separated by disjunction, and ask for a choice among these</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(1) </a:t>
            </a:r>
            <a:r>
              <a:rPr lang="ru" sz="5600">
                <a:solidFill>
                  <a:schemeClr val="dk1"/>
                </a:solidFill>
                <a:latin typeface="Times New Roman"/>
                <a:ea typeface="Times New Roman"/>
                <a:cs typeface="Times New Roman"/>
                <a:sym typeface="Times New Roman"/>
              </a:rPr>
              <a:t>Is Alice married to Bob↑ or not↓? 					Mab ∨ ¬Mab</a:t>
            </a:r>
            <a:r>
              <a:rPr lang="ru" sz="5600">
                <a:solidFill>
                  <a:schemeClr val="dk1"/>
                </a:solidFill>
                <a:latin typeface="Times New Roman"/>
                <a:ea typeface="Times New Roman"/>
                <a:cs typeface="Times New Roman"/>
                <a:sym typeface="Times New Roman"/>
              </a:rPr>
              <a:t>		</a:t>
            </a:r>
            <a:endParaRPr sz="5600">
              <a:solidFill>
                <a:schemeClr val="dk1"/>
              </a:solidFill>
              <a:latin typeface="Times New Roman"/>
              <a:ea typeface="Times New Roman"/>
              <a:cs typeface="Times New Roman"/>
              <a:sym typeface="Times New Roman"/>
            </a:endParaRPr>
          </a:p>
          <a:p>
            <a:pPr indent="-344170" lvl="0" marL="457200" rtl="0" algn="just">
              <a:spcBef>
                <a:spcPts val="120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In this case, the translation is Mab ∨ ¬Mab is equivalent with the translation that we provided for the polar question: ?Mab. </a:t>
            </a:r>
            <a:endParaRPr sz="5600">
              <a:solidFill>
                <a:schemeClr val="dk1"/>
              </a:solidFill>
              <a:latin typeface="Times New Roman"/>
              <a:ea typeface="Times New Roman"/>
              <a:cs typeface="Times New Roman"/>
              <a:sym typeface="Times New Roman"/>
            </a:endParaRPr>
          </a:p>
          <a:p>
            <a:pPr indent="-344170" lvl="0" marL="457200" rtl="0" algn="just">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This is expected, since the two questions indeed express the same issue.</a:t>
            </a:r>
            <a:endParaRPr sz="5600">
              <a:solidFill>
                <a:schemeClr val="dk1"/>
              </a:solidFill>
              <a:latin typeface="Times New Roman"/>
              <a:ea typeface="Times New Roman"/>
              <a:cs typeface="Times New Roman"/>
              <a:sym typeface="Times New Roman"/>
            </a:endParaRPr>
          </a:p>
          <a:p>
            <a:pPr indent="457200" lvl="0" marL="5486400" rtl="0" algn="just">
              <a:spcBef>
                <a:spcPts val="1200"/>
              </a:spcBef>
              <a:spcAft>
                <a:spcPts val="1200"/>
              </a:spcAft>
              <a:buNone/>
            </a:pPr>
            <a:r>
              <a:rPr lang="ru" sz="5600">
                <a:solidFill>
                  <a:schemeClr val="dk1"/>
                </a:solidFill>
                <a:latin typeface="Times New Roman"/>
                <a:ea typeface="Times New Roman"/>
                <a:cs typeface="Times New Roman"/>
                <a:sym typeface="Times New Roman"/>
              </a:rPr>
              <a:t>Ciardelli et al. 2017</a:t>
            </a:r>
            <a:endParaRPr sz="5600">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Alternative Questions</a:t>
            </a:r>
            <a:endParaRPr sz="2420">
              <a:latin typeface="Times New Roman"/>
              <a:ea typeface="Times New Roman"/>
              <a:cs typeface="Times New Roman"/>
              <a:sym typeface="Times New Roman"/>
            </a:endParaRPr>
          </a:p>
        </p:txBody>
      </p:sp>
      <p:sp>
        <p:nvSpPr>
          <p:cNvPr id="379" name="Google Shape;379;p61"/>
          <p:cNvSpPr txBox="1"/>
          <p:nvPr>
            <p:ph idx="1" type="body"/>
          </p:nvPr>
        </p:nvSpPr>
        <p:spPr>
          <a:xfrm>
            <a:off x="311700" y="1152475"/>
            <a:ext cx="8520600" cy="3555900"/>
          </a:xfrm>
          <a:prstGeom prst="rect">
            <a:avLst/>
          </a:prstGeom>
        </p:spPr>
        <p:txBody>
          <a:bodyPr anchorCtr="0" anchor="t" bIns="91425" lIns="91425" spcFirstLastPara="1" rIns="91425" wrap="square" tIns="91425">
            <a:normAutofit fontScale="25000" lnSpcReduction="20000"/>
          </a:bodyPr>
          <a:lstStyle/>
          <a:p>
            <a:pPr indent="0" lvl="0" marL="269999" rtl="0" algn="just">
              <a:spcBef>
                <a:spcPts val="0"/>
              </a:spcBef>
              <a:spcAft>
                <a:spcPts val="0"/>
              </a:spcAft>
              <a:buNone/>
            </a:pPr>
            <a:r>
              <a:t/>
            </a:r>
            <a:endParaRPr sz="2550">
              <a:solidFill>
                <a:schemeClr val="dk1"/>
              </a:solidFill>
              <a:latin typeface="Times New Roman"/>
              <a:ea typeface="Times New Roman"/>
              <a:cs typeface="Times New Roman"/>
              <a:sym typeface="Times New Roman"/>
            </a:endParaRPr>
          </a:p>
          <a:p>
            <a:pPr indent="-317500" lvl="0" marL="457200" rtl="0" algn="just">
              <a:spcBef>
                <a:spcPts val="120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Alternative questions are questions that list a number of options, separated by disjunction, and ask for a choice among these</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(1) </a:t>
            </a:r>
            <a:r>
              <a:rPr lang="ru" sz="5600">
                <a:solidFill>
                  <a:schemeClr val="dk1"/>
                </a:solidFill>
                <a:latin typeface="Times New Roman"/>
                <a:ea typeface="Times New Roman"/>
                <a:cs typeface="Times New Roman"/>
                <a:sym typeface="Times New Roman"/>
              </a:rPr>
              <a:t>Is Alice married to Bob or to Charlie↑? 					?!(Mab ∨ Mac)</a:t>
            </a:r>
            <a:r>
              <a:rPr lang="ru" sz="5600">
                <a:solidFill>
                  <a:schemeClr val="dk1"/>
                </a:solidFill>
                <a:latin typeface="Times New Roman"/>
                <a:ea typeface="Times New Roman"/>
                <a:cs typeface="Times New Roman"/>
                <a:sym typeface="Times New Roman"/>
              </a:rPr>
              <a:t> </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(2) </a:t>
            </a:r>
            <a:r>
              <a:rPr lang="ru" sz="5600">
                <a:solidFill>
                  <a:schemeClr val="dk1"/>
                </a:solidFill>
                <a:latin typeface="Times New Roman"/>
                <a:ea typeface="Times New Roman"/>
                <a:cs typeface="Times New Roman"/>
                <a:sym typeface="Times New Roman"/>
              </a:rPr>
              <a:t>[(1)] = [?!(Mab ∨ Mac)] = {|Mab ∨ Mac|, |Mab ∨ Mac|}↓</a:t>
            </a:r>
            <a:r>
              <a:rPr lang="ru" sz="5600">
                <a:solidFill>
                  <a:schemeClr val="dk1"/>
                </a:solidFill>
                <a:latin typeface="Times New Roman"/>
                <a:ea typeface="Times New Roman"/>
                <a:cs typeface="Times New Roman"/>
                <a:sym typeface="Times New Roman"/>
              </a:rPr>
              <a:t>		</a:t>
            </a:r>
            <a:endParaRPr sz="5600">
              <a:solidFill>
                <a:schemeClr val="dk1"/>
              </a:solidFill>
              <a:latin typeface="Times New Roman"/>
              <a:ea typeface="Times New Roman"/>
              <a:cs typeface="Times New Roman"/>
              <a:sym typeface="Times New Roman"/>
            </a:endParaRPr>
          </a:p>
          <a:p>
            <a:pPr indent="-317500" lvl="0" marL="457200" rtl="0" algn="just">
              <a:spcBef>
                <a:spcPts val="120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T</a:t>
            </a:r>
            <a:r>
              <a:rPr lang="ru" sz="5600">
                <a:solidFill>
                  <a:schemeClr val="dk1"/>
                </a:solidFill>
                <a:latin typeface="Times New Roman"/>
                <a:ea typeface="Times New Roman"/>
                <a:cs typeface="Times New Roman"/>
                <a:sym typeface="Times New Roman"/>
              </a:rPr>
              <a:t>here is no intonational phrase boundary after the first disjunct, i.e., the two disjuncts are pronounced in a single intonational phrase, and the final pitch contour is rising rather than falling.</a:t>
            </a:r>
            <a:endParaRPr sz="56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With this intonation pattern, the question is interpreted as a polar question, asking whether it is true or false that Alice is married to Bob or Charlie. </a:t>
            </a:r>
            <a:endParaRPr sz="56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The issue expressed by (1) is resolved in an information state s if it follows from the information available in s that Alice is married to Bob or Charlie (i.e., if s ⊆ |Mab ∨ Mac|) or if it follows that she is not married to either Bob or Charlie (i.e., s ⊆ |Mab ∨ Mac|). </a:t>
            </a:r>
            <a:r>
              <a:rPr lang="ru" sz="5600">
                <a:solidFill>
                  <a:schemeClr val="dk1"/>
                </a:solidFill>
                <a:latin typeface="Times New Roman"/>
                <a:ea typeface="Times New Roman"/>
                <a:cs typeface="Times New Roman"/>
                <a:sym typeface="Times New Roman"/>
              </a:rPr>
              <a:t> </a:t>
            </a:r>
            <a:endParaRPr sz="5600">
              <a:solidFill>
                <a:schemeClr val="dk1"/>
              </a:solidFill>
              <a:latin typeface="Times New Roman"/>
              <a:ea typeface="Times New Roman"/>
              <a:cs typeface="Times New Roman"/>
              <a:sym typeface="Times New Roman"/>
            </a:endParaRPr>
          </a:p>
          <a:p>
            <a:pPr indent="457200" lvl="0" marL="5486400" rtl="0" algn="just">
              <a:spcBef>
                <a:spcPts val="1200"/>
              </a:spcBef>
              <a:spcAft>
                <a:spcPts val="1200"/>
              </a:spcAft>
              <a:buNone/>
            </a:pPr>
            <a:r>
              <a:rPr lang="ru" sz="5600">
                <a:solidFill>
                  <a:schemeClr val="dk1"/>
                </a:solidFill>
                <a:latin typeface="Times New Roman"/>
                <a:ea typeface="Times New Roman"/>
                <a:cs typeface="Times New Roman"/>
                <a:sym typeface="Times New Roman"/>
              </a:rPr>
              <a:t>Ciardelli et al. 2017</a:t>
            </a:r>
            <a:endParaRPr sz="5600">
              <a:solidFill>
                <a:schemeClr val="dk1"/>
              </a:solidFill>
              <a:latin typeface="Times New Roman"/>
              <a:ea typeface="Times New Roman"/>
              <a:cs typeface="Times New Roman"/>
              <a:sym typeface="Times New Roman"/>
            </a:endParaRPr>
          </a:p>
        </p:txBody>
      </p:sp>
      <p:cxnSp>
        <p:nvCxnSpPr>
          <p:cNvPr id="380" name="Google Shape;380;p61"/>
          <p:cNvCxnSpPr/>
          <p:nvPr/>
        </p:nvCxnSpPr>
        <p:spPr>
          <a:xfrm>
            <a:off x="3988350" y="2393875"/>
            <a:ext cx="792900" cy="0"/>
          </a:xfrm>
          <a:prstGeom prst="straightConnector1">
            <a:avLst/>
          </a:prstGeom>
          <a:noFill/>
          <a:ln cap="flat" cmpd="sng" w="9525">
            <a:solidFill>
              <a:schemeClr val="dk2"/>
            </a:solidFill>
            <a:prstDash val="solid"/>
            <a:round/>
            <a:headEnd len="med" w="med" type="none"/>
            <a:tailEnd len="med" w="med" type="none"/>
          </a:ln>
        </p:spPr>
      </p:cxnSp>
      <p:cxnSp>
        <p:nvCxnSpPr>
          <p:cNvPr id="381" name="Google Shape;381;p61"/>
          <p:cNvCxnSpPr/>
          <p:nvPr/>
        </p:nvCxnSpPr>
        <p:spPr>
          <a:xfrm>
            <a:off x="3133475" y="3982175"/>
            <a:ext cx="7929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a:t>
            </a:r>
            <a:r>
              <a:rPr lang="ru" sz="2420">
                <a:latin typeface="Times New Roman"/>
                <a:ea typeface="Times New Roman"/>
                <a:cs typeface="Times New Roman"/>
                <a:sym typeface="Times New Roman"/>
              </a:rPr>
              <a:t>Open disjunctive questions</a:t>
            </a:r>
            <a:endParaRPr sz="2420">
              <a:latin typeface="Times New Roman"/>
              <a:ea typeface="Times New Roman"/>
              <a:cs typeface="Times New Roman"/>
              <a:sym typeface="Times New Roman"/>
            </a:endParaRPr>
          </a:p>
        </p:txBody>
      </p:sp>
      <p:sp>
        <p:nvSpPr>
          <p:cNvPr id="387" name="Google Shape;387;p62"/>
          <p:cNvSpPr txBox="1"/>
          <p:nvPr>
            <p:ph idx="1" type="body"/>
          </p:nvPr>
        </p:nvSpPr>
        <p:spPr>
          <a:xfrm>
            <a:off x="311700" y="1152475"/>
            <a:ext cx="8520600" cy="3791700"/>
          </a:xfrm>
          <a:prstGeom prst="rect">
            <a:avLst/>
          </a:prstGeom>
        </p:spPr>
        <p:txBody>
          <a:bodyPr anchorCtr="0" anchor="t" bIns="91425" lIns="91425" spcFirstLastPara="1" rIns="91425" wrap="square" tIns="91425">
            <a:normAutofit fontScale="25000" lnSpcReduction="20000"/>
          </a:bodyPr>
          <a:lstStyle/>
          <a:p>
            <a:pPr indent="0" lvl="0" marL="269999" rtl="0" algn="just">
              <a:spcBef>
                <a:spcPts val="0"/>
              </a:spcBef>
              <a:spcAft>
                <a:spcPts val="0"/>
              </a:spcAft>
              <a:buNone/>
            </a:pPr>
            <a:r>
              <a:t/>
            </a:r>
            <a:endParaRPr sz="2550">
              <a:solidFill>
                <a:schemeClr val="dk1"/>
              </a:solidFill>
              <a:latin typeface="Times New Roman"/>
              <a:ea typeface="Times New Roman"/>
              <a:cs typeface="Times New Roman"/>
              <a:sym typeface="Times New Roman"/>
            </a:endParaRPr>
          </a:p>
          <a:p>
            <a:pPr indent="-317500" lvl="0" marL="457200" rtl="0" algn="just">
              <a:spcBef>
                <a:spcPts val="120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Context: Susan, who is in her sixties, decided to organise a high school reunion. She is now sending out invitation letters. In school, Susan was close friends with Alice, Bob, Charlie, and Drew. After school, she moved to Spain and only kept in touch with Drew. She heard long ago that Alice ended up marrying someone from their class, but she doesn’t know who exactly. In case Alice got married to Bob or Charlie, Susan wants to write an invitation letter to Alice and Bob/Charlie together, and say something nice about their marriage. In case Alice got married to someone else, she will just send her an individual invitation letter and won’t mention her marriage. So she calls Drew and asks her:</a:t>
            </a:r>
            <a:endParaRPr sz="5600">
              <a:solidFill>
                <a:schemeClr val="dk1"/>
              </a:solidFill>
              <a:latin typeface="Times New Roman"/>
              <a:ea typeface="Times New Roman"/>
              <a:cs typeface="Times New Roman"/>
              <a:sym typeface="Times New Roman"/>
            </a:endParaRPr>
          </a:p>
          <a:p>
            <a:pPr indent="-181225" lvl="0" marL="540000" rtl="0" algn="just">
              <a:spcBef>
                <a:spcPts val="0"/>
              </a:spcBef>
              <a:spcAft>
                <a:spcPts val="0"/>
              </a:spcAft>
              <a:buClr>
                <a:schemeClr val="dk1"/>
              </a:buClr>
              <a:buSzPct val="100000"/>
              <a:buFont typeface="Times New Roman"/>
              <a:buAutoNum type="arabicParenBoth"/>
            </a:pPr>
            <a:r>
              <a:rPr lang="ru" sz="5600">
                <a:solidFill>
                  <a:schemeClr val="dk1"/>
                </a:solidFill>
                <a:latin typeface="Times New Roman"/>
                <a:ea typeface="Times New Roman"/>
                <a:cs typeface="Times New Roman"/>
                <a:sym typeface="Times New Roman"/>
              </a:rPr>
              <a:t>Is Alice married to Bob↑ or to Charlie↑? 		?(Mab ∨ Mac)</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(2) [(1)] = [?(Mab ∨ Mac)] = {|Mab|, |Mac|, |Mab ∨ Mac|}↓		</a:t>
            </a:r>
            <a:endParaRPr sz="5600">
              <a:solidFill>
                <a:schemeClr val="dk1"/>
              </a:solidFill>
              <a:latin typeface="Times New Roman"/>
              <a:ea typeface="Times New Roman"/>
              <a:cs typeface="Times New Roman"/>
              <a:sym typeface="Times New Roman"/>
            </a:endParaRPr>
          </a:p>
          <a:p>
            <a:pPr indent="-317500" lvl="0" marL="457200" rtl="0" algn="just">
              <a:spcBef>
                <a:spcPts val="120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Note in particular that an information state in which it is established that Alice is married to either Bob or Charlie, but not to which of the two, does not contain enough information to settle the issue expressed by (1), while it does settle the issue expressed by the polar question. Also note that (1) does not presuppose that Alice is married to either Bob or Charlie, unlike the alternative question.</a:t>
            </a:r>
            <a:endParaRPr sz="5600">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sz="5600">
                <a:solidFill>
                  <a:schemeClr val="dk1"/>
                </a:solidFill>
                <a:latin typeface="Times New Roman"/>
                <a:ea typeface="Times New Roman"/>
                <a:cs typeface="Times New Roman"/>
                <a:sym typeface="Times New Roman"/>
              </a:rPr>
              <a:t>Ciardelli et al. 2017</a:t>
            </a:r>
            <a:endParaRPr sz="5600">
              <a:solidFill>
                <a:schemeClr val="dk1"/>
              </a:solidFill>
              <a:latin typeface="Times New Roman"/>
              <a:ea typeface="Times New Roman"/>
              <a:cs typeface="Times New Roman"/>
              <a:sym typeface="Times New Roman"/>
            </a:endParaRPr>
          </a:p>
        </p:txBody>
      </p:sp>
      <p:cxnSp>
        <p:nvCxnSpPr>
          <p:cNvPr id="388" name="Google Shape;388;p62"/>
          <p:cNvCxnSpPr/>
          <p:nvPr/>
        </p:nvCxnSpPr>
        <p:spPr>
          <a:xfrm>
            <a:off x="3891925" y="3283275"/>
            <a:ext cx="7929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a:t>
            </a:r>
            <a:r>
              <a:rPr lang="ru" sz="2420">
                <a:latin typeface="Times New Roman"/>
                <a:ea typeface="Times New Roman"/>
                <a:cs typeface="Times New Roman"/>
                <a:sym typeface="Times New Roman"/>
              </a:rPr>
              <a:t>Wh-questions</a:t>
            </a:r>
            <a:endParaRPr sz="2420">
              <a:latin typeface="Times New Roman"/>
              <a:ea typeface="Times New Roman"/>
              <a:cs typeface="Times New Roman"/>
              <a:sym typeface="Times New Roman"/>
            </a:endParaRPr>
          </a:p>
        </p:txBody>
      </p:sp>
      <p:sp>
        <p:nvSpPr>
          <p:cNvPr id="394" name="Google Shape;394;p63"/>
          <p:cNvSpPr txBox="1"/>
          <p:nvPr>
            <p:ph idx="1" type="body"/>
          </p:nvPr>
        </p:nvSpPr>
        <p:spPr>
          <a:xfrm>
            <a:off x="311700" y="1152475"/>
            <a:ext cx="8520600" cy="37917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SzPts val="440"/>
              <a:buNone/>
            </a:pPr>
            <a:r>
              <a:rPr lang="ru" sz="1640">
                <a:solidFill>
                  <a:schemeClr val="dk1"/>
                </a:solidFill>
                <a:latin typeface="Times New Roman"/>
                <a:ea typeface="Times New Roman"/>
                <a:cs typeface="Times New Roman"/>
                <a:sym typeface="Times New Roman"/>
              </a:rPr>
              <a:t>(1)	a. Who did Alice invite to her birthday party?				mention-all questions </a:t>
            </a:r>
            <a:endParaRPr sz="1640">
              <a:solidFill>
                <a:schemeClr val="dk1"/>
              </a:solidFill>
              <a:latin typeface="Times New Roman"/>
              <a:ea typeface="Times New Roman"/>
              <a:cs typeface="Times New Roman"/>
              <a:sym typeface="Times New Roman"/>
            </a:endParaRPr>
          </a:p>
          <a:p>
            <a:pPr indent="457200" lvl="0" marL="0" rtl="0" algn="just">
              <a:spcBef>
                <a:spcPts val="0"/>
              </a:spcBef>
              <a:spcAft>
                <a:spcPts val="0"/>
              </a:spcAft>
              <a:buSzPts val="440"/>
              <a:buNone/>
            </a:pPr>
            <a:r>
              <a:rPr lang="ru" sz="1640">
                <a:solidFill>
                  <a:schemeClr val="dk1"/>
                </a:solidFill>
                <a:latin typeface="Times New Roman"/>
                <a:ea typeface="Times New Roman"/>
                <a:cs typeface="Times New Roman"/>
                <a:sym typeface="Times New Roman"/>
              </a:rPr>
              <a:t>b. What is something that Alice really likes?				mention-some questions</a:t>
            </a:r>
            <a:endParaRPr sz="1640">
              <a:solidFill>
                <a:schemeClr val="dk1"/>
              </a:solidFill>
              <a:latin typeface="Times New Roman"/>
              <a:ea typeface="Times New Roman"/>
              <a:cs typeface="Times New Roman"/>
              <a:sym typeface="Times New Roman"/>
            </a:endParaRPr>
          </a:p>
          <a:p>
            <a:pPr indent="457200" lvl="0" marL="0" rtl="0" algn="just">
              <a:spcBef>
                <a:spcPts val="0"/>
              </a:spcBef>
              <a:spcAft>
                <a:spcPts val="0"/>
              </a:spcAft>
              <a:buSzPts val="440"/>
              <a:buNone/>
            </a:pPr>
            <a:r>
              <a:rPr lang="ru" sz="1640">
                <a:solidFill>
                  <a:schemeClr val="dk1"/>
                </a:solidFill>
                <a:latin typeface="Times New Roman"/>
                <a:ea typeface="Times New Roman"/>
                <a:cs typeface="Times New Roman"/>
                <a:sym typeface="Times New Roman"/>
              </a:rPr>
              <a:t>c. Who is Alice married to?							single-match questions</a:t>
            </a:r>
            <a:endParaRPr sz="1640">
              <a:solidFill>
                <a:schemeClr val="dk1"/>
              </a:solidFill>
              <a:latin typeface="Times New Roman"/>
              <a:ea typeface="Times New Roman"/>
              <a:cs typeface="Times New Roman"/>
              <a:sym typeface="Times New Roman"/>
            </a:endParaRPr>
          </a:p>
          <a:p>
            <a:pPr indent="457200" lvl="0" marL="0" rtl="0" algn="just">
              <a:spcBef>
                <a:spcPts val="0"/>
              </a:spcBef>
              <a:spcAft>
                <a:spcPts val="0"/>
              </a:spcAft>
              <a:buSzPts val="440"/>
              <a:buNone/>
            </a:pPr>
            <a:r>
              <a:rPr lang="ru" sz="1640">
                <a:solidFill>
                  <a:schemeClr val="dk1"/>
                </a:solidFill>
                <a:latin typeface="Times New Roman"/>
                <a:ea typeface="Times New Roman"/>
                <a:cs typeface="Times New Roman"/>
                <a:sym typeface="Times New Roman"/>
              </a:rPr>
              <a:t>d. Who is married to whom?				questions with multiple wh-words</a:t>
            </a:r>
            <a:endParaRPr sz="1640">
              <a:solidFill>
                <a:schemeClr val="dk1"/>
              </a:solidFill>
              <a:latin typeface="Times New Roman"/>
              <a:ea typeface="Times New Roman"/>
              <a:cs typeface="Times New Roman"/>
              <a:sym typeface="Times New Roman"/>
            </a:endParaRPr>
          </a:p>
          <a:p>
            <a:pPr indent="457200" lvl="0" marL="0" rtl="0" algn="just">
              <a:spcBef>
                <a:spcPts val="0"/>
              </a:spcBef>
              <a:spcAft>
                <a:spcPts val="0"/>
              </a:spcAft>
              <a:buSzPts val="440"/>
              <a:buNone/>
            </a:pPr>
            <a:r>
              <a:rPr lang="ru" sz="1640">
                <a:solidFill>
                  <a:schemeClr val="dk1"/>
                </a:solidFill>
                <a:latin typeface="Times New Roman"/>
                <a:ea typeface="Times New Roman"/>
                <a:cs typeface="Times New Roman"/>
                <a:sym typeface="Times New Roman"/>
              </a:rPr>
              <a:t>e. Which students did Alice invite to her party?	questions with explicit domain restriction</a:t>
            </a:r>
            <a:endParaRPr sz="1640">
              <a:solidFill>
                <a:schemeClr val="dk1"/>
              </a:solidFill>
              <a:latin typeface="Times New Roman"/>
              <a:ea typeface="Times New Roman"/>
              <a:cs typeface="Times New Roman"/>
              <a:sym typeface="Times New Roman"/>
            </a:endParaRPr>
          </a:p>
          <a:p>
            <a:pPr indent="0" lvl="0" marL="5943600" rtl="0" algn="just">
              <a:spcBef>
                <a:spcPts val="0"/>
              </a:spcBef>
              <a:spcAft>
                <a:spcPts val="0"/>
              </a:spcAft>
              <a:buSzPts val="440"/>
              <a:buNone/>
            </a:pPr>
            <a:r>
              <a:t/>
            </a:r>
            <a:endParaRPr sz="1640">
              <a:solidFill>
                <a:schemeClr val="dk1"/>
              </a:solidFill>
              <a:latin typeface="Times New Roman"/>
              <a:ea typeface="Times New Roman"/>
              <a:cs typeface="Times New Roman"/>
              <a:sym typeface="Times New Roman"/>
            </a:endParaRPr>
          </a:p>
          <a:p>
            <a:pPr indent="0" lvl="0" marL="5943600" rtl="0" algn="just">
              <a:spcBef>
                <a:spcPts val="1200"/>
              </a:spcBef>
              <a:spcAft>
                <a:spcPts val="0"/>
              </a:spcAft>
              <a:buSzPts val="440"/>
              <a:buNone/>
            </a:pPr>
            <a:r>
              <a:t/>
            </a:r>
            <a:endParaRPr sz="1640">
              <a:solidFill>
                <a:schemeClr val="dk1"/>
              </a:solidFill>
              <a:latin typeface="Times New Roman"/>
              <a:ea typeface="Times New Roman"/>
              <a:cs typeface="Times New Roman"/>
              <a:sym typeface="Times New Roman"/>
            </a:endParaRPr>
          </a:p>
          <a:p>
            <a:pPr indent="0" lvl="0" marL="5943600" rtl="0" algn="just">
              <a:spcBef>
                <a:spcPts val="1200"/>
              </a:spcBef>
              <a:spcAft>
                <a:spcPts val="0"/>
              </a:spcAft>
              <a:buSzPts val="440"/>
              <a:buNone/>
            </a:pPr>
            <a:r>
              <a:t/>
            </a:r>
            <a:endParaRPr sz="1640">
              <a:solidFill>
                <a:schemeClr val="dk1"/>
              </a:solidFill>
              <a:latin typeface="Times New Roman"/>
              <a:ea typeface="Times New Roman"/>
              <a:cs typeface="Times New Roman"/>
              <a:sym typeface="Times New Roman"/>
            </a:endParaRPr>
          </a:p>
          <a:p>
            <a:pPr indent="0" lvl="0" marL="5943600" rtl="0" algn="just">
              <a:spcBef>
                <a:spcPts val="1200"/>
              </a:spcBef>
              <a:spcAft>
                <a:spcPts val="1200"/>
              </a:spcAft>
              <a:buSzPts val="440"/>
              <a:buNone/>
            </a:pPr>
            <a:r>
              <a:rPr lang="ru" sz="1640">
                <a:solidFill>
                  <a:schemeClr val="dk1"/>
                </a:solidFill>
                <a:latin typeface="Times New Roman"/>
                <a:ea typeface="Times New Roman"/>
                <a:cs typeface="Times New Roman"/>
                <a:sym typeface="Times New Roman"/>
              </a:rPr>
              <a:t>Ciardelli et al. 2017</a:t>
            </a:r>
            <a:endParaRPr sz="1640">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Wh-questions</a:t>
            </a:r>
            <a:endParaRPr sz="2420">
              <a:latin typeface="Times New Roman"/>
              <a:ea typeface="Times New Roman"/>
              <a:cs typeface="Times New Roman"/>
              <a:sym typeface="Times New Roman"/>
            </a:endParaRPr>
          </a:p>
        </p:txBody>
      </p:sp>
      <p:sp>
        <p:nvSpPr>
          <p:cNvPr id="400" name="Google Shape;400;p64"/>
          <p:cNvSpPr txBox="1"/>
          <p:nvPr>
            <p:ph idx="1" type="body"/>
          </p:nvPr>
        </p:nvSpPr>
        <p:spPr>
          <a:xfrm>
            <a:off x="311700" y="1152475"/>
            <a:ext cx="8520600" cy="3791700"/>
          </a:xfrm>
          <a:prstGeom prst="rect">
            <a:avLst/>
          </a:prstGeom>
        </p:spPr>
        <p:txBody>
          <a:bodyPr anchorCtr="0" anchor="t" bIns="91425" lIns="91425" spcFirstLastPara="1" rIns="91425" wrap="square" tIns="91425">
            <a:normAutofit/>
          </a:bodyPr>
          <a:lstStyle/>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Mention-all wh-questions ask for a complete specification of the individuals that have a certain property—i.e., for a specification of the complete extension of the property in the relevant domain of discourse. Under its most salient interpretation.</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ru" sz="1400">
                <a:solidFill>
                  <a:schemeClr val="dk1"/>
                </a:solidFill>
                <a:latin typeface="Times New Roman"/>
                <a:ea typeface="Times New Roman"/>
                <a:cs typeface="Times New Roman"/>
                <a:sym typeface="Times New Roman"/>
              </a:rPr>
              <a:t>(1) Who did Alice invite to her birthday party? 							∀x?Pax</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t/>
            </a:r>
            <a:endParaRPr sz="14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The issue expressed by (1) is resolved in a state s if the information available in s determines exactly which individuals in the domain were invited to Alice’s party.</a:t>
            </a:r>
            <a:endParaRPr sz="14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It is easy to check that this is equivalent to the requirement that for each individual d ∈ D, s should determine whether or not d was invited (s ⊆ |Pad| or s ⊆ |Pad|). </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rPr lang="ru" sz="1400">
                <a:solidFill>
                  <a:schemeClr val="dk1"/>
                </a:solidFill>
                <a:latin typeface="Times New Roman"/>
                <a:ea typeface="Times New Roman"/>
                <a:cs typeface="Times New Roman"/>
                <a:sym typeface="Times New Roman"/>
              </a:rPr>
              <a:t>(2) [(1)] = [∀x?Pax] = {s | ∀d ∈ D : s ⊆ |Pad| or s ⊆ |Pad|}</a:t>
            </a:r>
            <a:endParaRPr sz="1400">
              <a:solidFill>
                <a:schemeClr val="dk1"/>
              </a:solidFill>
              <a:latin typeface="Times New Roman"/>
              <a:ea typeface="Times New Roman"/>
              <a:cs typeface="Times New Roman"/>
              <a:sym typeface="Times New Roman"/>
            </a:endParaRPr>
          </a:p>
          <a:p>
            <a:pPr indent="0" lvl="0" marL="5943600" rtl="0" algn="just">
              <a:spcBef>
                <a:spcPts val="0"/>
              </a:spcBef>
              <a:spcAft>
                <a:spcPts val="1200"/>
              </a:spcAft>
              <a:buSzPts val="440"/>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cxnSp>
        <p:nvCxnSpPr>
          <p:cNvPr id="401" name="Google Shape;401;p64"/>
          <p:cNvCxnSpPr/>
          <p:nvPr/>
        </p:nvCxnSpPr>
        <p:spPr>
          <a:xfrm flipH="1" rot="10800000">
            <a:off x="4186175" y="3471550"/>
            <a:ext cx="310800" cy="10800"/>
          </a:xfrm>
          <a:prstGeom prst="straightConnector1">
            <a:avLst/>
          </a:prstGeom>
          <a:noFill/>
          <a:ln cap="flat" cmpd="sng" w="9525">
            <a:solidFill>
              <a:schemeClr val="dk2"/>
            </a:solidFill>
            <a:prstDash val="solid"/>
            <a:round/>
            <a:headEnd len="med" w="med" type="none"/>
            <a:tailEnd len="med" w="med" type="none"/>
          </a:ln>
        </p:spPr>
      </p:cxnSp>
      <p:cxnSp>
        <p:nvCxnSpPr>
          <p:cNvPr id="402" name="Google Shape;402;p64"/>
          <p:cNvCxnSpPr/>
          <p:nvPr/>
        </p:nvCxnSpPr>
        <p:spPr>
          <a:xfrm>
            <a:off x="4111175" y="3969075"/>
            <a:ext cx="385800" cy="10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Wh-questions</a:t>
            </a:r>
            <a:endParaRPr sz="2420">
              <a:latin typeface="Times New Roman"/>
              <a:ea typeface="Times New Roman"/>
              <a:cs typeface="Times New Roman"/>
              <a:sym typeface="Times New Roman"/>
            </a:endParaRPr>
          </a:p>
        </p:txBody>
      </p:sp>
      <p:sp>
        <p:nvSpPr>
          <p:cNvPr id="408" name="Google Shape;408;p65"/>
          <p:cNvSpPr txBox="1"/>
          <p:nvPr>
            <p:ph idx="1" type="body"/>
          </p:nvPr>
        </p:nvSpPr>
        <p:spPr>
          <a:xfrm>
            <a:off x="311700" y="1152475"/>
            <a:ext cx="8520600" cy="3791700"/>
          </a:xfrm>
          <a:prstGeom prst="rect">
            <a:avLst/>
          </a:prstGeom>
        </p:spPr>
        <p:txBody>
          <a:bodyPr anchorCtr="0" anchor="t" bIns="91425" lIns="91425" spcFirstLastPara="1" rIns="91425" wrap="square" tIns="91425">
            <a:normAutofit/>
          </a:bodyPr>
          <a:lstStyle/>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Mention-some wh-questions just ask for an instance of a certain property.</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rPr lang="ru" sz="1400">
                <a:solidFill>
                  <a:schemeClr val="dk1"/>
                </a:solidFill>
                <a:latin typeface="Times New Roman"/>
                <a:ea typeface="Times New Roman"/>
                <a:cs typeface="Times New Roman"/>
                <a:sym typeface="Times New Roman"/>
              </a:rPr>
              <a:t>(1) What is something that Alice really likes?</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The issue expressed by (1) is resolved in an information state s if the information available in s implies, for some object d, that Alice really likes d. </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rPr lang="ru" sz="1400">
                <a:solidFill>
                  <a:schemeClr val="dk1"/>
                </a:solidFill>
                <a:latin typeface="Times New Roman"/>
                <a:ea typeface="Times New Roman"/>
                <a:cs typeface="Times New Roman"/>
                <a:sym typeface="Times New Roman"/>
              </a:rPr>
              <a:t>(2) [(1)] = [∃xLax] = {|Lad| | d ∈ D}↓</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It should be noted that the concern we mentioned above for alternative questions also arises here: the sentence ∃xLax has non-trivial informative content, namely that there is at least one thing that Alice really likes. However, in asking the question in (1) the speaker does not present this information as new information, but rather presupposes it.</a:t>
            </a:r>
            <a:endParaRPr sz="1400">
              <a:solidFill>
                <a:schemeClr val="dk1"/>
              </a:solidFill>
              <a:latin typeface="Times New Roman"/>
              <a:ea typeface="Times New Roman"/>
              <a:cs typeface="Times New Roman"/>
              <a:sym typeface="Times New Roman"/>
            </a:endParaRPr>
          </a:p>
          <a:p>
            <a:pPr indent="0" lvl="0" marL="5943600" rtl="0" algn="just">
              <a:spcBef>
                <a:spcPts val="0"/>
              </a:spcBef>
              <a:spcAft>
                <a:spcPts val="1200"/>
              </a:spcAft>
              <a:buSzPts val="440"/>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Wh-questions</a:t>
            </a:r>
            <a:endParaRPr sz="2420">
              <a:latin typeface="Times New Roman"/>
              <a:ea typeface="Times New Roman"/>
              <a:cs typeface="Times New Roman"/>
              <a:sym typeface="Times New Roman"/>
            </a:endParaRPr>
          </a:p>
        </p:txBody>
      </p:sp>
      <p:sp>
        <p:nvSpPr>
          <p:cNvPr id="414" name="Google Shape;414;p66"/>
          <p:cNvSpPr txBox="1"/>
          <p:nvPr>
            <p:ph idx="1" type="body"/>
          </p:nvPr>
        </p:nvSpPr>
        <p:spPr>
          <a:xfrm>
            <a:off x="311700" y="1152475"/>
            <a:ext cx="8520600" cy="3990900"/>
          </a:xfrm>
          <a:prstGeom prst="rect">
            <a:avLst/>
          </a:prstGeom>
        </p:spPr>
        <p:txBody>
          <a:bodyPr anchorCtr="0" anchor="t" bIns="91425" lIns="91425" spcFirstLastPara="1" rIns="91425" wrap="square" tIns="91425">
            <a:noAutofit/>
          </a:bodyPr>
          <a:lstStyle/>
          <a:p>
            <a:pPr indent="-304800" lvl="0" marL="457200" rtl="0" algn="just">
              <a:spcBef>
                <a:spcPts val="0"/>
              </a:spcBef>
              <a:spcAft>
                <a:spcPts val="0"/>
              </a:spcAft>
              <a:buClr>
                <a:schemeClr val="dk1"/>
              </a:buClr>
              <a:buSzPts val="1200"/>
              <a:buFont typeface="Times New Roman"/>
              <a:buChar char="●"/>
            </a:pPr>
            <a:r>
              <a:rPr lang="ru" sz="1200">
                <a:solidFill>
                  <a:schemeClr val="dk1"/>
                </a:solidFill>
                <a:latin typeface="Times New Roman"/>
                <a:ea typeface="Times New Roman"/>
                <a:cs typeface="Times New Roman"/>
                <a:sym typeface="Times New Roman"/>
              </a:rPr>
              <a:t>Mention-some wh-questions just ask for an instance of a certain property.</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rPr lang="ru" sz="1200">
                <a:solidFill>
                  <a:schemeClr val="dk1"/>
                </a:solidFill>
                <a:latin typeface="Times New Roman"/>
                <a:ea typeface="Times New Roman"/>
                <a:cs typeface="Times New Roman"/>
                <a:sym typeface="Times New Roman"/>
              </a:rPr>
              <a:t>(1) What is something that Alice really likes?</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chemeClr val="dk1"/>
              </a:buClr>
              <a:buSzPts val="1200"/>
              <a:buFont typeface="Times New Roman"/>
              <a:buChar char="●"/>
            </a:pPr>
            <a:r>
              <a:rPr lang="ru" sz="1200">
                <a:solidFill>
                  <a:schemeClr val="dk1"/>
                </a:solidFill>
                <a:latin typeface="Times New Roman"/>
                <a:ea typeface="Times New Roman"/>
                <a:cs typeface="Times New Roman"/>
                <a:sym typeface="Times New Roman"/>
              </a:rPr>
              <a:t>The issue expressed by (1) is resolved in an information state s if the information available in s implies, for some object d, that Alice really likes d. </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chemeClr val="dk1"/>
              </a:buClr>
              <a:buSzPts val="1200"/>
              <a:buFont typeface="Times New Roman"/>
              <a:buChar char="●"/>
            </a:pPr>
            <a:r>
              <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rPr lang="ru" sz="1200">
                <a:solidFill>
                  <a:schemeClr val="dk1"/>
                </a:solidFill>
                <a:latin typeface="Times New Roman"/>
                <a:ea typeface="Times New Roman"/>
                <a:cs typeface="Times New Roman"/>
                <a:sym typeface="Times New Roman"/>
              </a:rPr>
              <a:t>(2) [(1)] = [∃xLax] = {|Lad| | d ∈ D}↓</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chemeClr val="dk1"/>
              </a:buClr>
              <a:buSzPts val="1200"/>
              <a:buFont typeface="Times New Roman"/>
              <a:buChar char="●"/>
            </a:pPr>
            <a:r>
              <a:rPr lang="ru" sz="1200">
                <a:solidFill>
                  <a:schemeClr val="dk1"/>
                </a:solidFill>
                <a:latin typeface="Times New Roman"/>
                <a:ea typeface="Times New Roman"/>
                <a:cs typeface="Times New Roman"/>
                <a:sym typeface="Times New Roman"/>
              </a:rPr>
              <a:t>It should be noted that the concern we mentioned above for alternative questions also arises here: the sentence ∃xLax has non-trivial informative content, namely that there is at least one thing that Alice really likes. However, in asking the question in (1) the speaker does not present this information as new information, but rather presupposes it.</a:t>
            </a:r>
            <a:endParaRPr sz="1200">
              <a:solidFill>
                <a:schemeClr val="dk1"/>
              </a:solidFill>
              <a:latin typeface="Times New Roman"/>
              <a:ea typeface="Times New Roman"/>
              <a:cs typeface="Times New Roman"/>
              <a:sym typeface="Times New Roman"/>
            </a:endParaRPr>
          </a:p>
          <a:p>
            <a:pPr indent="-304800" lvl="0" marL="457200" rtl="0" algn="just">
              <a:spcBef>
                <a:spcPts val="0"/>
              </a:spcBef>
              <a:spcAft>
                <a:spcPts val="0"/>
              </a:spcAft>
              <a:buClr>
                <a:schemeClr val="dk1"/>
              </a:buClr>
              <a:buSzPts val="1200"/>
              <a:buFont typeface="Times New Roman"/>
              <a:buChar char="●"/>
            </a:pPr>
            <a:r>
              <a:rPr lang="ru" sz="1200">
                <a:solidFill>
                  <a:schemeClr val="dk1"/>
                </a:solidFill>
                <a:latin typeface="Times New Roman"/>
                <a:ea typeface="Times New Roman"/>
                <a:cs typeface="Times New Roman"/>
                <a:sym typeface="Times New Roman"/>
              </a:rPr>
              <a:t>A relatively understudied, but common type:</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rPr lang="ru" sz="1200">
                <a:solidFill>
                  <a:schemeClr val="dk1"/>
                </a:solidFill>
                <a:latin typeface="Times New Roman"/>
                <a:ea typeface="Times New Roman"/>
                <a:cs typeface="Times New Roman"/>
                <a:sym typeface="Times New Roman"/>
              </a:rPr>
              <a:t>a. Where can I buy an Italian newspaper around here?	e</a:t>
            </a:r>
            <a:r>
              <a:rPr lang="ru" sz="1200">
                <a:solidFill>
                  <a:schemeClr val="dk1"/>
                </a:solidFill>
                <a:latin typeface="Times New Roman"/>
                <a:ea typeface="Times New Roman"/>
                <a:cs typeface="Times New Roman"/>
                <a:sym typeface="Times New Roman"/>
              </a:rPr>
              <a:t>. What would you like to get for your birthday?</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rPr lang="ru" sz="1200">
                <a:solidFill>
                  <a:schemeClr val="dk1"/>
                </a:solidFill>
                <a:latin typeface="Times New Roman"/>
                <a:ea typeface="Times New Roman"/>
                <a:cs typeface="Times New Roman"/>
                <a:sym typeface="Times New Roman"/>
              </a:rPr>
              <a:t>b. What is a typical French dish?				</a:t>
            </a:r>
            <a:r>
              <a:rPr lang="ru" sz="1200">
                <a:solidFill>
                  <a:schemeClr val="dk1"/>
                </a:solidFill>
                <a:latin typeface="Times New Roman"/>
                <a:ea typeface="Times New Roman"/>
                <a:cs typeface="Times New Roman"/>
                <a:sym typeface="Times New Roman"/>
              </a:rPr>
              <a:t>f. Who is driving to the party and has space for an extra passenger?</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rPr lang="ru" sz="1200">
                <a:solidFill>
                  <a:schemeClr val="dk1"/>
                </a:solidFill>
                <a:latin typeface="Times New Roman"/>
                <a:ea typeface="Times New Roman"/>
                <a:cs typeface="Times New Roman"/>
                <a:sym typeface="Times New Roman"/>
              </a:rPr>
              <a:t>c. What is a number we can call in case of an emergency?	g. </a:t>
            </a:r>
            <a:r>
              <a:rPr lang="ru" sz="1200">
                <a:solidFill>
                  <a:schemeClr val="dk1"/>
                </a:solidFill>
                <a:latin typeface="Times New Roman"/>
                <a:ea typeface="Times New Roman"/>
                <a:cs typeface="Times New Roman"/>
                <a:sym typeface="Times New Roman"/>
              </a:rPr>
              <a:t>What would hold these two sticks firmly together?</a:t>
            </a:r>
            <a:endParaRPr sz="12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rPr lang="ru" sz="1200">
                <a:solidFill>
                  <a:schemeClr val="dk1"/>
                </a:solidFill>
                <a:latin typeface="Times New Roman"/>
                <a:ea typeface="Times New Roman"/>
                <a:cs typeface="Times New Roman"/>
                <a:sym typeface="Times New Roman"/>
              </a:rPr>
              <a:t>d. What is an example of a unprovable arithmetic theorem?	h. </a:t>
            </a:r>
            <a:r>
              <a:rPr lang="ru" sz="1200">
                <a:solidFill>
                  <a:schemeClr val="dk1"/>
                </a:solidFill>
                <a:latin typeface="Times New Roman"/>
                <a:ea typeface="Times New Roman"/>
                <a:cs typeface="Times New Roman"/>
                <a:sym typeface="Times New Roman"/>
              </a:rPr>
              <a:t>How do I get to the station from here?</a:t>
            </a:r>
            <a:endParaRPr sz="1200">
              <a:solidFill>
                <a:schemeClr val="dk1"/>
              </a:solidFill>
              <a:latin typeface="Times New Roman"/>
              <a:ea typeface="Times New Roman"/>
              <a:cs typeface="Times New Roman"/>
              <a:sym typeface="Times New Roman"/>
            </a:endParaRPr>
          </a:p>
          <a:p>
            <a:pPr indent="0" lvl="0" marL="6858000" rtl="0" algn="just">
              <a:spcBef>
                <a:spcPts val="0"/>
              </a:spcBef>
              <a:spcAft>
                <a:spcPts val="0"/>
              </a:spcAft>
              <a:buNone/>
            </a:pPr>
            <a:r>
              <a:rPr lang="ru" sz="1200">
                <a:solidFill>
                  <a:schemeClr val="dk1"/>
                </a:solidFill>
                <a:latin typeface="Times New Roman"/>
                <a:ea typeface="Times New Roman"/>
                <a:cs typeface="Times New Roman"/>
                <a:sym typeface="Times New Roman"/>
              </a:rPr>
              <a:t>Ciardelli et al. 2017</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Wh-questions</a:t>
            </a:r>
            <a:endParaRPr sz="2420">
              <a:latin typeface="Times New Roman"/>
              <a:ea typeface="Times New Roman"/>
              <a:cs typeface="Times New Roman"/>
              <a:sym typeface="Times New Roman"/>
            </a:endParaRPr>
          </a:p>
        </p:txBody>
      </p:sp>
      <p:sp>
        <p:nvSpPr>
          <p:cNvPr id="420" name="Google Shape;420;p67"/>
          <p:cNvSpPr txBox="1"/>
          <p:nvPr>
            <p:ph idx="1" type="body"/>
          </p:nvPr>
        </p:nvSpPr>
        <p:spPr>
          <a:xfrm>
            <a:off x="311700" y="1152475"/>
            <a:ext cx="8520600" cy="3990900"/>
          </a:xfrm>
          <a:prstGeom prst="rect">
            <a:avLst/>
          </a:prstGeom>
        </p:spPr>
        <p:txBody>
          <a:bodyPr anchorCtr="0" anchor="t" bIns="91425" lIns="91425" spcFirstLastPara="1" rIns="91425" wrap="square" tIns="91425">
            <a:noAutofit/>
          </a:bodyPr>
          <a:lstStyle/>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Single-match wh-questions ask for the unique individual having a certain property. </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rPr lang="ru" sz="1400">
                <a:solidFill>
                  <a:schemeClr val="dk1"/>
                </a:solidFill>
                <a:latin typeface="Times New Roman"/>
                <a:ea typeface="Times New Roman"/>
                <a:cs typeface="Times New Roman"/>
                <a:sym typeface="Times New Roman"/>
              </a:rPr>
              <a:t>(1) Who is Alice married to? 				∃xMax</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The issue expressed by (1) is resolved in an information state s if, for a specific individual d in the relevant domain of discourse, the information available in s implies that Alice is married to d. </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rPr lang="ru" sz="1400">
                <a:solidFill>
                  <a:schemeClr val="dk1"/>
                </a:solidFill>
                <a:latin typeface="Times New Roman"/>
                <a:ea typeface="Times New Roman"/>
                <a:cs typeface="Times New Roman"/>
                <a:sym typeface="Times New Roman"/>
              </a:rPr>
              <a:t>(2) [(1)] = [∃xMax] = {|Mad| | d ∈ D}↓</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As is clear from this analysis, single-match wh-questions are a special case of mention-some wh-questions in which the relevant property can be satisfied by at most one individual. </a:t>
            </a:r>
            <a:endParaRPr sz="14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However</a:t>
            </a:r>
            <a:r>
              <a:rPr lang="ru" sz="1400">
                <a:solidFill>
                  <a:schemeClr val="dk1"/>
                </a:solidFill>
                <a:latin typeface="Times New Roman"/>
                <a:ea typeface="Times New Roman"/>
                <a:cs typeface="Times New Roman"/>
                <a:sym typeface="Times New Roman"/>
              </a:rPr>
              <a:t> the alternatives for single-match wh-questions always form a partition of a subset of the logical space. In this respect, they are more similar to mention-all questions than to other mention-some questions.</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0"/>
              </a:spcBef>
              <a:spcAft>
                <a:spcPts val="0"/>
              </a:spcAft>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Wh-questions</a:t>
            </a:r>
            <a:endParaRPr sz="2420">
              <a:latin typeface="Times New Roman"/>
              <a:ea typeface="Times New Roman"/>
              <a:cs typeface="Times New Roman"/>
              <a:sym typeface="Times New Roman"/>
            </a:endParaRPr>
          </a:p>
        </p:txBody>
      </p:sp>
      <p:sp>
        <p:nvSpPr>
          <p:cNvPr id="426" name="Google Shape;426;p68"/>
          <p:cNvSpPr txBox="1"/>
          <p:nvPr>
            <p:ph idx="1" type="body"/>
          </p:nvPr>
        </p:nvSpPr>
        <p:spPr>
          <a:xfrm>
            <a:off x="311700" y="1152475"/>
            <a:ext cx="8520600" cy="3791700"/>
          </a:xfrm>
          <a:prstGeom prst="rect">
            <a:avLst/>
          </a:prstGeom>
        </p:spPr>
        <p:txBody>
          <a:bodyPr anchorCtr="0" anchor="t" bIns="91425" lIns="91425" spcFirstLastPara="1" rIns="91425" wrap="square" tIns="91425">
            <a:normAutofit/>
          </a:bodyPr>
          <a:lstStyle/>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Multiple wh-questions are mention-all wh-questions: they ask for a specification of all the individuals that stand in a certain relation—here, the relation of being married:</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rPr lang="ru" sz="1400">
                <a:solidFill>
                  <a:schemeClr val="dk1"/>
                </a:solidFill>
                <a:latin typeface="Times New Roman"/>
                <a:ea typeface="Times New Roman"/>
                <a:cs typeface="Times New Roman"/>
                <a:sym typeface="Times New Roman"/>
              </a:rPr>
              <a:t>(1)	</a:t>
            </a:r>
            <a:r>
              <a:rPr lang="ru" sz="1400">
                <a:solidFill>
                  <a:schemeClr val="dk1"/>
                </a:solidFill>
                <a:latin typeface="Times New Roman"/>
                <a:ea typeface="Times New Roman"/>
                <a:cs typeface="Times New Roman"/>
                <a:sym typeface="Times New Roman"/>
              </a:rPr>
              <a:t>Who is married to whom?			∀x∀y?Mxy</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rPr lang="ru" sz="1400">
                <a:solidFill>
                  <a:schemeClr val="dk1"/>
                </a:solidFill>
                <a:latin typeface="Times New Roman"/>
                <a:ea typeface="Times New Roman"/>
                <a:cs typeface="Times New Roman"/>
                <a:sym typeface="Times New Roman"/>
              </a:rPr>
              <a:t>(2)	[(1)] = [</a:t>
            </a:r>
            <a:r>
              <a:rPr lang="ru" sz="1400">
                <a:solidFill>
                  <a:schemeClr val="dk1"/>
                </a:solidFill>
                <a:latin typeface="Times New Roman"/>
                <a:ea typeface="Times New Roman"/>
                <a:cs typeface="Times New Roman"/>
                <a:sym typeface="Times New Roman"/>
              </a:rPr>
              <a:t>∀x∀y</a:t>
            </a:r>
            <a:r>
              <a:rPr lang="ru" sz="1400">
                <a:solidFill>
                  <a:schemeClr val="dk1"/>
                </a:solidFill>
                <a:latin typeface="Times New Roman"/>
                <a:ea typeface="Times New Roman"/>
                <a:cs typeface="Times New Roman"/>
                <a:sym typeface="Times New Roman"/>
              </a:rPr>
              <a:t>?Mxy] = {s | ∀d,d′ ∈ D : s ⊆ |Mdd′| or s ⊆ |Mdd′|}</a:t>
            </a:r>
            <a:endParaRPr sz="1400">
              <a:solidFill>
                <a:schemeClr val="dk1"/>
              </a:solidFill>
              <a:latin typeface="Times New Roman"/>
              <a:ea typeface="Times New Roman"/>
              <a:cs typeface="Times New Roman"/>
              <a:sym typeface="Times New Roman"/>
            </a:endParaRPr>
          </a:p>
          <a:p>
            <a:pPr indent="0" lvl="0" marL="5943600" rtl="0" algn="just">
              <a:spcBef>
                <a:spcPts val="0"/>
              </a:spcBef>
              <a:spcAft>
                <a:spcPts val="0"/>
              </a:spcAft>
              <a:buSzPts val="440"/>
              <a:buNone/>
            </a:pPr>
            <a:r>
              <a:t/>
            </a:r>
            <a:endParaRPr sz="1400">
              <a:solidFill>
                <a:schemeClr val="dk1"/>
              </a:solidFill>
              <a:latin typeface="Times New Roman"/>
              <a:ea typeface="Times New Roman"/>
              <a:cs typeface="Times New Roman"/>
              <a:sym typeface="Times New Roman"/>
            </a:endParaRPr>
          </a:p>
          <a:p>
            <a:pPr indent="0" lvl="0" marL="5943600" rtl="0" algn="just">
              <a:spcBef>
                <a:spcPts val="1200"/>
              </a:spcBef>
              <a:spcAft>
                <a:spcPts val="0"/>
              </a:spcAft>
              <a:buSzPts val="440"/>
              <a:buNone/>
            </a:pPr>
            <a:r>
              <a:t/>
            </a:r>
            <a:endParaRPr sz="1400">
              <a:solidFill>
                <a:schemeClr val="dk1"/>
              </a:solidFill>
              <a:latin typeface="Times New Roman"/>
              <a:ea typeface="Times New Roman"/>
              <a:cs typeface="Times New Roman"/>
              <a:sym typeface="Times New Roman"/>
            </a:endParaRPr>
          </a:p>
          <a:p>
            <a:pPr indent="0" lvl="0" marL="5943600" rtl="0" algn="just">
              <a:spcBef>
                <a:spcPts val="1200"/>
              </a:spcBef>
              <a:spcAft>
                <a:spcPts val="0"/>
              </a:spcAft>
              <a:buSzPts val="440"/>
              <a:buNone/>
            </a:pPr>
            <a:r>
              <a:t/>
            </a:r>
            <a:endParaRPr sz="1400">
              <a:solidFill>
                <a:schemeClr val="dk1"/>
              </a:solidFill>
              <a:latin typeface="Times New Roman"/>
              <a:ea typeface="Times New Roman"/>
              <a:cs typeface="Times New Roman"/>
              <a:sym typeface="Times New Roman"/>
            </a:endParaRPr>
          </a:p>
          <a:p>
            <a:pPr indent="457200" lvl="0" marL="6400800" rtl="0" algn="just">
              <a:spcBef>
                <a:spcPts val="1200"/>
              </a:spcBef>
              <a:spcAft>
                <a:spcPts val="1200"/>
              </a:spcAft>
              <a:buSzPts val="440"/>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cxnSp>
        <p:nvCxnSpPr>
          <p:cNvPr id="427" name="Google Shape;427;p68"/>
          <p:cNvCxnSpPr/>
          <p:nvPr/>
        </p:nvCxnSpPr>
        <p:spPr>
          <a:xfrm>
            <a:off x="4989850" y="2468875"/>
            <a:ext cx="385800" cy="10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Wh-questions</a:t>
            </a:r>
            <a:endParaRPr sz="2420">
              <a:latin typeface="Times New Roman"/>
              <a:ea typeface="Times New Roman"/>
              <a:cs typeface="Times New Roman"/>
              <a:sym typeface="Times New Roman"/>
            </a:endParaRPr>
          </a:p>
        </p:txBody>
      </p:sp>
      <p:sp>
        <p:nvSpPr>
          <p:cNvPr id="433" name="Google Shape;433;p69"/>
          <p:cNvSpPr txBox="1"/>
          <p:nvPr>
            <p:ph idx="1" type="body"/>
          </p:nvPr>
        </p:nvSpPr>
        <p:spPr>
          <a:xfrm>
            <a:off x="311700" y="1152475"/>
            <a:ext cx="8520600" cy="3791700"/>
          </a:xfrm>
          <a:prstGeom prst="rect">
            <a:avLst/>
          </a:prstGeom>
        </p:spPr>
        <p:txBody>
          <a:bodyPr anchorCtr="0" anchor="t" bIns="91425" lIns="91425" spcFirstLastPara="1" rIns="91425" wrap="square" tIns="91425">
            <a:normAutofit lnSpcReduction="10000"/>
          </a:bodyPr>
          <a:lstStyle/>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Sometimes, the wh-phrase in a wh-question involves an explicit domain restrictor:</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rPr lang="ru" sz="1400">
                <a:solidFill>
                  <a:schemeClr val="dk1"/>
                </a:solidFill>
                <a:latin typeface="Times New Roman"/>
                <a:ea typeface="Times New Roman"/>
                <a:cs typeface="Times New Roman"/>
                <a:sym typeface="Times New Roman"/>
              </a:rPr>
              <a:t>(1) Which students did Alice invite to her party?</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Under the de dicto reading, (1) asks for a specification of the set of students who were invited by Alice. The issue expressed by (1) under this reading is resolved in an information state s in case for every individual d, s determines whether or not d is a student who was invited by Alice.</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rPr lang="ru"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rPr lang="ru" sz="1400">
                <a:solidFill>
                  <a:schemeClr val="dk1"/>
                </a:solidFill>
                <a:latin typeface="Times New Roman"/>
                <a:ea typeface="Times New Roman"/>
                <a:cs typeface="Times New Roman"/>
                <a:sym typeface="Times New Roman"/>
              </a:rPr>
              <a:t>(2)	[(1)] = </a:t>
            </a:r>
            <a:r>
              <a:rPr lang="ru" sz="1400">
                <a:solidFill>
                  <a:schemeClr val="dk1"/>
                </a:solidFill>
                <a:latin typeface="Times New Roman"/>
                <a:ea typeface="Times New Roman"/>
                <a:cs typeface="Times New Roman"/>
                <a:sym typeface="Times New Roman"/>
              </a:rPr>
              <a:t>[∀x?(Sx ∧ Pax)] = {s | ∀d ∈ D : s ⊆ |Sd| ∩ |Pad| or s ⊆ |Sd| ∩ |Pad|}</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t/>
            </a:r>
            <a:endParaRPr sz="14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U</a:t>
            </a:r>
            <a:r>
              <a:rPr lang="ru" sz="1400">
                <a:solidFill>
                  <a:schemeClr val="dk1"/>
                </a:solidFill>
                <a:latin typeface="Times New Roman"/>
                <a:ea typeface="Times New Roman"/>
                <a:cs typeface="Times New Roman"/>
                <a:sym typeface="Times New Roman"/>
              </a:rPr>
              <a:t>nder the de re reading, the addressee is asked to specify for each actual student d whether d was invited by Alice.</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SzPts val="1100"/>
              <a:buNone/>
            </a:pPr>
            <a:r>
              <a:rPr lang="ru"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rPr lang="ru" sz="1400">
                <a:solidFill>
                  <a:schemeClr val="dk1"/>
                </a:solidFill>
                <a:latin typeface="Times New Roman"/>
                <a:ea typeface="Times New Roman"/>
                <a:cs typeface="Times New Roman"/>
                <a:sym typeface="Times New Roman"/>
              </a:rPr>
              <a:t>(3)	[(1)] = [?Pad</a:t>
            </a:r>
            <a:r>
              <a:rPr baseline="-25000" lang="ru" sz="1400">
                <a:solidFill>
                  <a:schemeClr val="dk1"/>
                </a:solidFill>
                <a:latin typeface="Times New Roman"/>
                <a:ea typeface="Times New Roman"/>
                <a:cs typeface="Times New Roman"/>
                <a:sym typeface="Times New Roman"/>
              </a:rPr>
              <a:t>1</a:t>
            </a:r>
            <a:r>
              <a:rPr lang="ru" sz="1400">
                <a:solidFill>
                  <a:schemeClr val="dk1"/>
                </a:solidFill>
                <a:latin typeface="Times New Roman"/>
                <a:ea typeface="Times New Roman"/>
                <a:cs typeface="Times New Roman"/>
                <a:sym typeface="Times New Roman"/>
              </a:rPr>
              <a:t> ∧ · · · ∧ ?Pad</a:t>
            </a:r>
            <a:r>
              <a:rPr baseline="-25000" lang="ru" sz="1400">
                <a:solidFill>
                  <a:schemeClr val="dk1"/>
                </a:solidFill>
                <a:latin typeface="Times New Roman"/>
                <a:ea typeface="Times New Roman"/>
                <a:cs typeface="Times New Roman"/>
                <a:sym typeface="Times New Roman"/>
              </a:rPr>
              <a:t>n</a:t>
            </a:r>
            <a:r>
              <a:rPr lang="ru" sz="1400">
                <a:solidFill>
                  <a:schemeClr val="dk1"/>
                </a:solidFill>
                <a:latin typeface="Times New Roman"/>
                <a:ea typeface="Times New Roman"/>
                <a:cs typeface="Times New Roman"/>
                <a:sym typeface="Times New Roman"/>
              </a:rPr>
              <a:t>] = {s | ∀d ∈ Iw</a:t>
            </a:r>
            <a:r>
              <a:rPr baseline="-25000" lang="ru" sz="1400">
                <a:solidFill>
                  <a:schemeClr val="dk1"/>
                </a:solidFill>
                <a:latin typeface="Times New Roman"/>
                <a:ea typeface="Times New Roman"/>
                <a:cs typeface="Times New Roman"/>
                <a:sym typeface="Times New Roman"/>
              </a:rPr>
              <a:t>0</a:t>
            </a:r>
            <a:r>
              <a:rPr lang="ru" sz="1400">
                <a:solidFill>
                  <a:schemeClr val="dk1"/>
                </a:solidFill>
                <a:latin typeface="Times New Roman"/>
                <a:ea typeface="Times New Roman"/>
                <a:cs typeface="Times New Roman"/>
                <a:sym typeface="Times New Roman"/>
              </a:rPr>
              <a:t>(S): s ⊆ |Pad| or s ⊆ |Pad|}</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t/>
            </a:r>
            <a:endParaRPr sz="1400">
              <a:solidFill>
                <a:schemeClr val="dk1"/>
              </a:solidFill>
              <a:latin typeface="Times New Roman"/>
              <a:ea typeface="Times New Roman"/>
              <a:cs typeface="Times New Roman"/>
              <a:sym typeface="Times New Roman"/>
            </a:endParaRPr>
          </a:p>
          <a:p>
            <a:pPr indent="457200" lvl="0" marL="6400800" rtl="0" algn="just">
              <a:spcBef>
                <a:spcPts val="0"/>
              </a:spcBef>
              <a:spcAft>
                <a:spcPts val="1200"/>
              </a:spcAft>
              <a:buSzPts val="440"/>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cxnSp>
        <p:nvCxnSpPr>
          <p:cNvPr id="434" name="Google Shape;434;p69"/>
          <p:cNvCxnSpPr/>
          <p:nvPr/>
        </p:nvCxnSpPr>
        <p:spPr>
          <a:xfrm rot="10800000">
            <a:off x="5782850" y="3048325"/>
            <a:ext cx="385800" cy="0"/>
          </a:xfrm>
          <a:prstGeom prst="straightConnector1">
            <a:avLst/>
          </a:prstGeom>
          <a:noFill/>
          <a:ln cap="flat" cmpd="sng" w="9525">
            <a:solidFill>
              <a:schemeClr val="dk2"/>
            </a:solidFill>
            <a:prstDash val="solid"/>
            <a:round/>
            <a:headEnd len="med" w="med" type="none"/>
            <a:tailEnd len="med" w="med" type="none"/>
          </a:ln>
        </p:spPr>
      </p:cxnSp>
      <p:cxnSp>
        <p:nvCxnSpPr>
          <p:cNvPr id="435" name="Google Shape;435;p69"/>
          <p:cNvCxnSpPr/>
          <p:nvPr/>
        </p:nvCxnSpPr>
        <p:spPr>
          <a:xfrm rot="10800000">
            <a:off x="5528050" y="4175850"/>
            <a:ext cx="3858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7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Wh-questions</a:t>
            </a:r>
            <a:endParaRPr sz="2420">
              <a:latin typeface="Times New Roman"/>
              <a:ea typeface="Times New Roman"/>
              <a:cs typeface="Times New Roman"/>
              <a:sym typeface="Times New Roman"/>
            </a:endParaRPr>
          </a:p>
        </p:txBody>
      </p:sp>
      <p:sp>
        <p:nvSpPr>
          <p:cNvPr id="441" name="Google Shape;441;p70"/>
          <p:cNvSpPr txBox="1"/>
          <p:nvPr>
            <p:ph idx="1" type="body"/>
          </p:nvPr>
        </p:nvSpPr>
        <p:spPr>
          <a:xfrm>
            <a:off x="311700" y="1152475"/>
            <a:ext cx="8520600" cy="3791700"/>
          </a:xfrm>
          <a:prstGeom prst="rect">
            <a:avLst/>
          </a:prstGeom>
        </p:spPr>
        <p:txBody>
          <a:bodyPr anchorCtr="0" anchor="t" bIns="91425" lIns="91425" spcFirstLastPara="1" rIns="91425" wrap="square" tIns="91425">
            <a:normAutofit/>
          </a:bodyPr>
          <a:lstStyle/>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Sometimes, the wh-phrase in a wh-question involves an explicit domain restrictor:</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rPr lang="ru" sz="1400">
                <a:solidFill>
                  <a:schemeClr val="dk1"/>
                </a:solidFill>
                <a:latin typeface="Times New Roman"/>
                <a:ea typeface="Times New Roman"/>
                <a:cs typeface="Times New Roman"/>
                <a:sym typeface="Times New Roman"/>
              </a:rPr>
              <a:t>(1) Which students did Alice invite to her party?</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Alternatively, (1) expresses an issue which is resolved if for every individual d, under the assumption that d is a student, it is known whether d was invited by Alice:</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rPr lang="ru"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rPr lang="ru" sz="1400">
                <a:solidFill>
                  <a:schemeClr val="dk1"/>
                </a:solidFill>
                <a:latin typeface="Times New Roman"/>
                <a:ea typeface="Times New Roman"/>
                <a:cs typeface="Times New Roman"/>
                <a:sym typeface="Times New Roman"/>
              </a:rPr>
              <a:t>(2)	[(1)] = </a:t>
            </a:r>
            <a:r>
              <a:rPr lang="ru" sz="1400">
                <a:solidFill>
                  <a:schemeClr val="dk1"/>
                </a:solidFill>
                <a:latin typeface="Times New Roman"/>
                <a:ea typeface="Times New Roman"/>
                <a:cs typeface="Times New Roman"/>
                <a:sym typeface="Times New Roman"/>
              </a:rPr>
              <a:t>[∀x(Sx → ?Pax)] = {s | ∀d ∈ D: s ∩ |Sd| ⊆ |Pad| or s ∩ |Sd| ⊆ |Pad|}</a:t>
            </a:r>
            <a:endParaRPr sz="1400">
              <a:solidFill>
                <a:schemeClr val="dk1"/>
              </a:solidFill>
              <a:latin typeface="Times New Roman"/>
              <a:ea typeface="Times New Roman"/>
              <a:cs typeface="Times New Roman"/>
              <a:sym typeface="Times New Roman"/>
            </a:endParaRPr>
          </a:p>
          <a:p>
            <a:pPr indent="457200" lvl="0" marL="6400800" rtl="0" algn="just">
              <a:spcBef>
                <a:spcPts val="0"/>
              </a:spcBef>
              <a:spcAft>
                <a:spcPts val="1200"/>
              </a:spcAft>
              <a:buSzPts val="440"/>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cxnSp>
        <p:nvCxnSpPr>
          <p:cNvPr id="442" name="Google Shape;442;p70"/>
          <p:cNvCxnSpPr/>
          <p:nvPr/>
        </p:nvCxnSpPr>
        <p:spPr>
          <a:xfrm rot="10800000">
            <a:off x="5831575" y="2972525"/>
            <a:ext cx="2892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7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a:t>
            </a:r>
            <a:r>
              <a:rPr lang="ru" sz="2420">
                <a:latin typeface="Times New Roman"/>
                <a:ea typeface="Times New Roman"/>
                <a:cs typeface="Times New Roman"/>
                <a:sym typeface="Times New Roman"/>
              </a:rPr>
              <a:t>Conjoined questions</a:t>
            </a:r>
            <a:endParaRPr sz="2420">
              <a:latin typeface="Times New Roman"/>
              <a:ea typeface="Times New Roman"/>
              <a:cs typeface="Times New Roman"/>
              <a:sym typeface="Times New Roman"/>
            </a:endParaRPr>
          </a:p>
        </p:txBody>
      </p:sp>
      <p:sp>
        <p:nvSpPr>
          <p:cNvPr id="448" name="Google Shape;448;p71"/>
          <p:cNvSpPr txBox="1"/>
          <p:nvPr>
            <p:ph idx="1" type="body"/>
          </p:nvPr>
        </p:nvSpPr>
        <p:spPr>
          <a:xfrm>
            <a:off x="311700" y="1152475"/>
            <a:ext cx="8520600" cy="3791700"/>
          </a:xfrm>
          <a:prstGeom prst="rect">
            <a:avLst/>
          </a:prstGeom>
        </p:spPr>
        <p:txBody>
          <a:bodyPr anchorCtr="0" anchor="t" bIns="91425" lIns="91425" spcFirstLastPara="1" rIns="91425" wrap="square" tIns="91425">
            <a:normAutofit/>
          </a:bodyPr>
          <a:lstStyle/>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The issue expressed by (1) is resolved in an information state s just in case s resolves both the issue whether Alice likes Bob, and the issue whether Bob likes Alice.</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ru" sz="1400">
                <a:solidFill>
                  <a:schemeClr val="dk1"/>
                </a:solidFill>
                <a:latin typeface="Times New Roman"/>
                <a:ea typeface="Times New Roman"/>
                <a:cs typeface="Times New Roman"/>
                <a:sym typeface="Times New Roman"/>
              </a:rPr>
              <a:t>(1)	</a:t>
            </a:r>
            <a:r>
              <a:rPr lang="ru" sz="1400">
                <a:solidFill>
                  <a:schemeClr val="dk1"/>
                </a:solidFill>
                <a:latin typeface="Times New Roman"/>
                <a:ea typeface="Times New Roman"/>
                <a:cs typeface="Times New Roman"/>
                <a:sym typeface="Times New Roman"/>
              </a:rPr>
              <a:t>Does Alice like Bob, and does he like her?				?Lab ∧ ?Lba</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ru"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rPr lang="ru" sz="1400">
                <a:solidFill>
                  <a:schemeClr val="dk1"/>
                </a:solidFill>
                <a:latin typeface="Times New Roman"/>
                <a:ea typeface="Times New Roman"/>
                <a:cs typeface="Times New Roman"/>
                <a:sym typeface="Times New Roman"/>
              </a:rPr>
              <a:t>(2)	[(1)] = [</a:t>
            </a:r>
            <a:r>
              <a:rPr lang="ru" sz="1400">
                <a:solidFill>
                  <a:schemeClr val="dk1"/>
                </a:solidFill>
                <a:latin typeface="Times New Roman"/>
                <a:ea typeface="Times New Roman"/>
                <a:cs typeface="Times New Roman"/>
                <a:sym typeface="Times New Roman"/>
              </a:rPr>
              <a:t>?Lab ∧ ?Lba] = [?Lab] ∩ [?Lba] = {|Lab| ∩ |Lba|, |Lab| ∩ |Lba|, |Lab| ∩ |Lba|, |Lab| ∩ |Lba|}↓</a:t>
            </a:r>
            <a:endParaRPr sz="1400">
              <a:solidFill>
                <a:schemeClr val="dk1"/>
              </a:solidFill>
              <a:latin typeface="Times New Roman"/>
              <a:ea typeface="Times New Roman"/>
              <a:cs typeface="Times New Roman"/>
              <a:sym typeface="Times New Roman"/>
            </a:endParaRPr>
          </a:p>
          <a:p>
            <a:pPr indent="457200" lvl="0" marL="6400800" rtl="0" algn="just">
              <a:spcBef>
                <a:spcPts val="0"/>
              </a:spcBef>
              <a:spcAft>
                <a:spcPts val="0"/>
              </a:spcAft>
              <a:buSzPts val="440"/>
              <a:buNone/>
            </a:pPr>
            <a:r>
              <a:t/>
            </a:r>
            <a:endParaRPr sz="1400">
              <a:solidFill>
                <a:schemeClr val="dk1"/>
              </a:solidFill>
              <a:latin typeface="Times New Roman"/>
              <a:ea typeface="Times New Roman"/>
              <a:cs typeface="Times New Roman"/>
              <a:sym typeface="Times New Roman"/>
            </a:endParaRPr>
          </a:p>
          <a:p>
            <a:pPr indent="457200" lvl="0" marL="6400800" rtl="0" algn="just">
              <a:spcBef>
                <a:spcPts val="1200"/>
              </a:spcBef>
              <a:spcAft>
                <a:spcPts val="0"/>
              </a:spcAft>
              <a:buSzPts val="440"/>
              <a:buNone/>
            </a:pPr>
            <a:r>
              <a:t/>
            </a:r>
            <a:endParaRPr sz="1400">
              <a:solidFill>
                <a:schemeClr val="dk1"/>
              </a:solidFill>
              <a:latin typeface="Times New Roman"/>
              <a:ea typeface="Times New Roman"/>
              <a:cs typeface="Times New Roman"/>
              <a:sym typeface="Times New Roman"/>
            </a:endParaRPr>
          </a:p>
          <a:p>
            <a:pPr indent="457200" lvl="0" marL="6400800" rtl="0" algn="just">
              <a:spcBef>
                <a:spcPts val="1200"/>
              </a:spcBef>
              <a:spcAft>
                <a:spcPts val="1200"/>
              </a:spcAft>
              <a:buSzPts val="440"/>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cxnSp>
        <p:nvCxnSpPr>
          <p:cNvPr id="449" name="Google Shape;449;p71"/>
          <p:cNvCxnSpPr/>
          <p:nvPr/>
        </p:nvCxnSpPr>
        <p:spPr>
          <a:xfrm rot="10800000">
            <a:off x="5613775" y="2472075"/>
            <a:ext cx="385800" cy="0"/>
          </a:xfrm>
          <a:prstGeom prst="straightConnector1">
            <a:avLst/>
          </a:prstGeom>
          <a:noFill/>
          <a:ln cap="flat" cmpd="sng" w="9525">
            <a:solidFill>
              <a:schemeClr val="dk2"/>
            </a:solidFill>
            <a:prstDash val="solid"/>
            <a:round/>
            <a:headEnd len="med" w="med" type="none"/>
            <a:tailEnd len="med" w="med" type="none"/>
          </a:ln>
        </p:spPr>
      </p:cxnSp>
      <p:cxnSp>
        <p:nvCxnSpPr>
          <p:cNvPr id="450" name="Google Shape;450;p71"/>
          <p:cNvCxnSpPr/>
          <p:nvPr/>
        </p:nvCxnSpPr>
        <p:spPr>
          <a:xfrm rot="10800000">
            <a:off x="5999575" y="2472075"/>
            <a:ext cx="385800" cy="0"/>
          </a:xfrm>
          <a:prstGeom prst="straightConnector1">
            <a:avLst/>
          </a:prstGeom>
          <a:noFill/>
          <a:ln cap="flat" cmpd="sng" w="9525">
            <a:solidFill>
              <a:schemeClr val="dk2"/>
            </a:solidFill>
            <a:prstDash val="solid"/>
            <a:round/>
            <a:headEnd len="med" w="med" type="none"/>
            <a:tailEnd len="med" w="med" type="none"/>
          </a:ln>
        </p:spPr>
      </p:cxnSp>
      <p:cxnSp>
        <p:nvCxnSpPr>
          <p:cNvPr id="451" name="Google Shape;451;p71"/>
          <p:cNvCxnSpPr/>
          <p:nvPr/>
        </p:nvCxnSpPr>
        <p:spPr>
          <a:xfrm rot="10800000">
            <a:off x="7074525" y="2470425"/>
            <a:ext cx="375000" cy="3300"/>
          </a:xfrm>
          <a:prstGeom prst="straightConnector1">
            <a:avLst/>
          </a:prstGeom>
          <a:noFill/>
          <a:ln cap="flat" cmpd="sng" w="9525">
            <a:solidFill>
              <a:schemeClr val="dk2"/>
            </a:solidFill>
            <a:prstDash val="solid"/>
            <a:round/>
            <a:headEnd len="med" w="med" type="none"/>
            <a:tailEnd len="med" w="med" type="none"/>
          </a:ln>
        </p:spPr>
      </p:cxnSp>
      <p:cxnSp>
        <p:nvCxnSpPr>
          <p:cNvPr id="452" name="Google Shape;452;p71"/>
          <p:cNvCxnSpPr/>
          <p:nvPr/>
        </p:nvCxnSpPr>
        <p:spPr>
          <a:xfrm rot="10800000">
            <a:off x="7612700" y="2470425"/>
            <a:ext cx="375000" cy="3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7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Disjoined questions</a:t>
            </a:r>
            <a:endParaRPr sz="2420">
              <a:latin typeface="Times New Roman"/>
              <a:ea typeface="Times New Roman"/>
              <a:cs typeface="Times New Roman"/>
              <a:sym typeface="Times New Roman"/>
            </a:endParaRPr>
          </a:p>
        </p:txBody>
      </p:sp>
      <p:sp>
        <p:nvSpPr>
          <p:cNvPr id="458" name="Google Shape;458;p72"/>
          <p:cNvSpPr txBox="1"/>
          <p:nvPr>
            <p:ph idx="1" type="body"/>
          </p:nvPr>
        </p:nvSpPr>
        <p:spPr>
          <a:xfrm>
            <a:off x="311700" y="1152475"/>
            <a:ext cx="8520600" cy="3791700"/>
          </a:xfrm>
          <a:prstGeom prst="rect">
            <a:avLst/>
          </a:prstGeom>
        </p:spPr>
        <p:txBody>
          <a:bodyPr anchorCtr="0" anchor="t" bIns="91425" lIns="91425" spcFirstLastPara="1" rIns="91425" wrap="square" tIns="91425">
            <a:normAutofit/>
          </a:bodyPr>
          <a:lstStyle/>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A question like (1), consisting of two mention-some wh-questions which are coordinated by means of the disjunction word </a:t>
            </a:r>
            <a:r>
              <a:rPr i="1" lang="ru" sz="1400">
                <a:solidFill>
                  <a:schemeClr val="dk1"/>
                </a:solidFill>
                <a:latin typeface="Times New Roman"/>
                <a:ea typeface="Times New Roman"/>
                <a:cs typeface="Times New Roman"/>
                <a:sym typeface="Times New Roman"/>
              </a:rPr>
              <a:t>or</a:t>
            </a:r>
            <a:r>
              <a:rPr lang="ru" sz="1400">
                <a:solidFill>
                  <a:schemeClr val="dk1"/>
                </a:solidFill>
                <a:latin typeface="Times New Roman"/>
                <a:ea typeface="Times New Roman"/>
                <a:cs typeface="Times New Roman"/>
                <a:sym typeface="Times New Roman"/>
              </a:rPr>
              <a:t>, asks for information which resolves either one of the disjuncts.</a:t>
            </a:r>
            <a:endParaRPr sz="14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More precisely, the issue expressed by (1) is resolved in an information state s if s implies for some individual d that d can drive Alice to the party, or if s implies for some individual d that d can lend Alice a car.</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ru" sz="1400">
                <a:solidFill>
                  <a:schemeClr val="dk1"/>
                </a:solidFill>
                <a:latin typeface="Times New Roman"/>
                <a:ea typeface="Times New Roman"/>
                <a:cs typeface="Times New Roman"/>
                <a:sym typeface="Times New Roman"/>
              </a:rPr>
              <a:t>(1)	</a:t>
            </a:r>
            <a:r>
              <a:rPr lang="ru" sz="1400">
                <a:solidFill>
                  <a:schemeClr val="dk1"/>
                </a:solidFill>
                <a:latin typeface="Times New Roman"/>
                <a:ea typeface="Times New Roman"/>
                <a:cs typeface="Times New Roman"/>
                <a:sym typeface="Times New Roman"/>
              </a:rPr>
              <a:t>Who can drive Alice to the party, or who can lend her a car?				∃xDxa ∨ ∃xLxa</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ru"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rPr lang="ru" sz="1400">
                <a:solidFill>
                  <a:schemeClr val="dk1"/>
                </a:solidFill>
                <a:latin typeface="Times New Roman"/>
                <a:ea typeface="Times New Roman"/>
                <a:cs typeface="Times New Roman"/>
                <a:sym typeface="Times New Roman"/>
              </a:rPr>
              <a:t>(2)	[(1)] = </a:t>
            </a:r>
            <a:r>
              <a:rPr lang="ru" sz="1400">
                <a:solidFill>
                  <a:schemeClr val="dk1"/>
                </a:solidFill>
                <a:latin typeface="Times New Roman"/>
                <a:ea typeface="Times New Roman"/>
                <a:cs typeface="Times New Roman"/>
                <a:sym typeface="Times New Roman"/>
              </a:rPr>
              <a:t>[∃xDxa ∨ ∃xLxa] = [∃xDxa] ∪ [∃xLxa] = {|Dda| | d ∈ D}↓ ∪ {|Lda| | d ∈ D}↓</a:t>
            </a:r>
            <a:endParaRPr sz="1400">
              <a:solidFill>
                <a:schemeClr val="dk1"/>
              </a:solidFill>
              <a:latin typeface="Times New Roman"/>
              <a:ea typeface="Times New Roman"/>
              <a:cs typeface="Times New Roman"/>
              <a:sym typeface="Times New Roman"/>
            </a:endParaRPr>
          </a:p>
          <a:p>
            <a:pPr indent="457200" lvl="0" marL="6400800" rtl="0" algn="just">
              <a:spcBef>
                <a:spcPts val="0"/>
              </a:spcBef>
              <a:spcAft>
                <a:spcPts val="0"/>
              </a:spcAft>
              <a:buSzPts val="440"/>
              <a:buNone/>
            </a:pPr>
            <a:r>
              <a:t/>
            </a:r>
            <a:endParaRPr sz="1400">
              <a:solidFill>
                <a:schemeClr val="dk1"/>
              </a:solidFill>
              <a:latin typeface="Times New Roman"/>
              <a:ea typeface="Times New Roman"/>
              <a:cs typeface="Times New Roman"/>
              <a:sym typeface="Times New Roman"/>
            </a:endParaRPr>
          </a:p>
          <a:p>
            <a:pPr indent="457200" lvl="0" marL="6400800" rtl="0" algn="just">
              <a:spcBef>
                <a:spcPts val="1200"/>
              </a:spcBef>
              <a:spcAft>
                <a:spcPts val="0"/>
              </a:spcAft>
              <a:buSzPts val="440"/>
              <a:buNone/>
            </a:pPr>
            <a:r>
              <a:t/>
            </a:r>
            <a:endParaRPr sz="1400">
              <a:solidFill>
                <a:schemeClr val="dk1"/>
              </a:solidFill>
              <a:latin typeface="Times New Roman"/>
              <a:ea typeface="Times New Roman"/>
              <a:cs typeface="Times New Roman"/>
              <a:sym typeface="Times New Roman"/>
            </a:endParaRPr>
          </a:p>
          <a:p>
            <a:pPr indent="457200" lvl="0" marL="6400800" rtl="0" algn="just">
              <a:spcBef>
                <a:spcPts val="1200"/>
              </a:spcBef>
              <a:spcAft>
                <a:spcPts val="1200"/>
              </a:spcAft>
              <a:buSzPts val="440"/>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sp>
        <p:nvSpPr>
          <p:cNvPr id="459" name="Google Shape;459;p72"/>
          <p:cNvSpPr txBox="1"/>
          <p:nvPr/>
        </p:nvSpPr>
        <p:spPr>
          <a:xfrm>
            <a:off x="3613300" y="765100"/>
            <a:ext cx="554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a:t>
            </a:r>
            <a:r>
              <a:rPr lang="ru" sz="2420">
                <a:latin typeface="Times New Roman"/>
                <a:ea typeface="Times New Roman"/>
                <a:cs typeface="Times New Roman"/>
                <a:sym typeface="Times New Roman"/>
              </a:rPr>
              <a:t>Conditional questions</a:t>
            </a:r>
            <a:endParaRPr sz="2420">
              <a:latin typeface="Times New Roman"/>
              <a:ea typeface="Times New Roman"/>
              <a:cs typeface="Times New Roman"/>
              <a:sym typeface="Times New Roman"/>
            </a:endParaRPr>
          </a:p>
        </p:txBody>
      </p:sp>
      <p:sp>
        <p:nvSpPr>
          <p:cNvPr id="465" name="Google Shape;465;p73"/>
          <p:cNvSpPr txBox="1"/>
          <p:nvPr>
            <p:ph idx="1" type="body"/>
          </p:nvPr>
        </p:nvSpPr>
        <p:spPr>
          <a:xfrm>
            <a:off x="311700" y="1152475"/>
            <a:ext cx="8520600" cy="3791700"/>
          </a:xfrm>
          <a:prstGeom prst="rect">
            <a:avLst/>
          </a:prstGeom>
        </p:spPr>
        <p:txBody>
          <a:bodyPr anchorCtr="0" anchor="t" bIns="91425" lIns="91425" spcFirstLastPara="1" rIns="91425" wrap="square" tIns="91425">
            <a:normAutofit/>
          </a:bodyPr>
          <a:lstStyle/>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Conditional questions ask for a resolution of a question, specified by the main clause, under a certain assumption which is specified by an adjoined </a:t>
            </a:r>
            <a:r>
              <a:rPr i="1" lang="ru" sz="1400">
                <a:solidFill>
                  <a:schemeClr val="dk1"/>
                </a:solidFill>
                <a:latin typeface="Times New Roman"/>
                <a:ea typeface="Times New Roman"/>
                <a:cs typeface="Times New Roman"/>
                <a:sym typeface="Times New Roman"/>
              </a:rPr>
              <a:t>if</a:t>
            </a:r>
            <a:r>
              <a:rPr lang="ru" sz="1400">
                <a:solidFill>
                  <a:schemeClr val="dk1"/>
                </a:solidFill>
                <a:latin typeface="Times New Roman"/>
                <a:ea typeface="Times New Roman"/>
                <a:cs typeface="Times New Roman"/>
                <a:sym typeface="Times New Roman"/>
              </a:rPr>
              <a:t>-clause.</a:t>
            </a:r>
            <a:endParaRPr sz="14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The issue expressed by (1) is resolved in an information state s if restricting s to those worlds where Alice wins two tickets results in a state s ∩ |Wa| which resolves the issue of who Alice will take with her, i.e., a state which implies for some individual d that Alice will take d with her.</a:t>
            </a:r>
            <a:endParaRPr sz="1400">
              <a:solidFill>
                <a:schemeClr val="dk1"/>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ru" sz="1400">
                <a:solidFill>
                  <a:schemeClr val="dk1"/>
                </a:solidFill>
                <a:latin typeface="Times New Roman"/>
                <a:ea typeface="Times New Roman"/>
                <a:cs typeface="Times New Roman"/>
                <a:sym typeface="Times New Roman"/>
              </a:rPr>
              <a:t>(1)	</a:t>
            </a:r>
            <a:r>
              <a:rPr lang="ru" sz="1400">
                <a:solidFill>
                  <a:schemeClr val="dk1"/>
                </a:solidFill>
                <a:latin typeface="Times New Roman"/>
                <a:ea typeface="Times New Roman"/>
                <a:cs typeface="Times New Roman"/>
                <a:sym typeface="Times New Roman"/>
              </a:rPr>
              <a:t>If Alice wins two tickets, who will she take with her?					Wa → ∃xTax</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ru"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0" lvl="0" marL="0" rtl="0" algn="just">
              <a:spcBef>
                <a:spcPts val="0"/>
              </a:spcBef>
              <a:spcAft>
                <a:spcPts val="0"/>
              </a:spcAft>
              <a:buSzPts val="1100"/>
              <a:buNone/>
            </a:pPr>
            <a:r>
              <a:rPr lang="ru" sz="1400">
                <a:solidFill>
                  <a:schemeClr val="dk1"/>
                </a:solidFill>
                <a:latin typeface="Times New Roman"/>
                <a:ea typeface="Times New Roman"/>
                <a:cs typeface="Times New Roman"/>
                <a:sym typeface="Times New Roman"/>
              </a:rPr>
              <a:t>(2)	[(1)] = </a:t>
            </a:r>
            <a:r>
              <a:rPr lang="ru" sz="1400">
                <a:solidFill>
                  <a:schemeClr val="dk1"/>
                </a:solidFill>
                <a:latin typeface="Times New Roman"/>
                <a:ea typeface="Times New Roman"/>
                <a:cs typeface="Times New Roman"/>
                <a:sym typeface="Times New Roman"/>
              </a:rPr>
              <a:t>[Wa → ∃xTax] = {s | s ∩ |Wa| ∈ [∃xTax]} = {s | for some d ∈ D : s ∩ |Wa| ⊆ |Tad|}</a:t>
            </a:r>
            <a:endParaRPr sz="1400">
              <a:solidFill>
                <a:schemeClr val="dk1"/>
              </a:solidFill>
              <a:latin typeface="Times New Roman"/>
              <a:ea typeface="Times New Roman"/>
              <a:cs typeface="Times New Roman"/>
              <a:sym typeface="Times New Roman"/>
            </a:endParaRPr>
          </a:p>
          <a:p>
            <a:pPr indent="457200" lvl="0" marL="6400800" rtl="0" algn="just">
              <a:spcBef>
                <a:spcPts val="0"/>
              </a:spcBef>
              <a:spcAft>
                <a:spcPts val="0"/>
              </a:spcAft>
              <a:buSzPts val="440"/>
              <a:buNone/>
            </a:pPr>
            <a:r>
              <a:t/>
            </a:r>
            <a:endParaRPr sz="1400">
              <a:solidFill>
                <a:schemeClr val="dk1"/>
              </a:solidFill>
              <a:latin typeface="Times New Roman"/>
              <a:ea typeface="Times New Roman"/>
              <a:cs typeface="Times New Roman"/>
              <a:sym typeface="Times New Roman"/>
            </a:endParaRPr>
          </a:p>
          <a:p>
            <a:pPr indent="457200" lvl="0" marL="6400800" rtl="0" algn="just">
              <a:spcBef>
                <a:spcPts val="1200"/>
              </a:spcBef>
              <a:spcAft>
                <a:spcPts val="0"/>
              </a:spcAft>
              <a:buSzPts val="440"/>
              <a:buNone/>
            </a:pPr>
            <a:r>
              <a:t/>
            </a:r>
            <a:endParaRPr sz="1400">
              <a:solidFill>
                <a:schemeClr val="dk1"/>
              </a:solidFill>
              <a:latin typeface="Times New Roman"/>
              <a:ea typeface="Times New Roman"/>
              <a:cs typeface="Times New Roman"/>
              <a:sym typeface="Times New Roman"/>
            </a:endParaRPr>
          </a:p>
          <a:p>
            <a:pPr indent="457200" lvl="0" marL="6400800" rtl="0" algn="just">
              <a:spcBef>
                <a:spcPts val="1200"/>
              </a:spcBef>
              <a:spcAft>
                <a:spcPts val="1200"/>
              </a:spcAft>
              <a:buSzPts val="440"/>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sp>
        <p:nvSpPr>
          <p:cNvPr id="466" name="Google Shape;466;p73"/>
          <p:cNvSpPr txBox="1"/>
          <p:nvPr/>
        </p:nvSpPr>
        <p:spPr>
          <a:xfrm>
            <a:off x="3613300" y="765100"/>
            <a:ext cx="554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Questions</a:t>
            </a:r>
            <a:endParaRPr sz="2420">
              <a:latin typeface="Times New Roman"/>
              <a:ea typeface="Times New Roman"/>
              <a:cs typeface="Times New Roman"/>
              <a:sym typeface="Times New Roman"/>
            </a:endParaRPr>
          </a:p>
        </p:txBody>
      </p:sp>
      <p:sp>
        <p:nvSpPr>
          <p:cNvPr id="472" name="Google Shape;472;p74"/>
          <p:cNvSpPr txBox="1"/>
          <p:nvPr>
            <p:ph idx="1" type="body"/>
          </p:nvPr>
        </p:nvSpPr>
        <p:spPr>
          <a:xfrm>
            <a:off x="311700" y="1152475"/>
            <a:ext cx="8520600" cy="3990900"/>
          </a:xfrm>
          <a:prstGeom prst="rect">
            <a:avLst/>
          </a:prstGeom>
        </p:spPr>
        <p:txBody>
          <a:bodyPr anchorCtr="0" anchor="t" bIns="91425" lIns="91425" spcFirstLastPara="1" rIns="91425" wrap="square" tIns="91425">
            <a:normAutofit fontScale="25000" lnSpcReduction="20000"/>
          </a:bodyPr>
          <a:lstStyle/>
          <a:p>
            <a:pPr indent="0" lvl="0" marL="269999" rtl="0" algn="just">
              <a:spcBef>
                <a:spcPts val="0"/>
              </a:spcBef>
              <a:spcAft>
                <a:spcPts val="0"/>
              </a:spcAft>
              <a:buClr>
                <a:schemeClr val="dk1"/>
              </a:buClr>
              <a:buSzPts val="275"/>
              <a:buFont typeface="Arial"/>
              <a:buNone/>
            </a:pPr>
            <a:r>
              <a:rPr lang="ru" sz="5600">
                <a:solidFill>
                  <a:schemeClr val="dk1"/>
                </a:solidFill>
                <a:latin typeface="Times New Roman"/>
                <a:ea typeface="Times New Roman"/>
                <a:cs typeface="Times New Roman"/>
                <a:sym typeface="Times New Roman"/>
              </a:rPr>
              <a:t>Context: Mary keeps a small collection of things that could be nice gifts. At the moment she has two items in her collection: a small Picasso reproduction and a beautiful handicraft book rest that she got on a trip to India. A good friend of hers, Sue, is getting married. She knows that Sue loves ceramics, so that’s what she’ll give her. But she also wants to give her fiancee Ben something. She doesn’t know him so well yet, though, so she asks Sue:</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Clr>
                <a:schemeClr val="dk1"/>
              </a:buClr>
              <a:buSzPts val="275"/>
              <a:buFont typeface="Arial"/>
              <a:buNone/>
            </a:pPr>
            <a:r>
              <a:rPr lang="ru" sz="5600">
                <a:solidFill>
                  <a:schemeClr val="dk1"/>
                </a:solidFill>
                <a:latin typeface="Times New Roman"/>
                <a:ea typeface="Times New Roman"/>
                <a:cs typeface="Times New Roman"/>
                <a:sym typeface="Times New Roman"/>
              </a:rPr>
              <a:t>Mary: Does Ben like Picasso↑ or does he read a lot↑?</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Clr>
                <a:schemeClr val="dk1"/>
              </a:buClr>
              <a:buSzPts val="275"/>
              <a:buFont typeface="Arial"/>
              <a:buNone/>
            </a:pPr>
            <a:r>
              <a:rPr lang="ru" sz="5600">
                <a:solidFill>
                  <a:schemeClr val="dk1"/>
                </a:solidFill>
                <a:latin typeface="Times New Roman"/>
                <a:ea typeface="Times New Roman"/>
                <a:cs typeface="Times New Roman"/>
                <a:sym typeface="Times New Roman"/>
              </a:rPr>
              <a:t>Consider the following possible translations in Inquisitive Semantics:</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Clr>
                <a:schemeClr val="dk1"/>
              </a:buClr>
              <a:buSzPts val="275"/>
              <a:buFont typeface="Arial"/>
              <a:buNone/>
            </a:pPr>
            <a:r>
              <a:rPr lang="ru" sz="5600">
                <a:solidFill>
                  <a:schemeClr val="dk1"/>
                </a:solidFill>
                <a:latin typeface="Times New Roman"/>
                <a:ea typeface="Times New Roman"/>
                <a:cs typeface="Times New Roman"/>
                <a:sym typeface="Times New Roman"/>
              </a:rPr>
              <a:t>a. Pb ∨ Rb</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Clr>
                <a:schemeClr val="dk1"/>
              </a:buClr>
              <a:buSzPts val="275"/>
              <a:buFont typeface="Arial"/>
              <a:buNone/>
            </a:pPr>
            <a:r>
              <a:rPr lang="ru" sz="5600">
                <a:solidFill>
                  <a:schemeClr val="dk1"/>
                </a:solidFill>
                <a:latin typeface="Times New Roman"/>
                <a:ea typeface="Times New Roman"/>
                <a:cs typeface="Times New Roman"/>
                <a:sym typeface="Times New Roman"/>
              </a:rPr>
              <a:t>b. ?(Pb ∨ Rb)</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Clr>
                <a:schemeClr val="dk1"/>
              </a:buClr>
              <a:buSzPts val="275"/>
              <a:buFont typeface="Arial"/>
              <a:buNone/>
            </a:pPr>
            <a:r>
              <a:rPr lang="ru" sz="5600">
                <a:solidFill>
                  <a:schemeClr val="dk1"/>
                </a:solidFill>
                <a:latin typeface="Times New Roman"/>
                <a:ea typeface="Times New Roman"/>
                <a:cs typeface="Times New Roman"/>
                <a:sym typeface="Times New Roman"/>
              </a:rPr>
              <a:t>c. ?!(Pb ∨ Rb)</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Clr>
                <a:schemeClr val="dk1"/>
              </a:buClr>
              <a:buSzPts val="275"/>
              <a:buFont typeface="Arial"/>
              <a:buNone/>
            </a:pPr>
            <a:r>
              <a:rPr lang="ru" sz="5600">
                <a:solidFill>
                  <a:schemeClr val="dk1"/>
                </a:solidFill>
                <a:latin typeface="Times New Roman"/>
                <a:ea typeface="Times New Roman"/>
                <a:cs typeface="Times New Roman"/>
                <a:sym typeface="Times New Roman"/>
              </a:rPr>
              <a:t>d. ?Pb ∨ ?Rb</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Which translation is the most appropriate? Why?</a:t>
            </a:r>
            <a:endParaRPr sz="5600">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sz="4800">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6400800" rtl="0" algn="just">
              <a:spcBef>
                <a:spcPts val="1200"/>
              </a:spcBef>
              <a:spcAft>
                <a:spcPts val="1200"/>
              </a:spcAft>
              <a:buNone/>
            </a:pPr>
            <a:r>
              <a:rPr lang="ru" sz="2877">
                <a:solidFill>
                  <a:schemeClr val="dk1"/>
                </a:solidFill>
                <a:latin typeface="Times New Roman"/>
                <a:ea typeface="Times New Roman"/>
                <a:cs typeface="Times New Roman"/>
                <a:sym typeface="Times New Roman"/>
              </a:rPr>
              <a:t>Ciardelli et al. 2017</a:t>
            </a:r>
            <a:endParaRPr sz="2877">
              <a:solidFill>
                <a:schemeClr val="dk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Questions</a:t>
            </a:r>
            <a:endParaRPr sz="2420">
              <a:latin typeface="Times New Roman"/>
              <a:ea typeface="Times New Roman"/>
              <a:cs typeface="Times New Roman"/>
              <a:sym typeface="Times New Roman"/>
            </a:endParaRPr>
          </a:p>
        </p:txBody>
      </p:sp>
      <p:sp>
        <p:nvSpPr>
          <p:cNvPr id="478" name="Google Shape;478;p75"/>
          <p:cNvSpPr txBox="1"/>
          <p:nvPr>
            <p:ph idx="1" type="body"/>
          </p:nvPr>
        </p:nvSpPr>
        <p:spPr>
          <a:xfrm>
            <a:off x="311700" y="1152475"/>
            <a:ext cx="8520600" cy="3941700"/>
          </a:xfrm>
          <a:prstGeom prst="rect">
            <a:avLst/>
          </a:prstGeom>
        </p:spPr>
        <p:txBody>
          <a:bodyPr anchorCtr="0" anchor="t" bIns="91425" lIns="91425" spcFirstLastPara="1" rIns="91425" wrap="square" tIns="91425">
            <a:normAutofit fontScale="25000"/>
          </a:bodyPr>
          <a:lstStyle/>
          <a:p>
            <a:pPr indent="0" lvl="0" marL="0" rtl="0" algn="just">
              <a:spcBef>
                <a:spcPts val="0"/>
              </a:spcBef>
              <a:spcAft>
                <a:spcPts val="0"/>
              </a:spcAft>
              <a:buNone/>
            </a:pPr>
            <a:r>
              <a:rPr lang="ru" sz="5600">
                <a:solidFill>
                  <a:schemeClr val="dk1"/>
                </a:solidFill>
                <a:latin typeface="Times New Roman"/>
                <a:ea typeface="Times New Roman"/>
                <a:cs typeface="Times New Roman"/>
                <a:sym typeface="Times New Roman"/>
              </a:rPr>
              <a:t>Mary: Does Ben like Picasso↑ or does he read a lot↑?</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a. Pb ∨ Rb</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b. ?(Pb ∨ Rb)</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c. ?!(Pb ∨ Rb)</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d. ?Pb ∨ ?Rb</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Which translation is the most appropriate? Why?</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t/>
            </a:r>
            <a:endParaRPr sz="4800">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sz="4800">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6858000" rtl="0" algn="just">
              <a:spcBef>
                <a:spcPts val="1200"/>
              </a:spcBef>
              <a:spcAft>
                <a:spcPts val="1200"/>
              </a:spcAft>
              <a:buNone/>
            </a:pPr>
            <a:r>
              <a:rPr lang="ru" sz="4877">
                <a:solidFill>
                  <a:schemeClr val="dk1"/>
                </a:solidFill>
                <a:latin typeface="Times New Roman"/>
                <a:ea typeface="Times New Roman"/>
                <a:cs typeface="Times New Roman"/>
                <a:sym typeface="Times New Roman"/>
              </a:rPr>
              <a:t>Ciardelli et al. 2017</a:t>
            </a:r>
            <a:endParaRPr sz="4877">
              <a:solidFill>
                <a:schemeClr val="dk1"/>
              </a:solidFill>
              <a:latin typeface="Times New Roman"/>
              <a:ea typeface="Times New Roman"/>
              <a:cs typeface="Times New Roman"/>
              <a:sym typeface="Times New Roman"/>
            </a:endParaRPr>
          </a:p>
        </p:txBody>
      </p:sp>
      <p:pic>
        <p:nvPicPr>
          <p:cNvPr id="479" name="Google Shape;479;p75"/>
          <p:cNvPicPr preferRelativeResize="0"/>
          <p:nvPr/>
        </p:nvPicPr>
        <p:blipFill>
          <a:blip r:embed="rId3">
            <a:alphaModFix/>
          </a:blip>
          <a:stretch>
            <a:fillRect/>
          </a:stretch>
        </p:blipFill>
        <p:spPr>
          <a:xfrm>
            <a:off x="682213" y="3706975"/>
            <a:ext cx="1457325" cy="1333500"/>
          </a:xfrm>
          <a:prstGeom prst="rect">
            <a:avLst/>
          </a:prstGeom>
          <a:noFill/>
          <a:ln>
            <a:noFill/>
          </a:ln>
        </p:spPr>
      </p:pic>
      <p:pic>
        <p:nvPicPr>
          <p:cNvPr id="480" name="Google Shape;480;p75"/>
          <p:cNvPicPr preferRelativeResize="0"/>
          <p:nvPr/>
        </p:nvPicPr>
        <p:blipFill>
          <a:blip r:embed="rId4">
            <a:alphaModFix/>
          </a:blip>
          <a:stretch>
            <a:fillRect/>
          </a:stretch>
        </p:blipFill>
        <p:spPr>
          <a:xfrm>
            <a:off x="2553888" y="3716500"/>
            <a:ext cx="2905125" cy="1314450"/>
          </a:xfrm>
          <a:prstGeom prst="rect">
            <a:avLst/>
          </a:prstGeom>
          <a:noFill/>
          <a:ln>
            <a:noFill/>
          </a:ln>
        </p:spPr>
      </p:pic>
      <p:pic>
        <p:nvPicPr>
          <p:cNvPr id="481" name="Google Shape;481;p75"/>
          <p:cNvPicPr preferRelativeResize="0"/>
          <p:nvPr/>
        </p:nvPicPr>
        <p:blipFill>
          <a:blip r:embed="rId5">
            <a:alphaModFix/>
          </a:blip>
          <a:stretch>
            <a:fillRect/>
          </a:stretch>
        </p:blipFill>
        <p:spPr>
          <a:xfrm>
            <a:off x="5576925" y="3760550"/>
            <a:ext cx="1390650" cy="13335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7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a:t>
            </a:r>
            <a:r>
              <a:rPr lang="ru" sz="2420">
                <a:latin typeface="Times New Roman"/>
                <a:ea typeface="Times New Roman"/>
                <a:cs typeface="Times New Roman"/>
                <a:sym typeface="Times New Roman"/>
              </a:rPr>
              <a:t>Disjunction, clause typing, and intonation</a:t>
            </a:r>
            <a:endParaRPr sz="2420">
              <a:latin typeface="Times New Roman"/>
              <a:ea typeface="Times New Roman"/>
              <a:cs typeface="Times New Roman"/>
              <a:sym typeface="Times New Roman"/>
            </a:endParaRPr>
          </a:p>
        </p:txBody>
      </p:sp>
      <p:sp>
        <p:nvSpPr>
          <p:cNvPr id="487" name="Google Shape;487;p76"/>
          <p:cNvSpPr txBox="1"/>
          <p:nvPr>
            <p:ph idx="1" type="body"/>
          </p:nvPr>
        </p:nvSpPr>
        <p:spPr>
          <a:xfrm>
            <a:off x="311700" y="1152475"/>
            <a:ext cx="8520600" cy="3888000"/>
          </a:xfrm>
          <a:prstGeom prst="rect">
            <a:avLst/>
          </a:prstGeom>
        </p:spPr>
        <p:txBody>
          <a:bodyPr anchorCtr="0" anchor="t" bIns="91425" lIns="91425" spcFirstLastPara="1" rIns="91425" wrap="square" tIns="91425">
            <a:normAutofit fontScale="25000"/>
          </a:bodyPr>
          <a:lstStyle/>
          <a:p>
            <a:pPr indent="-317500" lvl="0" marL="457200" rtl="0" algn="just">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Let’s have a closer look at how disjunction interacts with clause typing (declarative versus interrogative) and intonation (intonational phrase structure and final pitch contours), showing that inquisitive semantics allows us to treat disjunction uniformly across statements and questions with various intonation patterns.</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(1) Does Igor speak Spanish-or-French↑?</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(2) Does Igor speak Spanish↑ or does he speak French↓?</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(3) Does Igor speak Spanish↑ or does he speak French↑?</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(4) Igor speaks Spanish-or-French↓.</a:t>
            </a:r>
            <a:endParaRPr sz="560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5600">
                <a:solidFill>
                  <a:schemeClr val="dk1"/>
                </a:solidFill>
                <a:latin typeface="Times New Roman"/>
                <a:ea typeface="Times New Roman"/>
                <a:cs typeface="Times New Roman"/>
                <a:sym typeface="Times New Roman"/>
              </a:rPr>
              <a:t>(5) Igor speaks Spanish↑ or he speaks French↓.</a:t>
            </a:r>
            <a:endParaRPr sz="5600">
              <a:solidFill>
                <a:schemeClr val="dk1"/>
              </a:solidFill>
              <a:latin typeface="Times New Roman"/>
              <a:ea typeface="Times New Roman"/>
              <a:cs typeface="Times New Roman"/>
              <a:sym typeface="Times New Roman"/>
            </a:endParaRPr>
          </a:p>
          <a:p>
            <a:pPr indent="-317500" lvl="0" marL="457200" rtl="0" algn="just">
              <a:spcBef>
                <a:spcPts val="120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Does the difference in syntactic structure </a:t>
            </a:r>
            <a:r>
              <a:rPr lang="ru" sz="5600">
                <a:solidFill>
                  <a:schemeClr val="dk1"/>
                </a:solidFill>
                <a:latin typeface="Times New Roman"/>
                <a:ea typeface="Times New Roman"/>
                <a:cs typeface="Times New Roman"/>
                <a:sym typeface="Times New Roman"/>
              </a:rPr>
              <a:t>between (4) and (5) </a:t>
            </a:r>
            <a:r>
              <a:rPr lang="ru" sz="5600">
                <a:solidFill>
                  <a:schemeClr val="dk1"/>
                </a:solidFill>
                <a:latin typeface="Times New Roman"/>
                <a:ea typeface="Times New Roman"/>
                <a:cs typeface="Times New Roman"/>
                <a:sym typeface="Times New Roman"/>
              </a:rPr>
              <a:t>result in a difference in interpretation?</a:t>
            </a:r>
            <a:endParaRPr>
              <a:solidFill>
                <a:schemeClr val="dk1"/>
              </a:solidFill>
              <a:latin typeface="Times New Roman"/>
              <a:ea typeface="Times New Roman"/>
              <a:cs typeface="Times New Roman"/>
              <a:sym typeface="Times New Roman"/>
            </a:endParaRPr>
          </a:p>
          <a:p>
            <a:pPr indent="0" lvl="0" marL="6858000" rtl="0" algn="just">
              <a:spcBef>
                <a:spcPts val="1200"/>
              </a:spcBef>
              <a:spcAft>
                <a:spcPts val="1200"/>
              </a:spcAft>
              <a:buNone/>
            </a:pPr>
            <a:r>
              <a:rPr lang="ru" sz="4877">
                <a:solidFill>
                  <a:schemeClr val="dk1"/>
                </a:solidFill>
                <a:latin typeface="Times New Roman"/>
                <a:ea typeface="Times New Roman"/>
                <a:cs typeface="Times New Roman"/>
                <a:sym typeface="Times New Roman"/>
              </a:rPr>
              <a:t>Ciardelli et al. 2017</a:t>
            </a:r>
            <a:endParaRPr sz="4877">
              <a:solidFill>
                <a:schemeClr val="dk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7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Disjunction, clause typing, and intonation</a:t>
            </a:r>
            <a:endParaRPr sz="2420">
              <a:latin typeface="Times New Roman"/>
              <a:ea typeface="Times New Roman"/>
              <a:cs typeface="Times New Roman"/>
              <a:sym typeface="Times New Roman"/>
            </a:endParaRPr>
          </a:p>
        </p:txBody>
      </p:sp>
      <p:sp>
        <p:nvSpPr>
          <p:cNvPr id="493" name="Google Shape;493;p77"/>
          <p:cNvSpPr txBox="1"/>
          <p:nvPr>
            <p:ph idx="1" type="body"/>
          </p:nvPr>
        </p:nvSpPr>
        <p:spPr>
          <a:xfrm>
            <a:off x="311700" y="1152475"/>
            <a:ext cx="8520600" cy="3888000"/>
          </a:xfrm>
          <a:prstGeom prst="rect">
            <a:avLst/>
          </a:prstGeom>
        </p:spPr>
        <p:txBody>
          <a:bodyPr anchorCtr="0" anchor="t" bIns="91425" lIns="91425" spcFirstLastPara="1" rIns="91425" wrap="square" tIns="91425">
            <a:normAutofit fontScale="25000"/>
          </a:bodyPr>
          <a:lstStyle/>
          <a:p>
            <a:pPr indent="-317500" lvl="0" marL="457200" rtl="0" algn="just">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Rule for translating the body of a list:</a:t>
            </a:r>
            <a:endParaRPr sz="5600">
              <a:solidFill>
                <a:schemeClr val="dk1"/>
              </a:solidFill>
              <a:latin typeface="Times New Roman"/>
              <a:ea typeface="Times New Roman"/>
              <a:cs typeface="Times New Roman"/>
              <a:sym typeface="Times New Roman"/>
            </a:endParaRPr>
          </a:p>
          <a:p>
            <a:pPr indent="0" lvl="0" marL="457200" rtl="0" algn="just">
              <a:spcBef>
                <a:spcPts val="1200"/>
              </a:spcBef>
              <a:spcAft>
                <a:spcPts val="0"/>
              </a:spcAft>
              <a:buNone/>
            </a:pPr>
            <a:r>
              <a:rPr lang="ru" sz="5600">
                <a:solidFill>
                  <a:schemeClr val="dk1"/>
                </a:solidFill>
                <a:latin typeface="Times New Roman"/>
                <a:ea typeface="Times New Roman"/>
                <a:cs typeface="Times New Roman"/>
                <a:sym typeface="Times New Roman"/>
              </a:rPr>
              <a:t>[[C</a:t>
            </a:r>
            <a:r>
              <a:rPr baseline="-25000" lang="ru" sz="5600">
                <a:solidFill>
                  <a:schemeClr val="dk1"/>
                </a:solidFill>
                <a:latin typeface="Times New Roman"/>
                <a:ea typeface="Times New Roman"/>
                <a:cs typeface="Times New Roman"/>
                <a:sym typeface="Times New Roman"/>
              </a:rPr>
              <a:t>DECL/INT</a:t>
            </a:r>
            <a:r>
              <a:rPr lang="ru" sz="5600">
                <a:solidFill>
                  <a:schemeClr val="dk1"/>
                </a:solidFill>
                <a:latin typeface="Times New Roman"/>
                <a:ea typeface="Times New Roman"/>
                <a:cs typeface="Times New Roman"/>
                <a:sym typeface="Times New Roman"/>
              </a:rPr>
              <a:t> TP</a:t>
            </a:r>
            <a:r>
              <a:rPr baseline="-25000" lang="ru" sz="5600">
                <a:solidFill>
                  <a:schemeClr val="dk1"/>
                </a:solidFill>
                <a:latin typeface="Times New Roman"/>
                <a:ea typeface="Times New Roman"/>
                <a:cs typeface="Times New Roman"/>
                <a:sym typeface="Times New Roman"/>
              </a:rPr>
              <a:t>1</a:t>
            </a:r>
            <a:r>
              <a:rPr lang="ru" sz="5600">
                <a:solidFill>
                  <a:schemeClr val="dk1"/>
                </a:solidFill>
                <a:latin typeface="Times New Roman"/>
                <a:ea typeface="Times New Roman"/>
                <a:cs typeface="Times New Roman"/>
                <a:sym typeface="Times New Roman"/>
              </a:rPr>
              <a:t>] or . . . or [</a:t>
            </a:r>
            <a:r>
              <a:rPr lang="ru" sz="5600">
                <a:solidFill>
                  <a:schemeClr val="dk1"/>
                </a:solidFill>
                <a:latin typeface="Times New Roman"/>
                <a:ea typeface="Times New Roman"/>
                <a:cs typeface="Times New Roman"/>
                <a:sym typeface="Times New Roman"/>
              </a:rPr>
              <a:t>C</a:t>
            </a:r>
            <a:r>
              <a:rPr baseline="-25000" lang="ru" sz="5600">
                <a:solidFill>
                  <a:schemeClr val="dk1"/>
                </a:solidFill>
                <a:latin typeface="Times New Roman"/>
                <a:ea typeface="Times New Roman"/>
                <a:cs typeface="Times New Roman"/>
                <a:sym typeface="Times New Roman"/>
              </a:rPr>
              <a:t>DECL/INT</a:t>
            </a:r>
            <a:r>
              <a:rPr lang="ru" sz="5600">
                <a:solidFill>
                  <a:schemeClr val="dk1"/>
                </a:solidFill>
                <a:latin typeface="Times New Roman"/>
                <a:ea typeface="Times New Roman"/>
                <a:cs typeface="Times New Roman"/>
                <a:sym typeface="Times New Roman"/>
              </a:rPr>
              <a:t> TP</a:t>
            </a:r>
            <a:r>
              <a:rPr baseline="-25000" lang="ru" sz="5600">
                <a:solidFill>
                  <a:schemeClr val="dk1"/>
                </a:solidFill>
                <a:latin typeface="Times New Roman"/>
                <a:ea typeface="Times New Roman"/>
                <a:cs typeface="Times New Roman"/>
                <a:sym typeface="Times New Roman"/>
              </a:rPr>
              <a:t>n</a:t>
            </a:r>
            <a:r>
              <a:rPr lang="ru" sz="5600">
                <a:solidFill>
                  <a:schemeClr val="dk1"/>
                </a:solidFill>
                <a:latin typeface="Times New Roman"/>
                <a:ea typeface="Times New Roman"/>
                <a:cs typeface="Times New Roman"/>
                <a:sym typeface="Times New Roman"/>
              </a:rPr>
              <a:t>]]				!ϕ</a:t>
            </a:r>
            <a:r>
              <a:rPr baseline="-25000" lang="ru" sz="5600">
                <a:solidFill>
                  <a:schemeClr val="dk1"/>
                </a:solidFill>
                <a:latin typeface="Times New Roman"/>
                <a:ea typeface="Times New Roman"/>
                <a:cs typeface="Times New Roman"/>
                <a:sym typeface="Times New Roman"/>
              </a:rPr>
              <a:t>1</a:t>
            </a:r>
            <a:r>
              <a:rPr lang="ru" sz="5600">
                <a:solidFill>
                  <a:schemeClr val="dk1"/>
                </a:solidFill>
                <a:latin typeface="Times New Roman"/>
                <a:ea typeface="Times New Roman"/>
                <a:cs typeface="Times New Roman"/>
                <a:sym typeface="Times New Roman"/>
              </a:rPr>
              <a:t> ∨ . . . ∨ !ϕ</a:t>
            </a:r>
            <a:r>
              <a:rPr baseline="-25000" lang="ru" sz="5600">
                <a:solidFill>
                  <a:schemeClr val="dk1"/>
                </a:solidFill>
                <a:latin typeface="Times New Roman"/>
                <a:ea typeface="Times New Roman"/>
                <a:cs typeface="Times New Roman"/>
                <a:sym typeface="Times New Roman"/>
              </a:rPr>
              <a:t>n</a:t>
            </a:r>
            <a:endParaRPr sz="5600">
              <a:solidFill>
                <a:schemeClr val="dk1"/>
              </a:solidFill>
              <a:latin typeface="Times New Roman"/>
              <a:ea typeface="Times New Roman"/>
              <a:cs typeface="Times New Roman"/>
              <a:sym typeface="Times New Roman"/>
            </a:endParaRPr>
          </a:p>
          <a:p>
            <a:pPr indent="-317500" lvl="0" marL="457200" rtl="0" algn="just">
              <a:spcBef>
                <a:spcPts val="120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[C</a:t>
            </a:r>
            <a:r>
              <a:rPr baseline="-25000" lang="ru" sz="5600">
                <a:solidFill>
                  <a:schemeClr val="dk1"/>
                </a:solidFill>
                <a:latin typeface="Times New Roman"/>
                <a:ea typeface="Times New Roman"/>
                <a:cs typeface="Times New Roman"/>
                <a:sym typeface="Times New Roman"/>
              </a:rPr>
              <a:t>INT</a:t>
            </a:r>
            <a:r>
              <a:rPr lang="ru" sz="5600">
                <a:solidFill>
                  <a:schemeClr val="dk1"/>
                </a:solidFill>
                <a:latin typeface="Times New Roman"/>
                <a:ea typeface="Times New Roman"/>
                <a:cs typeface="Times New Roman"/>
                <a:sym typeface="Times New Roman"/>
              </a:rPr>
              <a:t> does Igor speak Spanish or French]				!(p ∨ q)</a:t>
            </a:r>
            <a:endParaRPr sz="56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a:t>
            </a:r>
            <a:r>
              <a:rPr lang="ru" sz="5600">
                <a:solidFill>
                  <a:schemeClr val="dk1"/>
                </a:solidFill>
                <a:latin typeface="Times New Roman"/>
                <a:ea typeface="Times New Roman"/>
                <a:cs typeface="Times New Roman"/>
                <a:sym typeface="Times New Roman"/>
              </a:rPr>
              <a:t>C</a:t>
            </a:r>
            <a:r>
              <a:rPr baseline="-25000" lang="ru" sz="5600">
                <a:solidFill>
                  <a:schemeClr val="dk1"/>
                </a:solidFill>
                <a:latin typeface="Times New Roman"/>
                <a:ea typeface="Times New Roman"/>
                <a:cs typeface="Times New Roman"/>
                <a:sym typeface="Times New Roman"/>
              </a:rPr>
              <a:t>INT</a:t>
            </a:r>
            <a:r>
              <a:rPr lang="ru" sz="5600">
                <a:solidFill>
                  <a:schemeClr val="dk1"/>
                </a:solidFill>
                <a:latin typeface="Times New Roman"/>
                <a:ea typeface="Times New Roman"/>
                <a:cs typeface="Times New Roman"/>
                <a:sym typeface="Times New Roman"/>
              </a:rPr>
              <a:t> does Igor speak Spanish] or [</a:t>
            </a:r>
            <a:r>
              <a:rPr lang="ru" sz="5600">
                <a:solidFill>
                  <a:schemeClr val="dk1"/>
                </a:solidFill>
                <a:latin typeface="Times New Roman"/>
                <a:ea typeface="Times New Roman"/>
                <a:cs typeface="Times New Roman"/>
                <a:sym typeface="Times New Roman"/>
              </a:rPr>
              <a:t>C</a:t>
            </a:r>
            <a:r>
              <a:rPr baseline="-25000" lang="ru" sz="5600">
                <a:solidFill>
                  <a:schemeClr val="dk1"/>
                </a:solidFill>
                <a:latin typeface="Times New Roman"/>
                <a:ea typeface="Times New Roman"/>
                <a:cs typeface="Times New Roman"/>
                <a:sym typeface="Times New Roman"/>
              </a:rPr>
              <a:t>INT</a:t>
            </a:r>
            <a:r>
              <a:rPr lang="ru" sz="5600">
                <a:solidFill>
                  <a:schemeClr val="dk1"/>
                </a:solidFill>
                <a:latin typeface="Times New Roman"/>
                <a:ea typeface="Times New Roman"/>
                <a:cs typeface="Times New Roman"/>
                <a:sym typeface="Times New Roman"/>
              </a:rPr>
              <a:t> does he speak French]	!p ∨ !q</a:t>
            </a:r>
            <a:endParaRPr sz="56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ct val="100000"/>
              <a:buFont typeface="Times New Roman"/>
              <a:buChar char="●"/>
            </a:pPr>
            <a:r>
              <a:rPr lang="ru" sz="5600">
                <a:solidFill>
                  <a:schemeClr val="dk1"/>
                </a:solidFill>
                <a:latin typeface="Times New Roman"/>
                <a:ea typeface="Times New Roman"/>
                <a:cs typeface="Times New Roman"/>
                <a:sym typeface="Times New Roman"/>
              </a:rPr>
              <a:t>Rules for translating lists:</a:t>
            </a:r>
            <a:endParaRPr sz="5600">
              <a:solidFill>
                <a:schemeClr val="dk1"/>
              </a:solidFill>
              <a:latin typeface="Times New Roman"/>
              <a:ea typeface="Times New Roman"/>
              <a:cs typeface="Times New Roman"/>
              <a:sym typeface="Times New Roman"/>
            </a:endParaRPr>
          </a:p>
          <a:p>
            <a:pPr indent="0" lvl="0" marL="457200" rtl="0" algn="just">
              <a:spcBef>
                <a:spcPts val="1200"/>
              </a:spcBef>
              <a:spcAft>
                <a:spcPts val="0"/>
              </a:spcAft>
              <a:buNone/>
            </a:pPr>
            <a:r>
              <a:rPr lang="ru" sz="5600">
                <a:solidFill>
                  <a:schemeClr val="dk1"/>
                </a:solidFill>
                <a:latin typeface="Times New Roman"/>
                <a:ea typeface="Times New Roman"/>
                <a:cs typeface="Times New Roman"/>
                <a:sym typeface="Times New Roman"/>
              </a:rPr>
              <a:t>a. [[CLOSED DECL] body]		!ϕ</a:t>
            </a:r>
            <a:endParaRPr sz="5600">
              <a:solidFill>
                <a:schemeClr val="dk1"/>
              </a:solidFill>
              <a:latin typeface="Times New Roman"/>
              <a:ea typeface="Times New Roman"/>
              <a:cs typeface="Times New Roman"/>
              <a:sym typeface="Times New Roman"/>
            </a:endParaRPr>
          </a:p>
          <a:p>
            <a:pPr indent="0" lvl="0" marL="457200" rtl="0" algn="just">
              <a:spcBef>
                <a:spcPts val="1200"/>
              </a:spcBef>
              <a:spcAft>
                <a:spcPts val="0"/>
              </a:spcAft>
              <a:buNone/>
            </a:pPr>
            <a:r>
              <a:rPr lang="ru" sz="5600">
                <a:solidFill>
                  <a:schemeClr val="dk1"/>
                </a:solidFill>
                <a:latin typeface="Times New Roman"/>
                <a:ea typeface="Times New Roman"/>
                <a:cs typeface="Times New Roman"/>
                <a:sym typeface="Times New Roman"/>
              </a:rPr>
              <a:t>b. [[CLOSED INT] body]	</a:t>
            </a:r>
            <a:r>
              <a:rPr lang="ru" sz="5600">
                <a:solidFill>
                  <a:schemeClr val="dk1"/>
                </a:solidFill>
                <a:latin typeface="Times New Roman"/>
                <a:ea typeface="Times New Roman"/>
                <a:cs typeface="Times New Roman"/>
                <a:sym typeface="Times New Roman"/>
              </a:rPr>
              <a:t>〈</a:t>
            </a:r>
            <a:r>
              <a:rPr lang="ru" sz="5600">
                <a:solidFill>
                  <a:schemeClr val="dk1"/>
                </a:solidFill>
                <a:latin typeface="Times New Roman"/>
                <a:ea typeface="Times New Roman"/>
                <a:cs typeface="Times New Roman"/>
                <a:sym typeface="Times New Roman"/>
              </a:rPr>
              <a:t>?</a:t>
            </a:r>
            <a:r>
              <a:rPr lang="ru" sz="5600">
                <a:solidFill>
                  <a:schemeClr val="dk1"/>
                </a:solidFill>
                <a:latin typeface="Times New Roman"/>
                <a:ea typeface="Times New Roman"/>
                <a:cs typeface="Times New Roman"/>
                <a:sym typeface="Times New Roman"/>
              </a:rPr>
              <a:t>〉</a:t>
            </a:r>
            <a:r>
              <a:rPr lang="ru" sz="5600">
                <a:solidFill>
                  <a:schemeClr val="dk1"/>
                </a:solidFill>
                <a:latin typeface="Times New Roman"/>
                <a:ea typeface="Times New Roman"/>
                <a:cs typeface="Times New Roman"/>
                <a:sym typeface="Times New Roman"/>
              </a:rPr>
              <a:t>ϕ</a:t>
            </a:r>
            <a:endParaRPr sz="5600">
              <a:solidFill>
                <a:schemeClr val="dk1"/>
              </a:solidFill>
              <a:latin typeface="Times New Roman"/>
              <a:ea typeface="Times New Roman"/>
              <a:cs typeface="Times New Roman"/>
              <a:sym typeface="Times New Roman"/>
            </a:endParaRPr>
          </a:p>
          <a:p>
            <a:pPr indent="0" lvl="0" marL="457200" rtl="0" algn="just">
              <a:spcBef>
                <a:spcPts val="1200"/>
              </a:spcBef>
              <a:spcAft>
                <a:spcPts val="0"/>
              </a:spcAft>
              <a:buNone/>
            </a:pPr>
            <a:r>
              <a:rPr lang="ru" sz="5600">
                <a:solidFill>
                  <a:schemeClr val="dk1"/>
                </a:solidFill>
                <a:latin typeface="Times New Roman"/>
                <a:ea typeface="Times New Roman"/>
                <a:cs typeface="Times New Roman"/>
                <a:sym typeface="Times New Roman"/>
              </a:rPr>
              <a:t>c. [[OPEN DECL] body] 			?ϕ</a:t>
            </a:r>
            <a:endParaRPr sz="5600">
              <a:solidFill>
                <a:schemeClr val="dk1"/>
              </a:solidFill>
              <a:latin typeface="Times New Roman"/>
              <a:ea typeface="Times New Roman"/>
              <a:cs typeface="Times New Roman"/>
              <a:sym typeface="Times New Roman"/>
            </a:endParaRPr>
          </a:p>
          <a:p>
            <a:pPr indent="0" lvl="0" marL="457200" rtl="0" algn="just">
              <a:spcBef>
                <a:spcPts val="1200"/>
              </a:spcBef>
              <a:spcAft>
                <a:spcPts val="0"/>
              </a:spcAft>
              <a:buNone/>
            </a:pPr>
            <a:r>
              <a:rPr lang="ru" sz="5600">
                <a:solidFill>
                  <a:schemeClr val="dk1"/>
                </a:solidFill>
                <a:latin typeface="Times New Roman"/>
                <a:ea typeface="Times New Roman"/>
                <a:cs typeface="Times New Roman"/>
                <a:sym typeface="Times New Roman"/>
              </a:rPr>
              <a:t>d. [[OPEN INT] body]			?ϕ</a:t>
            </a:r>
            <a:endParaRPr sz="5600">
              <a:solidFill>
                <a:schemeClr val="dk1"/>
              </a:solidFill>
              <a:latin typeface="Times New Roman"/>
              <a:ea typeface="Times New Roman"/>
              <a:cs typeface="Times New Roman"/>
              <a:sym typeface="Times New Roman"/>
            </a:endParaRPr>
          </a:p>
          <a:p>
            <a:pPr indent="0" lvl="0" marL="6858000" rtl="0" algn="just">
              <a:spcBef>
                <a:spcPts val="1200"/>
              </a:spcBef>
              <a:spcAft>
                <a:spcPts val="1200"/>
              </a:spcAft>
              <a:buNone/>
            </a:pPr>
            <a:r>
              <a:rPr lang="ru" sz="4877">
                <a:solidFill>
                  <a:schemeClr val="dk1"/>
                </a:solidFill>
                <a:latin typeface="Times New Roman"/>
                <a:ea typeface="Times New Roman"/>
                <a:cs typeface="Times New Roman"/>
                <a:sym typeface="Times New Roman"/>
              </a:rPr>
              <a:t>Ciardelli et al. 2017</a:t>
            </a:r>
            <a:endParaRPr sz="4877">
              <a:solidFill>
                <a:schemeClr val="dk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Disjunction, clause typing, and intonation</a:t>
            </a:r>
            <a:endParaRPr sz="2420">
              <a:latin typeface="Times New Roman"/>
              <a:ea typeface="Times New Roman"/>
              <a:cs typeface="Times New Roman"/>
              <a:sym typeface="Times New Roman"/>
            </a:endParaRPr>
          </a:p>
        </p:txBody>
      </p:sp>
      <p:sp>
        <p:nvSpPr>
          <p:cNvPr id="499" name="Google Shape;499;p78"/>
          <p:cNvSpPr txBox="1"/>
          <p:nvPr>
            <p:ph idx="1" type="body"/>
          </p:nvPr>
        </p:nvSpPr>
        <p:spPr>
          <a:xfrm>
            <a:off x="311700" y="1152475"/>
            <a:ext cx="8520600" cy="38880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1200"/>
              </a:spcAft>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pic>
        <p:nvPicPr>
          <p:cNvPr id="500" name="Google Shape;500;p78"/>
          <p:cNvPicPr preferRelativeResize="0"/>
          <p:nvPr/>
        </p:nvPicPr>
        <p:blipFill>
          <a:blip r:embed="rId3">
            <a:alphaModFix/>
          </a:blip>
          <a:stretch>
            <a:fillRect/>
          </a:stretch>
        </p:blipFill>
        <p:spPr>
          <a:xfrm>
            <a:off x="473223" y="942975"/>
            <a:ext cx="6044624" cy="396907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Disjunction, clause typing, and intonation</a:t>
            </a:r>
            <a:endParaRPr sz="2420">
              <a:latin typeface="Times New Roman"/>
              <a:ea typeface="Times New Roman"/>
              <a:cs typeface="Times New Roman"/>
              <a:sym typeface="Times New Roman"/>
            </a:endParaRPr>
          </a:p>
        </p:txBody>
      </p:sp>
      <p:sp>
        <p:nvSpPr>
          <p:cNvPr id="506" name="Google Shape;506;p79"/>
          <p:cNvSpPr txBox="1"/>
          <p:nvPr>
            <p:ph idx="1" type="body"/>
          </p:nvPr>
        </p:nvSpPr>
        <p:spPr>
          <a:xfrm>
            <a:off x="311700" y="1152475"/>
            <a:ext cx="8520600" cy="38880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1200"/>
              </a:spcAft>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pic>
        <p:nvPicPr>
          <p:cNvPr id="507" name="Google Shape;507;p79"/>
          <p:cNvPicPr preferRelativeResize="0"/>
          <p:nvPr/>
        </p:nvPicPr>
        <p:blipFill>
          <a:blip r:embed="rId3">
            <a:alphaModFix/>
          </a:blip>
          <a:stretch>
            <a:fillRect/>
          </a:stretch>
        </p:blipFill>
        <p:spPr>
          <a:xfrm>
            <a:off x="311700" y="1121197"/>
            <a:ext cx="4953975" cy="3252928"/>
          </a:xfrm>
          <a:prstGeom prst="rect">
            <a:avLst/>
          </a:prstGeom>
          <a:noFill/>
          <a:ln>
            <a:noFill/>
          </a:ln>
        </p:spPr>
      </p:pic>
      <p:pic>
        <p:nvPicPr>
          <p:cNvPr id="508" name="Google Shape;508;p79"/>
          <p:cNvPicPr preferRelativeResize="0"/>
          <p:nvPr/>
        </p:nvPicPr>
        <p:blipFill>
          <a:blip r:embed="rId4">
            <a:alphaModFix/>
          </a:blip>
          <a:stretch>
            <a:fillRect/>
          </a:stretch>
        </p:blipFill>
        <p:spPr>
          <a:xfrm>
            <a:off x="5401525" y="1965250"/>
            <a:ext cx="3209826" cy="221597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Disjunction, clause typing, and intonation</a:t>
            </a:r>
            <a:endParaRPr sz="2420">
              <a:latin typeface="Times New Roman"/>
              <a:ea typeface="Times New Roman"/>
              <a:cs typeface="Times New Roman"/>
              <a:sym typeface="Times New Roman"/>
            </a:endParaRPr>
          </a:p>
        </p:txBody>
      </p:sp>
      <p:sp>
        <p:nvSpPr>
          <p:cNvPr id="514" name="Google Shape;514;p80"/>
          <p:cNvSpPr txBox="1"/>
          <p:nvPr>
            <p:ph idx="1" type="body"/>
          </p:nvPr>
        </p:nvSpPr>
        <p:spPr>
          <a:xfrm>
            <a:off x="311700" y="1152475"/>
            <a:ext cx="8520600" cy="3888000"/>
          </a:xfrm>
          <a:prstGeom prst="rect">
            <a:avLst/>
          </a:prstGeom>
        </p:spPr>
        <p:txBody>
          <a:bodyPr anchorCtr="0" anchor="t" bIns="91425" lIns="91425" spcFirstLastPara="1" rIns="91425" wrap="square" tIns="91425">
            <a:normAutofit lnSpcReduction="10000"/>
          </a:bodyPr>
          <a:lstStyle/>
          <a:p>
            <a:pPr indent="-89999" lvl="0" marL="89999" rtl="0" algn="just">
              <a:spcBef>
                <a:spcPts val="0"/>
              </a:spcBef>
              <a:spcAft>
                <a:spcPts val="0"/>
              </a:spcAft>
              <a:buClr>
                <a:schemeClr val="dk1"/>
              </a:buClr>
              <a:buSzPts val="1100"/>
              <a:buFont typeface="Arial"/>
              <a:buNone/>
            </a:pPr>
            <a:r>
              <a:rPr lang="ru" sz="1350">
                <a:solidFill>
                  <a:schemeClr val="dk1"/>
                </a:solidFill>
                <a:latin typeface="Times New Roman"/>
                <a:ea typeface="Times New Roman"/>
                <a:cs typeface="Times New Roman"/>
                <a:sym typeface="Times New Roman"/>
              </a:rPr>
              <a:t>(1) Does Igor speak Spanish-or-French↑?			?!(p ∨ q)</a:t>
            </a:r>
            <a:endParaRPr sz="1350">
              <a:solidFill>
                <a:schemeClr val="dk1"/>
              </a:solidFill>
              <a:latin typeface="Times New Roman"/>
              <a:ea typeface="Times New Roman"/>
              <a:cs typeface="Times New Roman"/>
              <a:sym typeface="Times New Roman"/>
            </a:endParaRPr>
          </a:p>
          <a:p>
            <a:pPr indent="0" lvl="0" marL="0" rtl="0" algn="just">
              <a:spcBef>
                <a:spcPts val="1200"/>
              </a:spcBef>
              <a:spcAft>
                <a:spcPts val="0"/>
              </a:spcAft>
              <a:buClr>
                <a:schemeClr val="dk1"/>
              </a:buClr>
              <a:buSzPts val="1100"/>
              <a:buFont typeface="Arial"/>
              <a:buNone/>
            </a:pPr>
            <a:r>
              <a:rPr lang="ru" sz="1350">
                <a:solidFill>
                  <a:schemeClr val="dk1"/>
                </a:solidFill>
                <a:latin typeface="Times New Roman"/>
                <a:ea typeface="Times New Roman"/>
                <a:cs typeface="Times New Roman"/>
                <a:sym typeface="Times New Roman"/>
              </a:rPr>
              <a:t>(2) Does Igor speak Spanish↑ or does he speak French↓?	p ∨ q</a:t>
            </a:r>
            <a:endParaRPr sz="1350">
              <a:solidFill>
                <a:schemeClr val="dk1"/>
              </a:solidFill>
              <a:latin typeface="Times New Roman"/>
              <a:ea typeface="Times New Roman"/>
              <a:cs typeface="Times New Roman"/>
              <a:sym typeface="Times New Roman"/>
            </a:endParaRPr>
          </a:p>
          <a:p>
            <a:pPr indent="0" lvl="0" marL="0" rtl="0" algn="just">
              <a:spcBef>
                <a:spcPts val="1200"/>
              </a:spcBef>
              <a:spcAft>
                <a:spcPts val="0"/>
              </a:spcAft>
              <a:buClr>
                <a:schemeClr val="dk1"/>
              </a:buClr>
              <a:buSzPts val="1100"/>
              <a:buFont typeface="Arial"/>
              <a:buNone/>
            </a:pPr>
            <a:r>
              <a:rPr lang="ru" sz="1350">
                <a:solidFill>
                  <a:schemeClr val="dk1"/>
                </a:solidFill>
                <a:latin typeface="Times New Roman"/>
                <a:ea typeface="Times New Roman"/>
                <a:cs typeface="Times New Roman"/>
                <a:sym typeface="Times New Roman"/>
              </a:rPr>
              <a:t>(3) Igor speaks Spanish-or-French↓.				!(p ∨ q)</a:t>
            </a:r>
            <a:endParaRPr sz="135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1350">
                <a:solidFill>
                  <a:schemeClr val="dk1"/>
                </a:solidFill>
                <a:latin typeface="Times New Roman"/>
                <a:ea typeface="Times New Roman"/>
                <a:cs typeface="Times New Roman"/>
                <a:sym typeface="Times New Roman"/>
              </a:rPr>
              <a:t>(4) Igor speaks Spanish↑ or he speaks French↓.		!(p ∨ q)</a:t>
            </a:r>
            <a:endParaRPr sz="135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t/>
            </a:r>
            <a:endParaRPr sz="135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t/>
            </a:r>
            <a:endParaRPr sz="135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t/>
            </a:r>
            <a:endParaRPr sz="1350">
              <a:solidFill>
                <a:schemeClr val="dk1"/>
              </a:solidFill>
              <a:latin typeface="Times New Roman"/>
              <a:ea typeface="Times New Roman"/>
              <a:cs typeface="Times New Roman"/>
              <a:sym typeface="Times New Roman"/>
            </a:endParaRPr>
          </a:p>
          <a:p>
            <a:pPr indent="0" lvl="0" marL="269999" rtl="0" algn="just">
              <a:spcBef>
                <a:spcPts val="1200"/>
              </a:spcBef>
              <a:spcAft>
                <a:spcPts val="0"/>
              </a:spcAft>
              <a:buNone/>
            </a:pPr>
            <a:r>
              <a:rPr lang="ru" sz="1350">
                <a:solidFill>
                  <a:schemeClr val="dk1"/>
                </a:solidFill>
                <a:latin typeface="Times New Roman"/>
                <a:ea typeface="Times New Roman"/>
                <a:cs typeface="Times New Roman"/>
                <a:sym typeface="Times New Roman"/>
              </a:rPr>
              <a:t>What can you say about the acceptability and interpretation of </a:t>
            </a:r>
            <a:r>
              <a:rPr i="1" lang="ru" sz="1350">
                <a:solidFill>
                  <a:schemeClr val="dk1"/>
                </a:solidFill>
                <a:latin typeface="Times New Roman"/>
                <a:ea typeface="Times New Roman"/>
                <a:cs typeface="Times New Roman"/>
                <a:sym typeface="Times New Roman"/>
              </a:rPr>
              <a:t>yes </a:t>
            </a:r>
            <a:r>
              <a:rPr lang="ru" sz="1350">
                <a:solidFill>
                  <a:schemeClr val="dk1"/>
                </a:solidFill>
                <a:latin typeface="Times New Roman"/>
                <a:ea typeface="Times New Roman"/>
                <a:cs typeface="Times New Roman"/>
                <a:sym typeface="Times New Roman"/>
              </a:rPr>
              <a:t>and </a:t>
            </a:r>
            <a:r>
              <a:rPr i="1" lang="ru" sz="1350">
                <a:solidFill>
                  <a:schemeClr val="dk1"/>
                </a:solidFill>
                <a:latin typeface="Times New Roman"/>
                <a:ea typeface="Times New Roman"/>
                <a:cs typeface="Times New Roman"/>
                <a:sym typeface="Times New Roman"/>
              </a:rPr>
              <a:t>no</a:t>
            </a:r>
            <a:r>
              <a:rPr lang="ru" sz="1350">
                <a:solidFill>
                  <a:schemeClr val="dk1"/>
                </a:solidFill>
                <a:latin typeface="Times New Roman"/>
                <a:ea typeface="Times New Roman"/>
                <a:cs typeface="Times New Roman"/>
                <a:sym typeface="Times New Roman"/>
              </a:rPr>
              <a:t> in response to sentences (1)-(4)? </a:t>
            </a:r>
            <a:endParaRPr sz="135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1200"/>
              </a:spcAft>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pic>
        <p:nvPicPr>
          <p:cNvPr id="515" name="Google Shape;515;p80"/>
          <p:cNvPicPr preferRelativeResize="0"/>
          <p:nvPr/>
        </p:nvPicPr>
        <p:blipFill>
          <a:blip r:embed="rId3">
            <a:alphaModFix/>
          </a:blip>
          <a:stretch>
            <a:fillRect/>
          </a:stretch>
        </p:blipFill>
        <p:spPr>
          <a:xfrm>
            <a:off x="5422950" y="1317775"/>
            <a:ext cx="3209826" cy="2215974"/>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Disjunction, clause typing, and intonation</a:t>
            </a:r>
            <a:endParaRPr sz="2420">
              <a:latin typeface="Times New Roman"/>
              <a:ea typeface="Times New Roman"/>
              <a:cs typeface="Times New Roman"/>
              <a:sym typeface="Times New Roman"/>
            </a:endParaRPr>
          </a:p>
        </p:txBody>
      </p:sp>
      <p:sp>
        <p:nvSpPr>
          <p:cNvPr id="521" name="Google Shape;521;p81"/>
          <p:cNvSpPr txBox="1"/>
          <p:nvPr>
            <p:ph idx="1" type="body"/>
          </p:nvPr>
        </p:nvSpPr>
        <p:spPr>
          <a:xfrm>
            <a:off x="311700" y="1152475"/>
            <a:ext cx="8520600" cy="3888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ru" sz="1350">
                <a:solidFill>
                  <a:schemeClr val="dk1"/>
                </a:solidFill>
                <a:latin typeface="Times New Roman"/>
                <a:ea typeface="Times New Roman"/>
                <a:cs typeface="Times New Roman"/>
                <a:sym typeface="Times New Roman"/>
              </a:rPr>
              <a:t>A sentence, besides expressing a certain proposition that captures its informative and inquisitive content, generally also highlights a set of propositions, which may serve as the antecedents for subsequent anaphoric expressions.</a:t>
            </a:r>
            <a:endParaRPr sz="1350">
              <a:solidFill>
                <a:schemeClr val="dk1"/>
              </a:solidFill>
              <a:latin typeface="Times New Roman"/>
              <a:ea typeface="Times New Roman"/>
              <a:cs typeface="Times New Roman"/>
              <a:sym typeface="Times New Roman"/>
            </a:endParaRPr>
          </a:p>
          <a:p>
            <a:pPr indent="-89999" lvl="0" marL="89999" rtl="0" algn="just">
              <a:spcBef>
                <a:spcPts val="1200"/>
              </a:spcBef>
              <a:spcAft>
                <a:spcPts val="0"/>
              </a:spcAft>
              <a:buNone/>
            </a:pPr>
            <a:r>
              <a:rPr lang="ru" sz="1350">
                <a:solidFill>
                  <a:schemeClr val="dk1"/>
                </a:solidFill>
                <a:latin typeface="Times New Roman"/>
                <a:ea typeface="Times New Roman"/>
                <a:cs typeface="Times New Roman"/>
                <a:sym typeface="Times New Roman"/>
              </a:rPr>
              <a:t>– </a:t>
            </a:r>
            <a:r>
              <a:rPr i="1" lang="ru" sz="1350">
                <a:solidFill>
                  <a:schemeClr val="dk1"/>
                </a:solidFill>
                <a:latin typeface="Times New Roman"/>
                <a:ea typeface="Times New Roman"/>
                <a:cs typeface="Times New Roman"/>
                <a:sym typeface="Times New Roman"/>
              </a:rPr>
              <a:t>yes</a:t>
            </a:r>
            <a:r>
              <a:rPr lang="ru" sz="1350">
                <a:solidFill>
                  <a:schemeClr val="dk1"/>
                </a:solidFill>
                <a:latin typeface="Times New Roman"/>
                <a:ea typeface="Times New Roman"/>
                <a:cs typeface="Times New Roman"/>
                <a:sym typeface="Times New Roman"/>
              </a:rPr>
              <a:t> and </a:t>
            </a:r>
            <a:r>
              <a:rPr i="1" lang="ru" sz="1350">
                <a:solidFill>
                  <a:schemeClr val="dk1"/>
                </a:solidFill>
                <a:latin typeface="Times New Roman"/>
                <a:ea typeface="Times New Roman"/>
                <a:cs typeface="Times New Roman"/>
                <a:sym typeface="Times New Roman"/>
              </a:rPr>
              <a:t>no</a:t>
            </a:r>
            <a:r>
              <a:rPr lang="ru" sz="1350">
                <a:solidFill>
                  <a:schemeClr val="dk1"/>
                </a:solidFill>
                <a:latin typeface="Times New Roman"/>
                <a:ea typeface="Times New Roman"/>
                <a:cs typeface="Times New Roman"/>
                <a:sym typeface="Times New Roman"/>
              </a:rPr>
              <a:t> are such anaphoric expressions:</a:t>
            </a:r>
            <a:endParaRPr sz="1350">
              <a:solidFill>
                <a:schemeClr val="dk1"/>
              </a:solidFill>
              <a:latin typeface="Times New Roman"/>
              <a:ea typeface="Times New Roman"/>
              <a:cs typeface="Times New Roman"/>
              <a:sym typeface="Times New Roman"/>
            </a:endParaRPr>
          </a:p>
          <a:p>
            <a:pPr indent="-89999" lvl="0" marL="89999" rtl="0" algn="just">
              <a:spcBef>
                <a:spcPts val="1200"/>
              </a:spcBef>
              <a:spcAft>
                <a:spcPts val="0"/>
              </a:spcAft>
              <a:buNone/>
            </a:pPr>
            <a:r>
              <a:rPr lang="ru" sz="1350">
                <a:solidFill>
                  <a:schemeClr val="dk1"/>
                </a:solidFill>
                <a:latin typeface="Times New Roman"/>
                <a:ea typeface="Times New Roman"/>
                <a:cs typeface="Times New Roman"/>
                <a:sym typeface="Times New Roman"/>
              </a:rPr>
              <a:t>∗ Both </a:t>
            </a:r>
            <a:r>
              <a:rPr i="1" lang="ru" sz="1350">
                <a:solidFill>
                  <a:schemeClr val="dk1"/>
                </a:solidFill>
                <a:latin typeface="Times New Roman"/>
                <a:ea typeface="Times New Roman"/>
                <a:cs typeface="Times New Roman"/>
                <a:sym typeface="Times New Roman"/>
              </a:rPr>
              <a:t>yes</a:t>
            </a:r>
            <a:r>
              <a:rPr lang="ru" sz="1350">
                <a:solidFill>
                  <a:schemeClr val="dk1"/>
                </a:solidFill>
                <a:latin typeface="Times New Roman"/>
                <a:ea typeface="Times New Roman"/>
                <a:cs typeface="Times New Roman"/>
                <a:sym typeface="Times New Roman"/>
              </a:rPr>
              <a:t> and </a:t>
            </a:r>
            <a:r>
              <a:rPr i="1" lang="ru" sz="1350">
                <a:solidFill>
                  <a:schemeClr val="dk1"/>
                </a:solidFill>
                <a:latin typeface="Times New Roman"/>
                <a:ea typeface="Times New Roman"/>
                <a:cs typeface="Times New Roman"/>
                <a:sym typeface="Times New Roman"/>
              </a:rPr>
              <a:t>no </a:t>
            </a:r>
            <a:r>
              <a:rPr lang="ru" sz="1350">
                <a:solidFill>
                  <a:schemeClr val="dk1"/>
                </a:solidFill>
                <a:latin typeface="Times New Roman"/>
                <a:ea typeface="Times New Roman"/>
                <a:cs typeface="Times New Roman"/>
                <a:sym typeface="Times New Roman"/>
              </a:rPr>
              <a:t>presuppose that the previous sentence highlighted a unique proposition.</a:t>
            </a:r>
            <a:endParaRPr sz="1350">
              <a:solidFill>
                <a:schemeClr val="dk1"/>
              </a:solidFill>
              <a:latin typeface="Times New Roman"/>
              <a:ea typeface="Times New Roman"/>
              <a:cs typeface="Times New Roman"/>
              <a:sym typeface="Times New Roman"/>
            </a:endParaRPr>
          </a:p>
          <a:p>
            <a:pPr indent="-89999" lvl="0" marL="89999" rtl="0" algn="just">
              <a:spcBef>
                <a:spcPts val="1200"/>
              </a:spcBef>
              <a:spcAft>
                <a:spcPts val="0"/>
              </a:spcAft>
              <a:buNone/>
            </a:pPr>
            <a:r>
              <a:rPr lang="ru" sz="1350">
                <a:solidFill>
                  <a:schemeClr val="dk1"/>
                </a:solidFill>
                <a:latin typeface="Times New Roman"/>
                <a:ea typeface="Times New Roman"/>
                <a:cs typeface="Times New Roman"/>
                <a:sym typeface="Times New Roman"/>
              </a:rPr>
              <a:t>∗ If this presupposition is met, </a:t>
            </a:r>
            <a:r>
              <a:rPr i="1" lang="ru" sz="1350">
                <a:solidFill>
                  <a:schemeClr val="dk1"/>
                </a:solidFill>
                <a:latin typeface="Times New Roman"/>
                <a:ea typeface="Times New Roman"/>
                <a:cs typeface="Times New Roman"/>
                <a:sym typeface="Times New Roman"/>
              </a:rPr>
              <a:t>yes</a:t>
            </a:r>
            <a:r>
              <a:rPr lang="ru" sz="1350">
                <a:solidFill>
                  <a:schemeClr val="dk1"/>
                </a:solidFill>
                <a:latin typeface="Times New Roman"/>
                <a:ea typeface="Times New Roman"/>
                <a:cs typeface="Times New Roman"/>
                <a:sym typeface="Times New Roman"/>
              </a:rPr>
              <a:t> confirms the unique highlighted proposition, while </a:t>
            </a:r>
            <a:r>
              <a:rPr i="1" lang="ru" sz="1350">
                <a:solidFill>
                  <a:schemeClr val="dk1"/>
                </a:solidFill>
                <a:latin typeface="Times New Roman"/>
                <a:ea typeface="Times New Roman"/>
                <a:cs typeface="Times New Roman"/>
                <a:sym typeface="Times New Roman"/>
              </a:rPr>
              <a:t>no</a:t>
            </a:r>
            <a:r>
              <a:rPr lang="ru" sz="1350">
                <a:solidFill>
                  <a:schemeClr val="dk1"/>
                </a:solidFill>
                <a:latin typeface="Times New Roman"/>
                <a:ea typeface="Times New Roman"/>
                <a:cs typeface="Times New Roman"/>
                <a:sym typeface="Times New Roman"/>
              </a:rPr>
              <a:t> rejects it.</a:t>
            </a:r>
            <a:endParaRPr sz="1350">
              <a:solidFill>
                <a:schemeClr val="dk1"/>
              </a:solidFill>
              <a:latin typeface="Times New Roman"/>
              <a:ea typeface="Times New Roman"/>
              <a:cs typeface="Times New Roman"/>
              <a:sym typeface="Times New Roman"/>
            </a:endParaRPr>
          </a:p>
          <a:p>
            <a:pPr indent="-89999" lvl="0" marL="89999" rtl="0" algn="just">
              <a:spcBef>
                <a:spcPts val="1200"/>
              </a:spcBef>
              <a:spcAft>
                <a:spcPts val="0"/>
              </a:spcAft>
              <a:buNone/>
            </a:pPr>
            <a:r>
              <a:rPr lang="ru" sz="1350">
                <a:solidFill>
                  <a:schemeClr val="dk1"/>
                </a:solidFill>
                <a:latin typeface="Times New Roman"/>
                <a:ea typeface="Times New Roman"/>
                <a:cs typeface="Times New Roman"/>
                <a:sym typeface="Times New Roman"/>
              </a:rPr>
              <a:t>∗ If the presupposition is not met, the meaning of </a:t>
            </a:r>
            <a:r>
              <a:rPr i="1" lang="ru" sz="1350">
                <a:solidFill>
                  <a:schemeClr val="dk1"/>
                </a:solidFill>
                <a:latin typeface="Times New Roman"/>
                <a:ea typeface="Times New Roman"/>
                <a:cs typeface="Times New Roman"/>
                <a:sym typeface="Times New Roman"/>
              </a:rPr>
              <a:t>yes</a:t>
            </a:r>
            <a:r>
              <a:rPr lang="ru" sz="1350">
                <a:solidFill>
                  <a:schemeClr val="dk1"/>
                </a:solidFill>
                <a:latin typeface="Times New Roman"/>
                <a:ea typeface="Times New Roman"/>
                <a:cs typeface="Times New Roman"/>
                <a:sym typeface="Times New Roman"/>
              </a:rPr>
              <a:t> and </a:t>
            </a:r>
            <a:r>
              <a:rPr i="1" lang="ru" sz="1350">
                <a:solidFill>
                  <a:schemeClr val="dk1"/>
                </a:solidFill>
                <a:latin typeface="Times New Roman"/>
                <a:ea typeface="Times New Roman"/>
                <a:cs typeface="Times New Roman"/>
                <a:sym typeface="Times New Roman"/>
              </a:rPr>
              <a:t>no </a:t>
            </a:r>
            <a:r>
              <a:rPr lang="ru" sz="1350">
                <a:solidFill>
                  <a:schemeClr val="dk1"/>
                </a:solidFill>
                <a:latin typeface="Times New Roman"/>
                <a:ea typeface="Times New Roman"/>
                <a:cs typeface="Times New Roman"/>
                <a:sym typeface="Times New Roman"/>
              </a:rPr>
              <a:t>is not defined.</a:t>
            </a:r>
            <a:endParaRPr sz="1350">
              <a:solidFill>
                <a:schemeClr val="dk1"/>
              </a:solidFill>
              <a:latin typeface="Times New Roman"/>
              <a:ea typeface="Times New Roman"/>
              <a:cs typeface="Times New Roman"/>
              <a:sym typeface="Times New Roman"/>
            </a:endParaRPr>
          </a:p>
          <a:p>
            <a:pPr indent="-89999" lvl="0" marL="89999" rtl="0" algn="just">
              <a:spcBef>
                <a:spcPts val="1200"/>
              </a:spcBef>
              <a:spcAft>
                <a:spcPts val="0"/>
              </a:spcAft>
              <a:buNone/>
            </a:pPr>
            <a:r>
              <a:rPr lang="ru" sz="1350">
                <a:solidFill>
                  <a:schemeClr val="dk1"/>
                </a:solidFill>
                <a:latin typeface="Times New Roman"/>
                <a:ea typeface="Times New Roman"/>
                <a:cs typeface="Times New Roman"/>
                <a:sym typeface="Times New Roman"/>
              </a:rPr>
              <a:t>– A yes/no response is only fully satisfactory if its presupposition is met and it resolves the issue raised by the previous sentence.</a:t>
            </a:r>
            <a:endParaRPr sz="1350">
              <a:solidFill>
                <a:schemeClr val="dk1"/>
              </a:solidFill>
              <a:latin typeface="Times New Roman"/>
              <a:ea typeface="Times New Roman"/>
              <a:cs typeface="Times New Roman"/>
              <a:sym typeface="Times New Roman"/>
            </a:endParaRPr>
          </a:p>
          <a:p>
            <a:pPr indent="0" lvl="0" marL="6858000" rtl="0" algn="just">
              <a:spcBef>
                <a:spcPts val="1200"/>
              </a:spcBef>
              <a:spcAft>
                <a:spcPts val="1200"/>
              </a:spcAft>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8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a:t>
            </a:r>
            <a:r>
              <a:rPr lang="ru" sz="2420">
                <a:latin typeface="Times New Roman"/>
                <a:ea typeface="Times New Roman"/>
                <a:cs typeface="Times New Roman"/>
                <a:sym typeface="Times New Roman"/>
              </a:rPr>
              <a:t>Propositional attitudes</a:t>
            </a:r>
            <a:endParaRPr sz="2420">
              <a:latin typeface="Times New Roman"/>
              <a:ea typeface="Times New Roman"/>
              <a:cs typeface="Times New Roman"/>
              <a:sym typeface="Times New Roman"/>
            </a:endParaRPr>
          </a:p>
        </p:txBody>
      </p:sp>
      <p:sp>
        <p:nvSpPr>
          <p:cNvPr id="527" name="Google Shape;527;p82"/>
          <p:cNvSpPr txBox="1"/>
          <p:nvPr>
            <p:ph idx="1" type="body"/>
          </p:nvPr>
        </p:nvSpPr>
        <p:spPr>
          <a:xfrm>
            <a:off x="311700" y="1152475"/>
            <a:ext cx="8520600" cy="3888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ru" sz="1350">
                <a:solidFill>
                  <a:schemeClr val="dk1"/>
                </a:solidFill>
                <a:latin typeface="Times New Roman"/>
                <a:ea typeface="Times New Roman"/>
                <a:cs typeface="Times New Roman"/>
                <a:sym typeface="Times New Roman"/>
              </a:rPr>
              <a:t>Besides the familiar information-directed attitudes like </a:t>
            </a:r>
            <a:r>
              <a:rPr i="1" lang="ru" sz="1350">
                <a:solidFill>
                  <a:schemeClr val="dk1"/>
                </a:solidFill>
                <a:latin typeface="Times New Roman"/>
                <a:ea typeface="Times New Roman"/>
                <a:cs typeface="Times New Roman"/>
                <a:sym typeface="Times New Roman"/>
              </a:rPr>
              <a:t>knowing</a:t>
            </a:r>
            <a:r>
              <a:rPr lang="ru" sz="1350">
                <a:solidFill>
                  <a:schemeClr val="dk1"/>
                </a:solidFill>
                <a:latin typeface="Times New Roman"/>
                <a:ea typeface="Times New Roman"/>
                <a:cs typeface="Times New Roman"/>
                <a:sym typeface="Times New Roman"/>
              </a:rPr>
              <a:t> and </a:t>
            </a:r>
            <a:r>
              <a:rPr i="1" lang="ru" sz="1350">
                <a:solidFill>
                  <a:schemeClr val="dk1"/>
                </a:solidFill>
                <a:latin typeface="Times New Roman"/>
                <a:ea typeface="Times New Roman"/>
                <a:cs typeface="Times New Roman"/>
                <a:sym typeface="Times New Roman"/>
              </a:rPr>
              <a:t>believing</a:t>
            </a:r>
            <a:r>
              <a:rPr lang="ru" sz="1350">
                <a:solidFill>
                  <a:schemeClr val="dk1"/>
                </a:solidFill>
                <a:latin typeface="Times New Roman"/>
                <a:ea typeface="Times New Roman"/>
                <a:cs typeface="Times New Roman"/>
                <a:sym typeface="Times New Roman"/>
              </a:rPr>
              <a:t> IS also allows us to model issue-directed attitudes like </a:t>
            </a:r>
            <a:r>
              <a:rPr i="1" lang="ru" sz="1350">
                <a:solidFill>
                  <a:schemeClr val="dk1"/>
                </a:solidFill>
                <a:latin typeface="Times New Roman"/>
                <a:ea typeface="Times New Roman"/>
                <a:cs typeface="Times New Roman"/>
                <a:sym typeface="Times New Roman"/>
              </a:rPr>
              <a:t>wondering</a:t>
            </a:r>
            <a:r>
              <a:rPr lang="ru" sz="1350">
                <a:solidFill>
                  <a:schemeClr val="dk1"/>
                </a:solidFill>
                <a:latin typeface="Times New Roman"/>
                <a:ea typeface="Times New Roman"/>
                <a:cs typeface="Times New Roman"/>
                <a:sym typeface="Times New Roman"/>
              </a:rPr>
              <a:t> and </a:t>
            </a:r>
            <a:r>
              <a:rPr i="1" lang="ru" sz="1350">
                <a:solidFill>
                  <a:schemeClr val="dk1"/>
                </a:solidFill>
                <a:latin typeface="Times New Roman"/>
                <a:ea typeface="Times New Roman"/>
                <a:cs typeface="Times New Roman"/>
                <a:sym typeface="Times New Roman"/>
              </a:rPr>
              <a:t>being curious.</a:t>
            </a:r>
            <a:endParaRPr i="1" sz="135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1350">
                <a:solidFill>
                  <a:schemeClr val="dk1"/>
                </a:solidFill>
                <a:latin typeface="Times New Roman"/>
                <a:ea typeface="Times New Roman"/>
                <a:cs typeface="Times New Roman"/>
                <a:sym typeface="Times New Roman"/>
              </a:rPr>
              <a:t>(1)	a. Alice knows that Bob is coming.</a:t>
            </a:r>
            <a:endParaRPr sz="1350">
              <a:solidFill>
                <a:schemeClr val="dk1"/>
              </a:solidFill>
              <a:latin typeface="Times New Roman"/>
              <a:ea typeface="Times New Roman"/>
              <a:cs typeface="Times New Roman"/>
              <a:sym typeface="Times New Roman"/>
            </a:endParaRPr>
          </a:p>
          <a:p>
            <a:pPr indent="457200" lvl="0" marL="0" rtl="0" algn="just">
              <a:spcBef>
                <a:spcPts val="1200"/>
              </a:spcBef>
              <a:spcAft>
                <a:spcPts val="0"/>
              </a:spcAft>
              <a:buNone/>
            </a:pPr>
            <a:r>
              <a:rPr lang="ru" sz="1350">
                <a:solidFill>
                  <a:schemeClr val="dk1"/>
                </a:solidFill>
                <a:latin typeface="Times New Roman"/>
                <a:ea typeface="Times New Roman"/>
                <a:cs typeface="Times New Roman"/>
                <a:sym typeface="Times New Roman"/>
              </a:rPr>
              <a:t>b. Alice knows whether Bob is coming.</a:t>
            </a:r>
            <a:endParaRPr sz="1350">
              <a:solidFill>
                <a:schemeClr val="dk1"/>
              </a:solidFill>
              <a:latin typeface="Times New Roman"/>
              <a:ea typeface="Times New Roman"/>
              <a:cs typeface="Times New Roman"/>
              <a:sym typeface="Times New Roman"/>
            </a:endParaRPr>
          </a:p>
          <a:p>
            <a:pPr indent="457200" lvl="0" marL="0" rtl="0" algn="just">
              <a:spcBef>
                <a:spcPts val="1200"/>
              </a:spcBef>
              <a:spcAft>
                <a:spcPts val="0"/>
              </a:spcAft>
              <a:buNone/>
            </a:pPr>
            <a:r>
              <a:rPr lang="ru" sz="1350">
                <a:solidFill>
                  <a:schemeClr val="dk1"/>
                </a:solidFill>
                <a:latin typeface="Times New Roman"/>
                <a:ea typeface="Times New Roman"/>
                <a:cs typeface="Times New Roman"/>
                <a:sym typeface="Times New Roman"/>
              </a:rPr>
              <a:t>c. Alice knows whether Bob or Charlie is coming.</a:t>
            </a:r>
            <a:endParaRPr sz="1350">
              <a:solidFill>
                <a:schemeClr val="dk1"/>
              </a:solidFill>
              <a:latin typeface="Times New Roman"/>
              <a:ea typeface="Times New Roman"/>
              <a:cs typeface="Times New Roman"/>
              <a:sym typeface="Times New Roman"/>
            </a:endParaRPr>
          </a:p>
          <a:p>
            <a:pPr indent="457200" lvl="0" marL="0" rtl="0" algn="just">
              <a:spcBef>
                <a:spcPts val="1200"/>
              </a:spcBef>
              <a:spcAft>
                <a:spcPts val="0"/>
              </a:spcAft>
              <a:buNone/>
            </a:pPr>
            <a:r>
              <a:rPr lang="ru" sz="1350">
                <a:solidFill>
                  <a:schemeClr val="dk1"/>
                </a:solidFill>
                <a:latin typeface="Times New Roman"/>
                <a:ea typeface="Times New Roman"/>
                <a:cs typeface="Times New Roman"/>
                <a:sym typeface="Times New Roman"/>
              </a:rPr>
              <a:t>d. Alice knows who is coming.</a:t>
            </a:r>
            <a:endParaRPr sz="135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35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1350">
                <a:solidFill>
                  <a:schemeClr val="dk1"/>
                </a:solidFill>
                <a:latin typeface="Times New Roman"/>
                <a:ea typeface="Times New Roman"/>
                <a:cs typeface="Times New Roman"/>
                <a:sym typeface="Times New Roman"/>
              </a:rPr>
              <a:t>(2)	a. Alice wonders whether Bob is coming.</a:t>
            </a:r>
            <a:endParaRPr sz="1350">
              <a:solidFill>
                <a:schemeClr val="dk1"/>
              </a:solidFill>
              <a:latin typeface="Times New Roman"/>
              <a:ea typeface="Times New Roman"/>
              <a:cs typeface="Times New Roman"/>
              <a:sym typeface="Times New Roman"/>
            </a:endParaRPr>
          </a:p>
          <a:p>
            <a:pPr indent="457200" lvl="0" marL="0" rtl="0" algn="just">
              <a:spcBef>
                <a:spcPts val="1200"/>
              </a:spcBef>
              <a:spcAft>
                <a:spcPts val="0"/>
              </a:spcAft>
              <a:buNone/>
            </a:pPr>
            <a:r>
              <a:rPr lang="ru" sz="1350">
                <a:solidFill>
                  <a:schemeClr val="dk1"/>
                </a:solidFill>
                <a:latin typeface="Times New Roman"/>
                <a:ea typeface="Times New Roman"/>
                <a:cs typeface="Times New Roman"/>
                <a:sym typeface="Times New Roman"/>
              </a:rPr>
              <a:t>b. *Alice wonders that Bob is coming.</a:t>
            </a:r>
            <a:endParaRPr sz="1350">
              <a:solidFill>
                <a:schemeClr val="dk1"/>
              </a:solidFill>
              <a:latin typeface="Times New Roman"/>
              <a:ea typeface="Times New Roman"/>
              <a:cs typeface="Times New Roman"/>
              <a:sym typeface="Times New Roman"/>
            </a:endParaRPr>
          </a:p>
          <a:p>
            <a:pPr indent="457200" lvl="0" marL="6400800" rtl="0" algn="just">
              <a:spcBef>
                <a:spcPts val="1200"/>
              </a:spcBef>
              <a:spcAft>
                <a:spcPts val="1200"/>
              </a:spcAft>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8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Inquisitive epistemic models</a:t>
            </a:r>
            <a:endParaRPr sz="2420">
              <a:latin typeface="Times New Roman"/>
              <a:ea typeface="Times New Roman"/>
              <a:cs typeface="Times New Roman"/>
              <a:sym typeface="Times New Roman"/>
            </a:endParaRPr>
          </a:p>
        </p:txBody>
      </p:sp>
      <p:sp>
        <p:nvSpPr>
          <p:cNvPr id="533" name="Google Shape;533;p83"/>
          <p:cNvSpPr txBox="1"/>
          <p:nvPr>
            <p:ph idx="1" type="body"/>
          </p:nvPr>
        </p:nvSpPr>
        <p:spPr>
          <a:xfrm>
            <a:off x="311700" y="1152475"/>
            <a:ext cx="8520600" cy="3888000"/>
          </a:xfrm>
          <a:prstGeom prst="rect">
            <a:avLst/>
          </a:prstGeom>
        </p:spPr>
        <p:txBody>
          <a:bodyPr anchorCtr="0" anchor="t" bIns="91425" lIns="91425" spcFirstLastPara="1" rIns="91425" wrap="square" tIns="91425">
            <a:normAutofit fontScale="55000" lnSpcReduction="10000"/>
          </a:bodyPr>
          <a:lstStyle/>
          <a:p>
            <a:pPr indent="0" lvl="0" marL="0" rtl="0" algn="just">
              <a:spcBef>
                <a:spcPts val="0"/>
              </a:spcBef>
              <a:spcAft>
                <a:spcPts val="0"/>
              </a:spcAft>
              <a:buNone/>
            </a:pPr>
            <a:r>
              <a:t/>
            </a:r>
            <a:endParaRPr sz="135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35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2490">
                <a:solidFill>
                  <a:schemeClr val="dk1"/>
                </a:solidFill>
                <a:latin typeface="Times New Roman"/>
                <a:ea typeface="Times New Roman"/>
                <a:cs typeface="Times New Roman"/>
                <a:sym typeface="Times New Roman"/>
              </a:rPr>
              <a:t>The truth-conditions of Kaϕ are very simple: Kaϕ is true at w just in case ϕ is supported by the epistemic state of a at w. </a:t>
            </a:r>
            <a:endParaRPr sz="2490">
              <a:solidFill>
                <a:schemeClr val="dk1"/>
              </a:solidFill>
              <a:latin typeface="Times New Roman"/>
              <a:ea typeface="Times New Roman"/>
              <a:cs typeface="Times New Roman"/>
              <a:sym typeface="Times New Roman"/>
            </a:endParaRPr>
          </a:p>
          <a:p>
            <a:pPr indent="457200" lvl="0" marL="5486400" rtl="0" algn="just">
              <a:spcBef>
                <a:spcPts val="1200"/>
              </a:spcBef>
              <a:spcAft>
                <a:spcPts val="1200"/>
              </a:spcAft>
              <a:buNone/>
            </a:pPr>
            <a:r>
              <a:rPr lang="ru" sz="2962">
                <a:solidFill>
                  <a:schemeClr val="dk1"/>
                </a:solidFill>
                <a:latin typeface="Times New Roman"/>
                <a:ea typeface="Times New Roman"/>
                <a:cs typeface="Times New Roman"/>
                <a:sym typeface="Times New Roman"/>
              </a:rPr>
              <a:t>Ciardelli et al. 2017</a:t>
            </a:r>
            <a:endParaRPr sz="2962">
              <a:solidFill>
                <a:schemeClr val="dk1"/>
              </a:solidFill>
              <a:latin typeface="Times New Roman"/>
              <a:ea typeface="Times New Roman"/>
              <a:cs typeface="Times New Roman"/>
              <a:sym typeface="Times New Roman"/>
            </a:endParaRPr>
          </a:p>
        </p:txBody>
      </p:sp>
      <p:pic>
        <p:nvPicPr>
          <p:cNvPr id="534" name="Google Shape;534;p83"/>
          <p:cNvPicPr preferRelativeResize="0"/>
          <p:nvPr/>
        </p:nvPicPr>
        <p:blipFill>
          <a:blip r:embed="rId3">
            <a:alphaModFix/>
          </a:blip>
          <a:stretch>
            <a:fillRect/>
          </a:stretch>
        </p:blipFill>
        <p:spPr>
          <a:xfrm>
            <a:off x="672725" y="1225150"/>
            <a:ext cx="6369791" cy="2046575"/>
          </a:xfrm>
          <a:prstGeom prst="rect">
            <a:avLst/>
          </a:prstGeom>
          <a:noFill/>
          <a:ln>
            <a:noFill/>
          </a:ln>
        </p:spPr>
      </p:pic>
      <p:pic>
        <p:nvPicPr>
          <p:cNvPr id="535" name="Google Shape;535;p83"/>
          <p:cNvPicPr preferRelativeResize="0"/>
          <p:nvPr/>
        </p:nvPicPr>
        <p:blipFill>
          <a:blip r:embed="rId4">
            <a:alphaModFix/>
          </a:blip>
          <a:stretch>
            <a:fillRect/>
          </a:stretch>
        </p:blipFill>
        <p:spPr>
          <a:xfrm>
            <a:off x="597700" y="3271725"/>
            <a:ext cx="3625692" cy="413800"/>
          </a:xfrm>
          <a:prstGeom prst="rect">
            <a:avLst/>
          </a:prstGeom>
          <a:noFill/>
          <a:ln>
            <a:noFill/>
          </a:ln>
        </p:spPr>
      </p:pic>
      <p:pic>
        <p:nvPicPr>
          <p:cNvPr id="536" name="Google Shape;536;p83"/>
          <p:cNvPicPr preferRelativeResize="0"/>
          <p:nvPr/>
        </p:nvPicPr>
        <p:blipFill>
          <a:blip r:embed="rId5">
            <a:alphaModFix/>
          </a:blip>
          <a:stretch>
            <a:fillRect/>
          </a:stretch>
        </p:blipFill>
        <p:spPr>
          <a:xfrm>
            <a:off x="554813" y="3685513"/>
            <a:ext cx="2714625" cy="48577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8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Knowledge</a:t>
            </a:r>
            <a:endParaRPr sz="2420">
              <a:latin typeface="Times New Roman"/>
              <a:ea typeface="Times New Roman"/>
              <a:cs typeface="Times New Roman"/>
              <a:sym typeface="Times New Roman"/>
            </a:endParaRPr>
          </a:p>
        </p:txBody>
      </p:sp>
      <p:sp>
        <p:nvSpPr>
          <p:cNvPr id="542" name="Google Shape;542;p84"/>
          <p:cNvSpPr txBox="1"/>
          <p:nvPr>
            <p:ph idx="1" type="body"/>
          </p:nvPr>
        </p:nvSpPr>
        <p:spPr>
          <a:xfrm>
            <a:off x="311700" y="1152475"/>
            <a:ext cx="8520600" cy="3888000"/>
          </a:xfrm>
          <a:prstGeom prst="rect">
            <a:avLst/>
          </a:prstGeom>
        </p:spPr>
        <p:txBody>
          <a:bodyPr anchorCtr="0" anchor="t" bIns="91425" lIns="91425" spcFirstLastPara="1" rIns="91425" wrap="square" tIns="91425">
            <a:normAutofit fontScale="25000" lnSpcReduction="20000"/>
          </a:bodyPr>
          <a:lstStyle/>
          <a:p>
            <a:pPr indent="0" lvl="0" marL="0" rtl="0" algn="just">
              <a:spcBef>
                <a:spcPts val="0"/>
              </a:spcBef>
              <a:spcAft>
                <a:spcPts val="0"/>
              </a:spcAft>
              <a:buNone/>
            </a:pPr>
            <a:r>
              <a:t/>
            </a:r>
            <a:endParaRPr sz="135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35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249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4800">
                <a:solidFill>
                  <a:schemeClr val="dk1"/>
                </a:solidFill>
                <a:latin typeface="Times New Roman"/>
                <a:ea typeface="Times New Roman"/>
                <a:cs typeface="Times New Roman"/>
                <a:sym typeface="Times New Roman"/>
              </a:rPr>
              <a:t>The truth-conditions for these modal formulas are as follows:</a:t>
            </a:r>
            <a:endParaRPr sz="48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4800">
                <a:solidFill>
                  <a:schemeClr val="dk1"/>
                </a:solidFill>
                <a:latin typeface="Times New Roman"/>
                <a:ea typeface="Times New Roman"/>
                <a:cs typeface="Times New Roman"/>
                <a:sym typeface="Times New Roman"/>
              </a:rPr>
              <a:t>A sentence </a:t>
            </a:r>
            <a:r>
              <a:rPr i="1" lang="ru" sz="4800">
                <a:solidFill>
                  <a:schemeClr val="dk1"/>
                </a:solidFill>
                <a:latin typeface="Times New Roman"/>
                <a:ea typeface="Times New Roman"/>
                <a:cs typeface="Times New Roman"/>
                <a:sym typeface="Times New Roman"/>
              </a:rPr>
              <a:t>Alice knows that S</a:t>
            </a:r>
            <a:r>
              <a:rPr lang="ru" sz="4800">
                <a:solidFill>
                  <a:schemeClr val="dk1"/>
                </a:solidFill>
                <a:latin typeface="Times New Roman"/>
                <a:ea typeface="Times New Roman"/>
                <a:cs typeface="Times New Roman"/>
                <a:sym typeface="Times New Roman"/>
              </a:rPr>
              <a:t> is predicted to be true true in case it follows from Alice’s knowledge that S is true. (b) is true in case Alice’s knowledge implies that Bob is coming, or it implies that Bob is not coming; (c) is true in case Alice’s knowledge implies that Bob is coming, or it implies that Charlie is coming; finally, (d) is true in case for each individual d in the domain, Alice’s knowledge implies either that d is coming, or that d is not coming; in other words, (d) is true if Alice’s knowledge determines exactly what is the set of individuals who are coming.											</a:t>
            </a:r>
            <a:endParaRPr sz="4800">
              <a:solidFill>
                <a:schemeClr val="dk1"/>
              </a:solidFill>
              <a:latin typeface="Times New Roman"/>
              <a:ea typeface="Times New Roman"/>
              <a:cs typeface="Times New Roman"/>
              <a:sym typeface="Times New Roman"/>
            </a:endParaRPr>
          </a:p>
          <a:p>
            <a:pPr indent="0" lvl="0" marL="6858000" rtl="0" algn="just">
              <a:spcBef>
                <a:spcPts val="1200"/>
              </a:spcBef>
              <a:spcAft>
                <a:spcPts val="1200"/>
              </a:spcAft>
              <a:buNone/>
            </a:pPr>
            <a:r>
              <a:rPr lang="ru" sz="4800">
                <a:solidFill>
                  <a:schemeClr val="dk1"/>
                </a:solidFill>
                <a:latin typeface="Times New Roman"/>
                <a:ea typeface="Times New Roman"/>
                <a:cs typeface="Times New Roman"/>
                <a:sym typeface="Times New Roman"/>
              </a:rPr>
              <a:t>Ciardelli et al. 2017</a:t>
            </a:r>
            <a:endParaRPr sz="4800">
              <a:solidFill>
                <a:schemeClr val="dk1"/>
              </a:solidFill>
              <a:latin typeface="Times New Roman"/>
              <a:ea typeface="Times New Roman"/>
              <a:cs typeface="Times New Roman"/>
              <a:sym typeface="Times New Roman"/>
            </a:endParaRPr>
          </a:p>
        </p:txBody>
      </p:sp>
      <p:pic>
        <p:nvPicPr>
          <p:cNvPr id="543" name="Google Shape;543;p84"/>
          <p:cNvPicPr preferRelativeResize="0"/>
          <p:nvPr/>
        </p:nvPicPr>
        <p:blipFill>
          <a:blip r:embed="rId3">
            <a:alphaModFix/>
          </a:blip>
          <a:stretch>
            <a:fillRect/>
          </a:stretch>
        </p:blipFill>
        <p:spPr>
          <a:xfrm>
            <a:off x="311938" y="1152475"/>
            <a:ext cx="6085050" cy="980925"/>
          </a:xfrm>
          <a:prstGeom prst="rect">
            <a:avLst/>
          </a:prstGeom>
          <a:noFill/>
          <a:ln>
            <a:noFill/>
          </a:ln>
        </p:spPr>
      </p:pic>
      <p:pic>
        <p:nvPicPr>
          <p:cNvPr id="544" name="Google Shape;544;p84"/>
          <p:cNvPicPr preferRelativeResize="0"/>
          <p:nvPr/>
        </p:nvPicPr>
        <p:blipFill>
          <a:blip r:embed="rId4">
            <a:alphaModFix/>
          </a:blip>
          <a:stretch>
            <a:fillRect/>
          </a:stretch>
        </p:blipFill>
        <p:spPr>
          <a:xfrm>
            <a:off x="421475" y="2652375"/>
            <a:ext cx="5865976" cy="108597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8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Wondering</a:t>
            </a:r>
            <a:endParaRPr sz="2420">
              <a:latin typeface="Times New Roman"/>
              <a:ea typeface="Times New Roman"/>
              <a:cs typeface="Times New Roman"/>
              <a:sym typeface="Times New Roman"/>
            </a:endParaRPr>
          </a:p>
        </p:txBody>
      </p:sp>
      <p:sp>
        <p:nvSpPr>
          <p:cNvPr id="550" name="Google Shape;550;p85"/>
          <p:cNvSpPr txBox="1"/>
          <p:nvPr>
            <p:ph idx="1" type="body"/>
          </p:nvPr>
        </p:nvSpPr>
        <p:spPr>
          <a:xfrm>
            <a:off x="311700" y="1152475"/>
            <a:ext cx="8520600" cy="3888000"/>
          </a:xfrm>
          <a:prstGeom prst="rect">
            <a:avLst/>
          </a:prstGeom>
        </p:spPr>
        <p:txBody>
          <a:bodyPr anchorCtr="0" anchor="t" bIns="91425" lIns="91425" spcFirstLastPara="1" rIns="91425" wrap="square" tIns="91425">
            <a:normAutofit fontScale="25000" lnSpcReduction="10000"/>
          </a:bodyPr>
          <a:lstStyle/>
          <a:p>
            <a:pPr indent="0" lvl="0" marL="0" rtl="0" algn="just">
              <a:spcBef>
                <a:spcPts val="0"/>
              </a:spcBef>
              <a:spcAft>
                <a:spcPts val="0"/>
              </a:spcAft>
              <a:buNone/>
            </a:pPr>
            <a:r>
              <a:rPr lang="ru" sz="5600">
                <a:solidFill>
                  <a:schemeClr val="dk1"/>
                </a:solidFill>
                <a:latin typeface="Times New Roman"/>
                <a:ea typeface="Times New Roman"/>
                <a:cs typeface="Times New Roman"/>
                <a:sym typeface="Times New Roman"/>
              </a:rPr>
              <a:t>For each agent a we also have the modality Ea which allows us to talk about the issues that the agent entertains.</a:t>
            </a:r>
            <a:endParaRPr sz="56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43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43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5600">
                <a:solidFill>
                  <a:schemeClr val="dk1"/>
                </a:solidFill>
                <a:latin typeface="Times New Roman"/>
                <a:ea typeface="Times New Roman"/>
                <a:cs typeface="Times New Roman"/>
                <a:sym typeface="Times New Roman"/>
              </a:rPr>
              <a:t>Given these truth conditions, it is clear that Eaϕ is supported by a state s just in case it is true at any world in s.</a:t>
            </a:r>
            <a:endParaRPr sz="56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43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35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4800">
                <a:solidFill>
                  <a:schemeClr val="dk1"/>
                </a:solidFill>
                <a:latin typeface="Times New Roman"/>
                <a:ea typeface="Times New Roman"/>
                <a:cs typeface="Times New Roman"/>
                <a:sym typeface="Times New Roman"/>
              </a:rPr>
              <a:t>							</a:t>
            </a:r>
            <a:endParaRPr sz="4800">
              <a:solidFill>
                <a:schemeClr val="dk1"/>
              </a:solidFill>
              <a:latin typeface="Times New Roman"/>
              <a:ea typeface="Times New Roman"/>
              <a:cs typeface="Times New Roman"/>
              <a:sym typeface="Times New Roman"/>
            </a:endParaRPr>
          </a:p>
          <a:p>
            <a:pPr indent="0" lvl="0" marL="6858000" rtl="0" algn="just">
              <a:spcBef>
                <a:spcPts val="1200"/>
              </a:spcBef>
              <a:spcAft>
                <a:spcPts val="1200"/>
              </a:spcAft>
              <a:buNone/>
            </a:pPr>
            <a:r>
              <a:rPr lang="ru" sz="4800">
                <a:solidFill>
                  <a:schemeClr val="dk1"/>
                </a:solidFill>
                <a:latin typeface="Times New Roman"/>
                <a:ea typeface="Times New Roman"/>
                <a:cs typeface="Times New Roman"/>
                <a:sym typeface="Times New Roman"/>
              </a:rPr>
              <a:t>Ciardelli et al. 2017</a:t>
            </a:r>
            <a:endParaRPr sz="4800">
              <a:solidFill>
                <a:schemeClr val="dk1"/>
              </a:solidFill>
              <a:latin typeface="Times New Roman"/>
              <a:ea typeface="Times New Roman"/>
              <a:cs typeface="Times New Roman"/>
              <a:sym typeface="Times New Roman"/>
            </a:endParaRPr>
          </a:p>
        </p:txBody>
      </p:sp>
      <p:pic>
        <p:nvPicPr>
          <p:cNvPr id="551" name="Google Shape;551;p85"/>
          <p:cNvPicPr preferRelativeResize="0"/>
          <p:nvPr/>
        </p:nvPicPr>
        <p:blipFill>
          <a:blip r:embed="rId3">
            <a:alphaModFix/>
          </a:blip>
          <a:stretch>
            <a:fillRect/>
          </a:stretch>
        </p:blipFill>
        <p:spPr>
          <a:xfrm>
            <a:off x="147625" y="1519225"/>
            <a:ext cx="4476750" cy="476250"/>
          </a:xfrm>
          <a:prstGeom prst="rect">
            <a:avLst/>
          </a:prstGeom>
          <a:noFill/>
          <a:ln>
            <a:noFill/>
          </a:ln>
        </p:spPr>
      </p:pic>
      <p:pic>
        <p:nvPicPr>
          <p:cNvPr id="552" name="Google Shape;552;p85"/>
          <p:cNvPicPr preferRelativeResize="0"/>
          <p:nvPr/>
        </p:nvPicPr>
        <p:blipFill>
          <a:blip r:embed="rId4">
            <a:alphaModFix/>
          </a:blip>
          <a:stretch>
            <a:fillRect/>
          </a:stretch>
        </p:blipFill>
        <p:spPr>
          <a:xfrm>
            <a:off x="377425" y="1995475"/>
            <a:ext cx="3349413" cy="355525"/>
          </a:xfrm>
          <a:prstGeom prst="rect">
            <a:avLst/>
          </a:prstGeom>
          <a:noFill/>
          <a:ln>
            <a:noFill/>
          </a:ln>
        </p:spPr>
      </p:pic>
      <p:pic>
        <p:nvPicPr>
          <p:cNvPr id="553" name="Google Shape;553;p85"/>
          <p:cNvPicPr preferRelativeResize="0"/>
          <p:nvPr/>
        </p:nvPicPr>
        <p:blipFill>
          <a:blip r:embed="rId5">
            <a:alphaModFix/>
          </a:blip>
          <a:stretch>
            <a:fillRect/>
          </a:stretch>
        </p:blipFill>
        <p:spPr>
          <a:xfrm>
            <a:off x="377425" y="3229688"/>
            <a:ext cx="2152650" cy="50482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8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Wondering</a:t>
            </a:r>
            <a:endParaRPr sz="2420">
              <a:latin typeface="Times New Roman"/>
              <a:ea typeface="Times New Roman"/>
              <a:cs typeface="Times New Roman"/>
              <a:sym typeface="Times New Roman"/>
            </a:endParaRPr>
          </a:p>
        </p:txBody>
      </p:sp>
      <p:sp>
        <p:nvSpPr>
          <p:cNvPr id="559" name="Google Shape;559;p86"/>
          <p:cNvSpPr txBox="1"/>
          <p:nvPr>
            <p:ph idx="1" type="body"/>
          </p:nvPr>
        </p:nvSpPr>
        <p:spPr>
          <a:xfrm>
            <a:off x="311700" y="1152475"/>
            <a:ext cx="8520600" cy="3888000"/>
          </a:xfrm>
          <a:prstGeom prst="rect">
            <a:avLst/>
          </a:prstGeom>
        </p:spPr>
        <p:txBody>
          <a:bodyPr anchorCtr="0" anchor="t" bIns="91425" lIns="91425" spcFirstLastPara="1" rIns="91425" wrap="square" tIns="91425">
            <a:normAutofit fontScale="25000"/>
          </a:bodyPr>
          <a:lstStyle/>
          <a:p>
            <a:pPr indent="0" lvl="0" marL="0" rtl="0" algn="just">
              <a:spcBef>
                <a:spcPts val="0"/>
              </a:spcBef>
              <a:spcAft>
                <a:spcPts val="0"/>
              </a:spcAft>
              <a:buNone/>
            </a:pPr>
            <a:r>
              <a:rPr lang="ru" sz="5600">
                <a:solidFill>
                  <a:schemeClr val="dk1"/>
                </a:solidFill>
                <a:latin typeface="Times New Roman"/>
                <a:ea typeface="Times New Roman"/>
                <a:cs typeface="Times New Roman"/>
                <a:sym typeface="Times New Roman"/>
              </a:rPr>
              <a:t>For each agent a we also have the modality Ea which allows us to talk about the issues that the agent entertains.</a:t>
            </a:r>
            <a:endParaRPr sz="56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5600">
                <a:solidFill>
                  <a:schemeClr val="dk1"/>
                </a:solidFill>
                <a:latin typeface="Times New Roman"/>
                <a:ea typeface="Times New Roman"/>
                <a:cs typeface="Times New Roman"/>
                <a:sym typeface="Times New Roman"/>
              </a:rPr>
              <a:t>Given these truth conditions, it is clear that Eaϕ is supported by a state s just in case it is true at any world in s.</a:t>
            </a:r>
            <a:endParaRPr sz="56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3500">
              <a:solidFill>
                <a:schemeClr val="dk1"/>
              </a:solidFill>
              <a:latin typeface="Times New Roman"/>
              <a:ea typeface="Times New Roman"/>
              <a:cs typeface="Times New Roman"/>
              <a:sym typeface="Times New Roman"/>
            </a:endParaRPr>
          </a:p>
          <a:p>
            <a:pPr indent="-317500" lvl="0" marL="457200" rtl="0" algn="just">
              <a:spcBef>
                <a:spcPts val="1200"/>
              </a:spcBef>
              <a:spcAft>
                <a:spcPts val="0"/>
              </a:spcAft>
              <a:buClr>
                <a:schemeClr val="dk1"/>
              </a:buClr>
              <a:buSzPct val="100000"/>
              <a:buFont typeface="Times New Roman"/>
              <a:buAutoNum type="arabicParenBoth"/>
            </a:pPr>
            <a:r>
              <a:rPr lang="ru" sz="5600">
                <a:solidFill>
                  <a:schemeClr val="dk1"/>
                </a:solidFill>
                <a:latin typeface="Times New Roman"/>
                <a:ea typeface="Times New Roman"/>
                <a:cs typeface="Times New Roman"/>
                <a:sym typeface="Times New Roman"/>
              </a:rPr>
              <a:t>Alice wonders whether Bob is coming. 		Wa?Cb</a:t>
            </a:r>
            <a:endParaRPr sz="56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4800">
                <a:solidFill>
                  <a:schemeClr val="dk1"/>
                </a:solidFill>
                <a:latin typeface="Times New Roman"/>
                <a:ea typeface="Times New Roman"/>
                <a:cs typeface="Times New Roman"/>
                <a:sym typeface="Times New Roman"/>
              </a:rPr>
              <a:t>							</a:t>
            </a:r>
            <a:endParaRPr sz="48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48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4800">
              <a:solidFill>
                <a:schemeClr val="dk1"/>
              </a:solidFill>
              <a:latin typeface="Times New Roman"/>
              <a:ea typeface="Times New Roman"/>
              <a:cs typeface="Times New Roman"/>
              <a:sym typeface="Times New Roman"/>
            </a:endParaRPr>
          </a:p>
          <a:p>
            <a:pPr indent="0" lvl="0" marL="6858000" rtl="0" algn="just">
              <a:spcBef>
                <a:spcPts val="1200"/>
              </a:spcBef>
              <a:spcAft>
                <a:spcPts val="1200"/>
              </a:spcAft>
              <a:buNone/>
            </a:pPr>
            <a:r>
              <a:rPr lang="ru" sz="4800">
                <a:solidFill>
                  <a:schemeClr val="dk1"/>
                </a:solidFill>
                <a:latin typeface="Times New Roman"/>
                <a:ea typeface="Times New Roman"/>
                <a:cs typeface="Times New Roman"/>
                <a:sym typeface="Times New Roman"/>
              </a:rPr>
              <a:t>Ciardelli et al. 2017</a:t>
            </a:r>
            <a:endParaRPr sz="4800">
              <a:solidFill>
                <a:schemeClr val="dk1"/>
              </a:solidFill>
              <a:latin typeface="Times New Roman"/>
              <a:ea typeface="Times New Roman"/>
              <a:cs typeface="Times New Roman"/>
              <a:sym typeface="Times New Roman"/>
            </a:endParaRPr>
          </a:p>
        </p:txBody>
      </p:sp>
      <p:pic>
        <p:nvPicPr>
          <p:cNvPr id="560" name="Google Shape;560;p86"/>
          <p:cNvPicPr preferRelativeResize="0"/>
          <p:nvPr/>
        </p:nvPicPr>
        <p:blipFill>
          <a:blip r:embed="rId3">
            <a:alphaModFix/>
          </a:blip>
          <a:stretch>
            <a:fillRect/>
          </a:stretch>
        </p:blipFill>
        <p:spPr>
          <a:xfrm>
            <a:off x="147625" y="1519225"/>
            <a:ext cx="4022900" cy="427975"/>
          </a:xfrm>
          <a:prstGeom prst="rect">
            <a:avLst/>
          </a:prstGeom>
          <a:noFill/>
          <a:ln>
            <a:noFill/>
          </a:ln>
        </p:spPr>
      </p:pic>
      <p:pic>
        <p:nvPicPr>
          <p:cNvPr id="561" name="Google Shape;561;p86"/>
          <p:cNvPicPr preferRelativeResize="0"/>
          <p:nvPr/>
        </p:nvPicPr>
        <p:blipFill>
          <a:blip r:embed="rId4">
            <a:alphaModFix/>
          </a:blip>
          <a:stretch>
            <a:fillRect/>
          </a:stretch>
        </p:blipFill>
        <p:spPr>
          <a:xfrm>
            <a:off x="460775" y="2333025"/>
            <a:ext cx="1824956" cy="427975"/>
          </a:xfrm>
          <a:prstGeom prst="rect">
            <a:avLst/>
          </a:prstGeom>
          <a:noFill/>
          <a:ln>
            <a:noFill/>
          </a:ln>
        </p:spPr>
      </p:pic>
      <p:pic>
        <p:nvPicPr>
          <p:cNvPr id="562" name="Google Shape;562;p86"/>
          <p:cNvPicPr preferRelativeResize="0"/>
          <p:nvPr/>
        </p:nvPicPr>
        <p:blipFill>
          <a:blip r:embed="rId5">
            <a:alphaModFix/>
          </a:blip>
          <a:stretch>
            <a:fillRect/>
          </a:stretch>
        </p:blipFill>
        <p:spPr>
          <a:xfrm>
            <a:off x="460773" y="3081750"/>
            <a:ext cx="6330034" cy="1035100"/>
          </a:xfrm>
          <a:prstGeom prst="rect">
            <a:avLst/>
          </a:prstGeom>
          <a:noFill/>
          <a:ln>
            <a:noFill/>
          </a:ln>
        </p:spPr>
      </p:pic>
      <p:pic>
        <p:nvPicPr>
          <p:cNvPr id="563" name="Google Shape;563;p86"/>
          <p:cNvPicPr preferRelativeResize="0"/>
          <p:nvPr/>
        </p:nvPicPr>
        <p:blipFill>
          <a:blip r:embed="rId6">
            <a:alphaModFix/>
          </a:blip>
          <a:stretch>
            <a:fillRect/>
          </a:stretch>
        </p:blipFill>
        <p:spPr>
          <a:xfrm>
            <a:off x="623625" y="4224000"/>
            <a:ext cx="6517926" cy="5181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8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Wondering</a:t>
            </a:r>
            <a:endParaRPr sz="2420">
              <a:latin typeface="Times New Roman"/>
              <a:ea typeface="Times New Roman"/>
              <a:cs typeface="Times New Roman"/>
              <a:sym typeface="Times New Roman"/>
            </a:endParaRPr>
          </a:p>
        </p:txBody>
      </p:sp>
      <p:sp>
        <p:nvSpPr>
          <p:cNvPr id="569" name="Google Shape;569;p87"/>
          <p:cNvSpPr txBox="1"/>
          <p:nvPr>
            <p:ph idx="1" type="body"/>
          </p:nvPr>
        </p:nvSpPr>
        <p:spPr>
          <a:xfrm>
            <a:off x="311700" y="1152475"/>
            <a:ext cx="8520600" cy="3888000"/>
          </a:xfrm>
          <a:prstGeom prst="rect">
            <a:avLst/>
          </a:prstGeom>
        </p:spPr>
        <p:txBody>
          <a:bodyPr anchorCtr="0" anchor="t" bIns="91425" lIns="91425" spcFirstLastPara="1" rIns="91425" wrap="square" tIns="91425">
            <a:normAutofit fontScale="25000" lnSpcReduction="20000"/>
          </a:bodyPr>
          <a:lstStyle/>
          <a:p>
            <a:pPr indent="-317500" lvl="0" marL="457200" rtl="0" algn="just">
              <a:spcBef>
                <a:spcPts val="0"/>
              </a:spcBef>
              <a:spcAft>
                <a:spcPts val="0"/>
              </a:spcAft>
              <a:buClr>
                <a:schemeClr val="dk1"/>
              </a:buClr>
              <a:buSzPct val="100000"/>
              <a:buFont typeface="Times New Roman"/>
              <a:buAutoNum type="arabicParenBoth"/>
            </a:pPr>
            <a:r>
              <a:rPr lang="ru" sz="5600">
                <a:solidFill>
                  <a:schemeClr val="dk1"/>
                </a:solidFill>
                <a:latin typeface="Times New Roman"/>
                <a:ea typeface="Times New Roman"/>
                <a:cs typeface="Times New Roman"/>
                <a:sym typeface="Times New Roman"/>
              </a:rPr>
              <a:t>Alice wonders whether Bob is coming. 		Wa?Cb</a:t>
            </a:r>
            <a:endParaRPr sz="56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4800">
                <a:solidFill>
                  <a:schemeClr val="dk1"/>
                </a:solidFill>
                <a:latin typeface="Times New Roman"/>
                <a:ea typeface="Times New Roman"/>
                <a:cs typeface="Times New Roman"/>
                <a:sym typeface="Times New Roman"/>
              </a:rPr>
              <a:t>							</a:t>
            </a:r>
            <a:endParaRPr sz="48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48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48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48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48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5600">
                <a:solidFill>
                  <a:schemeClr val="dk1"/>
                </a:solidFill>
                <a:latin typeface="Times New Roman"/>
                <a:ea typeface="Times New Roman"/>
                <a:cs typeface="Times New Roman"/>
                <a:sym typeface="Times New Roman"/>
              </a:rPr>
              <a:t>C</a:t>
            </a:r>
            <a:r>
              <a:rPr lang="ru" sz="5600">
                <a:solidFill>
                  <a:schemeClr val="dk1"/>
                </a:solidFill>
                <a:latin typeface="Times New Roman"/>
                <a:ea typeface="Times New Roman"/>
                <a:cs typeface="Times New Roman"/>
                <a:sym typeface="Times New Roman"/>
              </a:rPr>
              <a:t>ondition (i) means that Alice’s current knowledge does not determine whether Bob is coming; condition (ii) means that resolving Alice’s issues is bound to lead to a state that determines whether Bob is coming; in other words, Alice’s issues are not resolved unless it is established whether Bob is coming or not.</a:t>
            </a:r>
            <a:endParaRPr sz="56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0" lvl="0" marL="6858000" rtl="0" algn="just">
              <a:spcBef>
                <a:spcPts val="1200"/>
              </a:spcBef>
              <a:spcAft>
                <a:spcPts val="1200"/>
              </a:spcAft>
              <a:buNone/>
            </a:pPr>
            <a:r>
              <a:rPr lang="ru" sz="5600">
                <a:solidFill>
                  <a:schemeClr val="dk1"/>
                </a:solidFill>
                <a:latin typeface="Times New Roman"/>
                <a:ea typeface="Times New Roman"/>
                <a:cs typeface="Times New Roman"/>
                <a:sym typeface="Times New Roman"/>
              </a:rPr>
              <a:t>Ciardelli et al. 2017</a:t>
            </a:r>
            <a:endParaRPr sz="5600">
              <a:solidFill>
                <a:schemeClr val="dk1"/>
              </a:solidFill>
              <a:latin typeface="Times New Roman"/>
              <a:ea typeface="Times New Roman"/>
              <a:cs typeface="Times New Roman"/>
              <a:sym typeface="Times New Roman"/>
            </a:endParaRPr>
          </a:p>
        </p:txBody>
      </p:sp>
      <p:pic>
        <p:nvPicPr>
          <p:cNvPr id="570" name="Google Shape;570;p87"/>
          <p:cNvPicPr preferRelativeResize="0"/>
          <p:nvPr/>
        </p:nvPicPr>
        <p:blipFill>
          <a:blip r:embed="rId3">
            <a:alphaModFix/>
          </a:blip>
          <a:stretch>
            <a:fillRect/>
          </a:stretch>
        </p:blipFill>
        <p:spPr>
          <a:xfrm>
            <a:off x="311698" y="1699425"/>
            <a:ext cx="6330034" cy="1035100"/>
          </a:xfrm>
          <a:prstGeom prst="rect">
            <a:avLst/>
          </a:prstGeom>
          <a:noFill/>
          <a:ln>
            <a:noFill/>
          </a:ln>
        </p:spPr>
      </p:pic>
      <p:pic>
        <p:nvPicPr>
          <p:cNvPr id="571" name="Google Shape;571;p87"/>
          <p:cNvPicPr preferRelativeResize="0"/>
          <p:nvPr/>
        </p:nvPicPr>
        <p:blipFill>
          <a:blip r:embed="rId4">
            <a:alphaModFix/>
          </a:blip>
          <a:stretch>
            <a:fillRect/>
          </a:stretch>
        </p:blipFill>
        <p:spPr>
          <a:xfrm>
            <a:off x="484300" y="2837425"/>
            <a:ext cx="6517926" cy="5181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8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Wondering</a:t>
            </a:r>
            <a:endParaRPr sz="2420">
              <a:latin typeface="Times New Roman"/>
              <a:ea typeface="Times New Roman"/>
              <a:cs typeface="Times New Roman"/>
              <a:sym typeface="Times New Roman"/>
            </a:endParaRPr>
          </a:p>
        </p:txBody>
      </p:sp>
      <p:sp>
        <p:nvSpPr>
          <p:cNvPr id="577" name="Google Shape;577;p88"/>
          <p:cNvSpPr txBox="1"/>
          <p:nvPr>
            <p:ph idx="1" type="body"/>
          </p:nvPr>
        </p:nvSpPr>
        <p:spPr>
          <a:xfrm>
            <a:off x="311700" y="1152475"/>
            <a:ext cx="8520600" cy="3888000"/>
          </a:xfrm>
          <a:prstGeom prst="rect">
            <a:avLst/>
          </a:prstGeom>
        </p:spPr>
        <p:txBody>
          <a:bodyPr anchorCtr="0" anchor="t" bIns="91425" lIns="91425" spcFirstLastPara="1" rIns="91425" wrap="square" tIns="91425">
            <a:normAutofit fontScale="55000" lnSpcReduction="20000"/>
          </a:bodyPr>
          <a:lstStyle/>
          <a:p>
            <a:pPr indent="-380064" lvl="0" marL="457200" rtl="0" algn="just">
              <a:spcBef>
                <a:spcPts val="0"/>
              </a:spcBef>
              <a:spcAft>
                <a:spcPts val="0"/>
              </a:spcAft>
              <a:buClr>
                <a:schemeClr val="dk1"/>
              </a:buClr>
              <a:buSzPct val="100000"/>
              <a:buFont typeface="Times New Roman"/>
              <a:buAutoNum type="arabicParenBoth"/>
            </a:pPr>
            <a:r>
              <a:rPr lang="ru" sz="4336">
                <a:solidFill>
                  <a:schemeClr val="dk1"/>
                </a:solidFill>
                <a:latin typeface="Times New Roman"/>
                <a:ea typeface="Times New Roman"/>
                <a:cs typeface="Times New Roman"/>
                <a:sym typeface="Times New Roman"/>
              </a:rPr>
              <a:t>*</a:t>
            </a:r>
            <a:r>
              <a:rPr lang="ru" sz="4336">
                <a:solidFill>
                  <a:schemeClr val="dk1"/>
                </a:solidFill>
                <a:latin typeface="Times New Roman"/>
                <a:ea typeface="Times New Roman"/>
                <a:cs typeface="Times New Roman"/>
                <a:sym typeface="Times New Roman"/>
              </a:rPr>
              <a:t>Alice wonders that Bob is coming. </a:t>
            </a:r>
            <a:r>
              <a:rPr lang="ru" sz="4547">
                <a:solidFill>
                  <a:schemeClr val="dk1"/>
                </a:solidFill>
                <a:latin typeface="Times New Roman"/>
                <a:ea typeface="Times New Roman"/>
                <a:cs typeface="Times New Roman"/>
                <a:sym typeface="Times New Roman"/>
              </a:rPr>
              <a:t>	</a:t>
            </a:r>
            <a:r>
              <a:rPr lang="ru" sz="5600">
                <a:solidFill>
                  <a:schemeClr val="dk1"/>
                </a:solidFill>
                <a:latin typeface="Times New Roman"/>
                <a:ea typeface="Times New Roman"/>
                <a:cs typeface="Times New Roman"/>
                <a:sym typeface="Times New Roman"/>
              </a:rPr>
              <a:t>	</a:t>
            </a:r>
            <a:endParaRPr sz="56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4800">
                <a:solidFill>
                  <a:schemeClr val="dk1"/>
                </a:solidFill>
                <a:latin typeface="Times New Roman"/>
                <a:ea typeface="Times New Roman"/>
                <a:cs typeface="Times New Roman"/>
                <a:sym typeface="Times New Roman"/>
              </a:rPr>
              <a:t>							</a:t>
            </a:r>
            <a:endParaRPr sz="48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4336">
                <a:solidFill>
                  <a:schemeClr val="dk1"/>
                </a:solidFill>
                <a:latin typeface="Times New Roman"/>
                <a:ea typeface="Times New Roman"/>
                <a:cs typeface="Times New Roman"/>
                <a:sym typeface="Times New Roman"/>
              </a:rPr>
              <a:t>Combining </a:t>
            </a:r>
            <a:r>
              <a:rPr i="1" lang="ru" sz="4336">
                <a:solidFill>
                  <a:schemeClr val="dk1"/>
                </a:solidFill>
                <a:latin typeface="Times New Roman"/>
                <a:ea typeface="Times New Roman"/>
                <a:cs typeface="Times New Roman"/>
                <a:sym typeface="Times New Roman"/>
              </a:rPr>
              <a:t>wonder </a:t>
            </a:r>
            <a:r>
              <a:rPr lang="ru" sz="4336">
                <a:solidFill>
                  <a:schemeClr val="dk1"/>
                </a:solidFill>
                <a:latin typeface="Times New Roman"/>
                <a:ea typeface="Times New Roman"/>
                <a:cs typeface="Times New Roman"/>
                <a:sym typeface="Times New Roman"/>
              </a:rPr>
              <a:t>with a declarative complement systematically results in a contradiction.</a:t>
            </a:r>
            <a:endParaRPr sz="4336">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457200" lvl="0" marL="5029200" rtl="0" algn="just">
              <a:spcBef>
                <a:spcPts val="1200"/>
              </a:spcBef>
              <a:spcAft>
                <a:spcPts val="1200"/>
              </a:spcAft>
              <a:buNone/>
            </a:pPr>
            <a:r>
              <a:rPr lang="ru" sz="3877">
                <a:solidFill>
                  <a:schemeClr val="dk1"/>
                </a:solidFill>
                <a:latin typeface="Times New Roman"/>
                <a:ea typeface="Times New Roman"/>
                <a:cs typeface="Times New Roman"/>
                <a:sym typeface="Times New Roman"/>
              </a:rPr>
              <a:t>Ciardelli et al. 2017</a:t>
            </a:r>
            <a:endParaRPr sz="3877">
              <a:solidFill>
                <a:schemeClr val="dk1"/>
              </a:solidFill>
              <a:latin typeface="Times New Roman"/>
              <a:ea typeface="Times New Roman"/>
              <a:cs typeface="Times New Roman"/>
              <a:sym typeface="Times New Roman"/>
            </a:endParaRPr>
          </a:p>
        </p:txBody>
      </p:sp>
      <p:pic>
        <p:nvPicPr>
          <p:cNvPr id="578" name="Google Shape;578;p88"/>
          <p:cNvPicPr preferRelativeResize="0"/>
          <p:nvPr/>
        </p:nvPicPr>
        <p:blipFill>
          <a:blip r:embed="rId3">
            <a:alphaModFix/>
          </a:blip>
          <a:stretch>
            <a:fillRect/>
          </a:stretch>
        </p:blipFill>
        <p:spPr>
          <a:xfrm>
            <a:off x="422675" y="1639488"/>
            <a:ext cx="5105400" cy="600075"/>
          </a:xfrm>
          <a:prstGeom prst="rect">
            <a:avLst/>
          </a:prstGeom>
          <a:noFill/>
          <a:ln>
            <a:noFill/>
          </a:ln>
        </p:spPr>
      </p:pic>
      <p:pic>
        <p:nvPicPr>
          <p:cNvPr id="579" name="Google Shape;579;p88"/>
          <p:cNvPicPr preferRelativeResize="0"/>
          <p:nvPr/>
        </p:nvPicPr>
        <p:blipFill>
          <a:blip r:embed="rId4">
            <a:alphaModFix/>
          </a:blip>
          <a:stretch>
            <a:fillRect/>
          </a:stretch>
        </p:blipFill>
        <p:spPr>
          <a:xfrm>
            <a:off x="6549650" y="1291025"/>
            <a:ext cx="803425" cy="34847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Wondering</a:t>
            </a:r>
            <a:endParaRPr sz="2420">
              <a:latin typeface="Times New Roman"/>
              <a:ea typeface="Times New Roman"/>
              <a:cs typeface="Times New Roman"/>
              <a:sym typeface="Times New Roman"/>
            </a:endParaRPr>
          </a:p>
        </p:txBody>
      </p:sp>
      <p:sp>
        <p:nvSpPr>
          <p:cNvPr id="585" name="Google Shape;585;p89"/>
          <p:cNvSpPr txBox="1"/>
          <p:nvPr>
            <p:ph idx="1" type="body"/>
          </p:nvPr>
        </p:nvSpPr>
        <p:spPr>
          <a:xfrm>
            <a:off x="311700" y="1152475"/>
            <a:ext cx="8520600" cy="3888000"/>
          </a:xfrm>
          <a:prstGeom prst="rect">
            <a:avLst/>
          </a:prstGeom>
        </p:spPr>
        <p:txBody>
          <a:bodyPr anchorCtr="0" anchor="t" bIns="91425" lIns="91425" spcFirstLastPara="1" rIns="91425" wrap="square" tIns="91425">
            <a:normAutofit fontScale="47500" lnSpcReduction="20000"/>
          </a:bodyPr>
          <a:lstStyle/>
          <a:p>
            <a:pPr indent="0" lvl="0" marL="0" rtl="0" algn="just">
              <a:spcBef>
                <a:spcPts val="0"/>
              </a:spcBef>
              <a:spcAft>
                <a:spcPts val="0"/>
              </a:spcAft>
              <a:buNone/>
            </a:pPr>
            <a:r>
              <a:rPr lang="ru" sz="3536">
                <a:solidFill>
                  <a:schemeClr val="dk1"/>
                </a:solidFill>
                <a:latin typeface="Times New Roman"/>
                <a:ea typeface="Times New Roman"/>
                <a:cs typeface="Times New Roman"/>
                <a:sym typeface="Times New Roman"/>
              </a:rPr>
              <a:t>The solid blocks represent the maximal elements of the agent’s inquisitive state, while the dashed area—corresponding to the union of these blocks—represents the agent’s knowledge. </a:t>
            </a:r>
            <a:r>
              <a:rPr lang="ru" sz="3536">
                <a:solidFill>
                  <a:schemeClr val="dk1"/>
                </a:solidFill>
                <a:latin typeface="Times New Roman"/>
                <a:ea typeface="Times New Roman"/>
                <a:cs typeface="Times New Roman"/>
                <a:sym typeface="Times New Roman"/>
              </a:rPr>
              <a:t>	</a:t>
            </a:r>
            <a:endParaRPr sz="3536">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lang="ru" sz="3536">
                <a:solidFill>
                  <a:schemeClr val="dk1"/>
                </a:solidFill>
                <a:latin typeface="Times New Roman"/>
                <a:ea typeface="Times New Roman"/>
                <a:cs typeface="Times New Roman"/>
                <a:sym typeface="Times New Roman"/>
              </a:rPr>
              <a:t>Who </a:t>
            </a:r>
            <a:r>
              <a:rPr lang="ru" sz="3536">
                <a:solidFill>
                  <a:schemeClr val="dk1"/>
                </a:solidFill>
                <a:latin typeface="Times New Roman"/>
                <a:ea typeface="Times New Roman"/>
                <a:cs typeface="Times New Roman"/>
                <a:sym typeface="Times New Roman"/>
              </a:rPr>
              <a:t>wonders whether p? Alice, Bob, or Charlie?</a:t>
            </a:r>
            <a:r>
              <a:rPr lang="ru" sz="3536">
                <a:solidFill>
                  <a:schemeClr val="dk1"/>
                </a:solidFill>
                <a:latin typeface="Times New Roman"/>
                <a:ea typeface="Times New Roman"/>
                <a:cs typeface="Times New Roman"/>
                <a:sym typeface="Times New Roman"/>
              </a:rPr>
              <a:t>	</a:t>
            </a:r>
            <a:endParaRPr sz="3536">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457200" lvl="0" marL="5486400" rtl="0" algn="just">
              <a:spcBef>
                <a:spcPts val="1200"/>
              </a:spcBef>
              <a:spcAft>
                <a:spcPts val="0"/>
              </a:spcAft>
              <a:buNone/>
            </a:pPr>
            <a:r>
              <a:t/>
            </a:r>
            <a:endParaRPr sz="3915">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sz="3915">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sz="3915">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sz="3915">
                <a:solidFill>
                  <a:schemeClr val="dk1"/>
                </a:solidFill>
                <a:latin typeface="Times New Roman"/>
                <a:ea typeface="Times New Roman"/>
                <a:cs typeface="Times New Roman"/>
                <a:sym typeface="Times New Roman"/>
              </a:rPr>
              <a:t>Ciardelli et al. 2017</a:t>
            </a:r>
            <a:endParaRPr sz="3915">
              <a:solidFill>
                <a:schemeClr val="dk1"/>
              </a:solidFill>
              <a:latin typeface="Times New Roman"/>
              <a:ea typeface="Times New Roman"/>
              <a:cs typeface="Times New Roman"/>
              <a:sym typeface="Times New Roman"/>
            </a:endParaRPr>
          </a:p>
        </p:txBody>
      </p:sp>
      <p:pic>
        <p:nvPicPr>
          <p:cNvPr id="586" name="Google Shape;586;p89"/>
          <p:cNvPicPr preferRelativeResize="0"/>
          <p:nvPr/>
        </p:nvPicPr>
        <p:blipFill>
          <a:blip r:embed="rId3">
            <a:alphaModFix/>
          </a:blip>
          <a:stretch>
            <a:fillRect/>
          </a:stretch>
        </p:blipFill>
        <p:spPr>
          <a:xfrm>
            <a:off x="311700" y="2426025"/>
            <a:ext cx="8682800" cy="21644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9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Wondering</a:t>
            </a:r>
            <a:endParaRPr sz="2420">
              <a:latin typeface="Times New Roman"/>
              <a:ea typeface="Times New Roman"/>
              <a:cs typeface="Times New Roman"/>
              <a:sym typeface="Times New Roman"/>
            </a:endParaRPr>
          </a:p>
        </p:txBody>
      </p:sp>
      <p:sp>
        <p:nvSpPr>
          <p:cNvPr id="592" name="Google Shape;592;p90"/>
          <p:cNvSpPr txBox="1"/>
          <p:nvPr>
            <p:ph idx="1" type="body"/>
          </p:nvPr>
        </p:nvSpPr>
        <p:spPr>
          <a:xfrm>
            <a:off x="311700" y="1152475"/>
            <a:ext cx="8520600" cy="3888000"/>
          </a:xfrm>
          <a:prstGeom prst="rect">
            <a:avLst/>
          </a:prstGeom>
        </p:spPr>
        <p:txBody>
          <a:bodyPr anchorCtr="0" anchor="t" bIns="91425" lIns="91425" spcFirstLastPara="1" rIns="91425" wrap="square" tIns="91425">
            <a:normAutofit/>
          </a:bodyPr>
          <a:lstStyle/>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The solid blocks represent the maximal elements of the agent’s inquisitive state, while the dashed area—corresponding to the union of these blocks—represents the agent’s knowledge. 	</a:t>
            </a:r>
            <a:endParaRPr sz="1400">
              <a:solidFill>
                <a:schemeClr val="dk1"/>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Alice’s epistemic state implies that p is true and thereby supports the question: thus, Ka?p is true, i.e., Alice knows whether p. From this it follows that Wa?p is false (because the condition ¬Ka?p fails), i.e., Alice does not wonder whether p.		</a:t>
            </a:r>
            <a:endParaRPr sz="14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457200" lvl="0" marL="50292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457200" lvl="0" marL="50292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457200" lvl="0" marL="5029200" rtl="0" algn="just">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457200" lvl="0" marL="5029200" rtl="0" algn="just">
              <a:spcBef>
                <a:spcPts val="1200"/>
              </a:spcBef>
              <a:spcAft>
                <a:spcPts val="1200"/>
              </a:spcAft>
              <a:buNone/>
            </a:pPr>
            <a:r>
              <a:rPr lang="ru" sz="1400">
                <a:solidFill>
                  <a:schemeClr val="dk1"/>
                </a:solidFill>
                <a:latin typeface="Times New Roman"/>
                <a:ea typeface="Times New Roman"/>
                <a:cs typeface="Times New Roman"/>
                <a:sym typeface="Times New Roman"/>
              </a:rPr>
              <a:t>Ciardelli et al. 2017</a:t>
            </a:r>
            <a:endParaRPr sz="1400">
              <a:solidFill>
                <a:schemeClr val="dk1"/>
              </a:solidFill>
              <a:latin typeface="Times New Roman"/>
              <a:ea typeface="Times New Roman"/>
              <a:cs typeface="Times New Roman"/>
              <a:sym typeface="Times New Roman"/>
            </a:endParaRPr>
          </a:p>
        </p:txBody>
      </p:sp>
      <p:pic>
        <p:nvPicPr>
          <p:cNvPr id="593" name="Google Shape;593;p90"/>
          <p:cNvPicPr preferRelativeResize="0"/>
          <p:nvPr/>
        </p:nvPicPr>
        <p:blipFill>
          <a:blip r:embed="rId3">
            <a:alphaModFix/>
          </a:blip>
          <a:stretch>
            <a:fillRect/>
          </a:stretch>
        </p:blipFill>
        <p:spPr>
          <a:xfrm>
            <a:off x="579550" y="2554600"/>
            <a:ext cx="6534076" cy="162877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9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Wondering</a:t>
            </a:r>
            <a:endParaRPr sz="2420">
              <a:latin typeface="Times New Roman"/>
              <a:ea typeface="Times New Roman"/>
              <a:cs typeface="Times New Roman"/>
              <a:sym typeface="Times New Roman"/>
            </a:endParaRPr>
          </a:p>
        </p:txBody>
      </p:sp>
      <p:sp>
        <p:nvSpPr>
          <p:cNvPr id="599" name="Google Shape;599;p91"/>
          <p:cNvSpPr txBox="1"/>
          <p:nvPr>
            <p:ph idx="1" type="body"/>
          </p:nvPr>
        </p:nvSpPr>
        <p:spPr>
          <a:xfrm>
            <a:off x="311700" y="1152475"/>
            <a:ext cx="8520600" cy="3888000"/>
          </a:xfrm>
          <a:prstGeom prst="rect">
            <a:avLst/>
          </a:prstGeom>
        </p:spPr>
        <p:txBody>
          <a:bodyPr anchorCtr="0" anchor="t" bIns="91425" lIns="91425" spcFirstLastPara="1" rIns="91425" wrap="square" tIns="91425">
            <a:normAutofit fontScale="32500" lnSpcReduction="20000"/>
          </a:bodyPr>
          <a:lstStyle/>
          <a:p>
            <a:pPr indent="-327660" lvl="0" marL="457200" rtl="0" algn="just">
              <a:spcBef>
                <a:spcPts val="0"/>
              </a:spcBef>
              <a:spcAft>
                <a:spcPts val="0"/>
              </a:spcAft>
              <a:buClr>
                <a:schemeClr val="dk1"/>
              </a:buClr>
              <a:buSzPct val="100000"/>
              <a:buFont typeface="Times New Roman"/>
              <a:buChar char="●"/>
            </a:pPr>
            <a:r>
              <a:rPr lang="ru" sz="4800">
                <a:solidFill>
                  <a:schemeClr val="dk1"/>
                </a:solidFill>
                <a:latin typeface="Times New Roman"/>
                <a:ea typeface="Times New Roman"/>
                <a:cs typeface="Times New Roman"/>
                <a:sym typeface="Times New Roman"/>
              </a:rPr>
              <a:t>The solid blocks represent the maximal elements of the agent’s inquisitive state, while the dashed area—corresponding to the union of these blocks—represents the agent’s knowledge. 		</a:t>
            </a:r>
            <a:endParaRPr sz="4800">
              <a:solidFill>
                <a:schemeClr val="dk1"/>
              </a:solidFill>
              <a:latin typeface="Times New Roman"/>
              <a:ea typeface="Times New Roman"/>
              <a:cs typeface="Times New Roman"/>
              <a:sym typeface="Times New Roman"/>
            </a:endParaRPr>
          </a:p>
          <a:p>
            <a:pPr indent="-327660" lvl="0" marL="457200" rtl="0" algn="just">
              <a:spcBef>
                <a:spcPts val="0"/>
              </a:spcBef>
              <a:spcAft>
                <a:spcPts val="0"/>
              </a:spcAft>
              <a:buClr>
                <a:schemeClr val="dk1"/>
              </a:buClr>
              <a:buSzPct val="100000"/>
              <a:buFont typeface="Times New Roman"/>
              <a:buChar char="●"/>
            </a:pPr>
            <a:r>
              <a:rPr lang="ru" sz="4800">
                <a:solidFill>
                  <a:schemeClr val="dk1"/>
                </a:solidFill>
                <a:latin typeface="Times New Roman"/>
                <a:ea typeface="Times New Roman"/>
                <a:cs typeface="Times New Roman"/>
                <a:sym typeface="Times New Roman"/>
              </a:rPr>
              <a:t>Bob’s epistemic state is trivial, and it does not support the question ?p. Thus, Kb?p is false, i.e., Bob does not know whether p. On the other hand, the information states where Bob’s issues are resolved—the elements of Σb(w)—are precisely the information states in which ?p is supported. This means that Eb?p is true. Together with ¬Kb?p, this implies that Wb?p is true, i.e., Bob wonders whether p.		</a:t>
            </a:r>
            <a:endParaRPr sz="48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457200" lvl="0" marL="502920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457200" lvl="0" marL="502920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457200" lvl="0" marL="5486400" rtl="0" algn="just">
              <a:spcBef>
                <a:spcPts val="1200"/>
              </a:spcBef>
              <a:spcAft>
                <a:spcPts val="1200"/>
              </a:spcAft>
              <a:buNone/>
            </a:pPr>
            <a:r>
              <a:rPr lang="ru" sz="5600">
                <a:solidFill>
                  <a:schemeClr val="dk1"/>
                </a:solidFill>
                <a:latin typeface="Times New Roman"/>
                <a:ea typeface="Times New Roman"/>
                <a:cs typeface="Times New Roman"/>
                <a:sym typeface="Times New Roman"/>
              </a:rPr>
              <a:t>Ciardelli et al. 2017</a:t>
            </a:r>
            <a:endParaRPr sz="5600">
              <a:solidFill>
                <a:schemeClr val="dk1"/>
              </a:solidFill>
              <a:latin typeface="Times New Roman"/>
              <a:ea typeface="Times New Roman"/>
              <a:cs typeface="Times New Roman"/>
              <a:sym typeface="Times New Roman"/>
            </a:endParaRPr>
          </a:p>
        </p:txBody>
      </p:sp>
      <p:pic>
        <p:nvPicPr>
          <p:cNvPr id="600" name="Google Shape;600;p91"/>
          <p:cNvPicPr preferRelativeResize="0"/>
          <p:nvPr/>
        </p:nvPicPr>
        <p:blipFill>
          <a:blip r:embed="rId3">
            <a:alphaModFix/>
          </a:blip>
          <a:stretch>
            <a:fillRect/>
          </a:stretch>
        </p:blipFill>
        <p:spPr>
          <a:xfrm>
            <a:off x="868900" y="2841625"/>
            <a:ext cx="6366301" cy="158695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9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Wondering</a:t>
            </a:r>
            <a:endParaRPr sz="2420">
              <a:latin typeface="Times New Roman"/>
              <a:ea typeface="Times New Roman"/>
              <a:cs typeface="Times New Roman"/>
              <a:sym typeface="Times New Roman"/>
            </a:endParaRPr>
          </a:p>
        </p:txBody>
      </p:sp>
      <p:sp>
        <p:nvSpPr>
          <p:cNvPr id="606" name="Google Shape;606;p92"/>
          <p:cNvSpPr txBox="1"/>
          <p:nvPr>
            <p:ph idx="1" type="body"/>
          </p:nvPr>
        </p:nvSpPr>
        <p:spPr>
          <a:xfrm>
            <a:off x="311700" y="1152475"/>
            <a:ext cx="8520600" cy="3888000"/>
          </a:xfrm>
          <a:prstGeom prst="rect">
            <a:avLst/>
          </a:prstGeom>
        </p:spPr>
        <p:txBody>
          <a:bodyPr anchorCtr="0" anchor="t" bIns="91425" lIns="91425" spcFirstLastPara="1" rIns="91425" wrap="square" tIns="91425">
            <a:normAutofit fontScale="32500" lnSpcReduction="10000"/>
          </a:bodyPr>
          <a:lstStyle/>
          <a:p>
            <a:pPr indent="-327660" lvl="0" marL="457200" rtl="0" algn="just">
              <a:spcBef>
                <a:spcPts val="0"/>
              </a:spcBef>
              <a:spcAft>
                <a:spcPts val="0"/>
              </a:spcAft>
              <a:buClr>
                <a:schemeClr val="dk1"/>
              </a:buClr>
              <a:buSzPct val="100000"/>
              <a:buFont typeface="Times New Roman"/>
              <a:buChar char="●"/>
            </a:pPr>
            <a:r>
              <a:rPr lang="ru" sz="4800">
                <a:solidFill>
                  <a:schemeClr val="dk1"/>
                </a:solidFill>
                <a:latin typeface="Times New Roman"/>
                <a:ea typeface="Times New Roman"/>
                <a:cs typeface="Times New Roman"/>
                <a:sym typeface="Times New Roman"/>
              </a:rPr>
              <a:t>The solid blocks represent the maximal elements of the agent’s inquisitive state, while the dashed area—corresponding to the union of these blocks—represents the agent’s knowledge. 	</a:t>
            </a:r>
            <a:endParaRPr sz="4800">
              <a:solidFill>
                <a:schemeClr val="dk1"/>
              </a:solidFill>
              <a:latin typeface="Times New Roman"/>
              <a:ea typeface="Times New Roman"/>
              <a:cs typeface="Times New Roman"/>
              <a:sym typeface="Times New Roman"/>
            </a:endParaRPr>
          </a:p>
          <a:p>
            <a:pPr indent="-327660" lvl="0" marL="457200" rtl="0" algn="just">
              <a:spcBef>
                <a:spcPts val="0"/>
              </a:spcBef>
              <a:spcAft>
                <a:spcPts val="0"/>
              </a:spcAft>
              <a:buClr>
                <a:schemeClr val="dk1"/>
              </a:buClr>
              <a:buSzPct val="100000"/>
              <a:buFont typeface="Times New Roman"/>
              <a:buChar char="●"/>
            </a:pPr>
            <a:r>
              <a:rPr lang="ru" sz="4800">
                <a:solidFill>
                  <a:schemeClr val="dk1"/>
                </a:solidFill>
                <a:latin typeface="Times New Roman"/>
                <a:ea typeface="Times New Roman"/>
                <a:cs typeface="Times New Roman"/>
                <a:sym typeface="Times New Roman"/>
              </a:rPr>
              <a:t>Charlie’s epistemic state is trivial as well, which means that, like Bob, Charlie doesn’t know whether p. However, some elements of his inquisitive state (e.g., the information state {11, 10, 01}) fail to support the question ?p. This means that Ec?p is false, and therefore, Wc?p is false as well: thus, unlike Bob, Charlie does not wonder whether p.		</a:t>
            </a:r>
            <a:endParaRPr sz="48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sz="5600">
                <a:solidFill>
                  <a:schemeClr val="dk1"/>
                </a:solidFill>
                <a:latin typeface="Times New Roman"/>
                <a:ea typeface="Times New Roman"/>
                <a:cs typeface="Times New Roman"/>
                <a:sym typeface="Times New Roman"/>
              </a:rPr>
              <a:t>Ciardelli et al. 2017</a:t>
            </a:r>
            <a:endParaRPr sz="5600">
              <a:solidFill>
                <a:schemeClr val="dk1"/>
              </a:solidFill>
              <a:latin typeface="Times New Roman"/>
              <a:ea typeface="Times New Roman"/>
              <a:cs typeface="Times New Roman"/>
              <a:sym typeface="Times New Roman"/>
            </a:endParaRPr>
          </a:p>
        </p:txBody>
      </p:sp>
      <p:pic>
        <p:nvPicPr>
          <p:cNvPr id="607" name="Google Shape;607;p92"/>
          <p:cNvPicPr preferRelativeResize="0"/>
          <p:nvPr/>
        </p:nvPicPr>
        <p:blipFill>
          <a:blip r:embed="rId3">
            <a:alphaModFix/>
          </a:blip>
          <a:stretch>
            <a:fillRect/>
          </a:stretch>
        </p:blipFill>
        <p:spPr>
          <a:xfrm>
            <a:off x="472400" y="2768900"/>
            <a:ext cx="6963301" cy="173577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9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420">
                <a:latin typeface="Times New Roman"/>
                <a:ea typeface="Times New Roman"/>
                <a:cs typeface="Times New Roman"/>
                <a:sym typeface="Times New Roman"/>
              </a:rPr>
              <a:t>Inquisitive semantics: Wondering</a:t>
            </a:r>
            <a:endParaRPr sz="2420">
              <a:latin typeface="Times New Roman"/>
              <a:ea typeface="Times New Roman"/>
              <a:cs typeface="Times New Roman"/>
              <a:sym typeface="Times New Roman"/>
            </a:endParaRPr>
          </a:p>
        </p:txBody>
      </p:sp>
      <p:sp>
        <p:nvSpPr>
          <p:cNvPr id="613" name="Google Shape;613;p93"/>
          <p:cNvSpPr txBox="1"/>
          <p:nvPr>
            <p:ph idx="1" type="body"/>
          </p:nvPr>
        </p:nvSpPr>
        <p:spPr>
          <a:xfrm>
            <a:off x="311700" y="1152475"/>
            <a:ext cx="8520600" cy="3888000"/>
          </a:xfrm>
          <a:prstGeom prst="rect">
            <a:avLst/>
          </a:prstGeom>
        </p:spPr>
        <p:txBody>
          <a:bodyPr anchorCtr="0" anchor="t" bIns="91425" lIns="91425" spcFirstLastPara="1" rIns="91425" wrap="square" tIns="91425">
            <a:normAutofit fontScale="32500"/>
          </a:bodyPr>
          <a:lstStyle/>
          <a:p>
            <a:pPr indent="-327660" lvl="0" marL="457200" rtl="0" algn="just">
              <a:spcBef>
                <a:spcPts val="0"/>
              </a:spcBef>
              <a:spcAft>
                <a:spcPts val="0"/>
              </a:spcAft>
              <a:buClr>
                <a:schemeClr val="dk1"/>
              </a:buClr>
              <a:buSzPct val="100000"/>
              <a:buFont typeface="Times New Roman"/>
              <a:buChar char="●"/>
            </a:pPr>
            <a:r>
              <a:rPr lang="ru" sz="4800">
                <a:solidFill>
                  <a:schemeClr val="dk1"/>
                </a:solidFill>
                <a:latin typeface="Times New Roman"/>
                <a:ea typeface="Times New Roman"/>
                <a:cs typeface="Times New Roman"/>
                <a:sym typeface="Times New Roman"/>
              </a:rPr>
              <a:t>The solid blocks represent the maximal elements of the agent’s inquisitive state, while the dashed area—corresponding to the union of these blocks—represents the agent’s knowledge. 	</a:t>
            </a:r>
            <a:endParaRPr sz="4800">
              <a:solidFill>
                <a:schemeClr val="dk1"/>
              </a:solidFill>
              <a:latin typeface="Times New Roman"/>
              <a:ea typeface="Times New Roman"/>
              <a:cs typeface="Times New Roman"/>
              <a:sym typeface="Times New Roman"/>
            </a:endParaRPr>
          </a:p>
          <a:p>
            <a:pPr indent="-327660" lvl="0" marL="457200" rtl="0" algn="just">
              <a:spcBef>
                <a:spcPts val="0"/>
              </a:spcBef>
              <a:spcAft>
                <a:spcPts val="0"/>
              </a:spcAft>
              <a:buClr>
                <a:schemeClr val="dk1"/>
              </a:buClr>
              <a:buSzPct val="100000"/>
              <a:buFont typeface="Times New Roman"/>
              <a:buChar char="●"/>
            </a:pPr>
            <a:r>
              <a:rPr lang="ru" sz="4800">
                <a:solidFill>
                  <a:schemeClr val="dk1"/>
                </a:solidFill>
                <a:latin typeface="Times New Roman"/>
                <a:ea typeface="Times New Roman"/>
                <a:cs typeface="Times New Roman"/>
                <a:sym typeface="Times New Roman"/>
              </a:rPr>
              <a:t>Interestingly, both Alice and Charlie do not wonder whether p, but for different reasons: in Alice’s case, it’s because she has already resolved the question, while in Charlie’s case, it’s because he is not interested in resolving it.		</a:t>
            </a:r>
            <a:endParaRPr sz="48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0" lvl="0" marL="685800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457200" lvl="0" marL="5943600" rtl="0" algn="just">
              <a:spcBef>
                <a:spcPts val="1200"/>
              </a:spcBef>
              <a:spcAft>
                <a:spcPts val="0"/>
              </a:spcAft>
              <a:buNone/>
            </a:pPr>
            <a:r>
              <a:t/>
            </a:r>
            <a:endParaRPr sz="5600">
              <a:solidFill>
                <a:schemeClr val="dk1"/>
              </a:solidFill>
              <a:latin typeface="Times New Roman"/>
              <a:ea typeface="Times New Roman"/>
              <a:cs typeface="Times New Roman"/>
              <a:sym typeface="Times New Roman"/>
            </a:endParaRPr>
          </a:p>
          <a:p>
            <a:pPr indent="457200" lvl="0" marL="5943600" rtl="0" algn="just">
              <a:spcBef>
                <a:spcPts val="1200"/>
              </a:spcBef>
              <a:spcAft>
                <a:spcPts val="1200"/>
              </a:spcAft>
              <a:buNone/>
            </a:pPr>
            <a:r>
              <a:rPr lang="ru" sz="5600">
                <a:solidFill>
                  <a:schemeClr val="dk1"/>
                </a:solidFill>
                <a:latin typeface="Times New Roman"/>
                <a:ea typeface="Times New Roman"/>
                <a:cs typeface="Times New Roman"/>
                <a:sym typeface="Times New Roman"/>
              </a:rPr>
              <a:t>Ciardelli et al. 2017</a:t>
            </a:r>
            <a:endParaRPr sz="5600">
              <a:solidFill>
                <a:schemeClr val="dk1"/>
              </a:solidFill>
              <a:latin typeface="Times New Roman"/>
              <a:ea typeface="Times New Roman"/>
              <a:cs typeface="Times New Roman"/>
              <a:sym typeface="Times New Roman"/>
            </a:endParaRPr>
          </a:p>
        </p:txBody>
      </p:sp>
      <p:pic>
        <p:nvPicPr>
          <p:cNvPr id="614" name="Google Shape;614;p93"/>
          <p:cNvPicPr preferRelativeResize="0"/>
          <p:nvPr/>
        </p:nvPicPr>
        <p:blipFill>
          <a:blip r:embed="rId3">
            <a:alphaModFix/>
          </a:blip>
          <a:stretch>
            <a:fillRect/>
          </a:stretch>
        </p:blipFill>
        <p:spPr>
          <a:xfrm>
            <a:off x="590300" y="2586750"/>
            <a:ext cx="7823099" cy="1950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