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e295479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e295479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c5aa3a2b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c5aa3a2b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c5aa3a2b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c5aa3a2b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c5aa3a2b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c5aa3a2b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5281122991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5281122991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c5aa3a2b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c5aa3a2b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281122991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5281122991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281122991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5281122991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281122991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5281122991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528112299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528112299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28112299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28112299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5281122991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5281122991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5281122991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528112299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28112299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528112299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c5aa3a2b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bc5aa3a2b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e2954794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e2954794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497200"/>
            <a:ext cx="8520600" cy="230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ru" sz="6700">
                <a:solidFill>
                  <a:srgbClr val="CC0000"/>
                </a:solidFill>
                <a:latin typeface="Times New Roman"/>
                <a:ea typeface="Times New Roman"/>
                <a:cs typeface="Times New Roman"/>
                <a:sym typeface="Times New Roman"/>
              </a:rPr>
              <a:t>Speech acts</a:t>
            </a:r>
            <a:endParaRPr sz="6700">
              <a:solidFill>
                <a:srgbClr val="CC0000"/>
              </a:solidFill>
              <a:latin typeface="Times New Roman"/>
              <a:ea typeface="Times New Roman"/>
              <a:cs typeface="Times New Roman"/>
              <a:sym typeface="Times New Roman"/>
            </a:endParaRPr>
          </a:p>
        </p:txBody>
      </p:sp>
      <p:sp>
        <p:nvSpPr>
          <p:cNvPr id="55" name="Google Shape;55;p13"/>
          <p:cNvSpPr txBox="1"/>
          <p:nvPr>
            <p:ph idx="1" type="subTitle"/>
          </p:nvPr>
        </p:nvSpPr>
        <p:spPr>
          <a:xfrm>
            <a:off x="311700" y="2956925"/>
            <a:ext cx="8520600" cy="1805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Clr>
                <a:schemeClr val="dk1"/>
              </a:buClr>
              <a:buSzPct val="39285"/>
              <a:buFont typeface="Arial"/>
              <a:buNone/>
            </a:pPr>
            <a:r>
              <a:rPr lang="ru">
                <a:solidFill>
                  <a:srgbClr val="000000"/>
                </a:solidFill>
                <a:latin typeface="Times New Roman"/>
                <a:ea typeface="Times New Roman"/>
                <a:cs typeface="Times New Roman"/>
                <a:sym typeface="Times New Roman"/>
              </a:rPr>
              <a:t>Models and Methods</a:t>
            </a:r>
            <a:endParaRPr>
              <a:solidFill>
                <a:srgbClr val="000000"/>
              </a:solidFill>
              <a:latin typeface="Times New Roman"/>
              <a:ea typeface="Times New Roman"/>
              <a:cs typeface="Times New Roman"/>
              <a:sym typeface="Times New Roman"/>
            </a:endParaRPr>
          </a:p>
          <a:p>
            <a:pPr indent="0" lvl="0" marL="0" rtl="0" algn="ctr">
              <a:spcBef>
                <a:spcPts val="0"/>
              </a:spcBef>
              <a:spcAft>
                <a:spcPts val="0"/>
              </a:spcAft>
              <a:buClr>
                <a:schemeClr val="dk1"/>
              </a:buClr>
              <a:buSzPct val="39285"/>
              <a:buFont typeface="Arial"/>
              <a:buNone/>
            </a:pPr>
            <a:r>
              <a:t/>
            </a:r>
            <a:endParaRPr>
              <a:solidFill>
                <a:srgbClr val="000000"/>
              </a:solidFill>
              <a:latin typeface="Times New Roman"/>
              <a:ea typeface="Times New Roman"/>
              <a:cs typeface="Times New Roman"/>
              <a:sym typeface="Times New Roman"/>
            </a:endParaRPr>
          </a:p>
          <a:p>
            <a:pPr indent="0" lvl="0" marL="0" rtl="0" algn="ctr">
              <a:spcBef>
                <a:spcPts val="0"/>
              </a:spcBef>
              <a:spcAft>
                <a:spcPts val="0"/>
              </a:spcAft>
              <a:buClr>
                <a:schemeClr val="dk1"/>
              </a:buClr>
              <a:buSzPct val="39285"/>
              <a:buFont typeface="Arial"/>
              <a:buNone/>
            </a:pPr>
            <a:r>
              <a:rPr lang="ru">
                <a:solidFill>
                  <a:srgbClr val="000000"/>
                </a:solidFill>
                <a:latin typeface="Times New Roman"/>
                <a:ea typeface="Times New Roman"/>
                <a:cs typeface="Times New Roman"/>
                <a:sym typeface="Times New Roman"/>
              </a:rPr>
              <a:t>Dasha Popova</a:t>
            </a:r>
            <a:endParaRPr>
              <a:solidFill>
                <a:srgbClr val="000000"/>
              </a:solidFill>
              <a:latin typeface="Times New Roman"/>
              <a:ea typeface="Times New Roman"/>
              <a:cs typeface="Times New Roman"/>
              <a:sym typeface="Times New Roman"/>
            </a:endParaRPr>
          </a:p>
          <a:p>
            <a:pPr indent="0" lvl="0" marL="0" rtl="0" algn="ctr">
              <a:spcBef>
                <a:spcPts val="0"/>
              </a:spcBef>
              <a:spcAft>
                <a:spcPts val="0"/>
              </a:spcAft>
              <a:buClr>
                <a:schemeClr val="dk1"/>
              </a:buClr>
              <a:buSzPct val="39285"/>
              <a:buFont typeface="Arial"/>
              <a:buNone/>
            </a:pPr>
            <a:r>
              <a:t/>
            </a:r>
            <a:endParaRPr>
              <a:solidFill>
                <a:srgbClr val="000000"/>
              </a:solidFill>
              <a:latin typeface="Times New Roman"/>
              <a:ea typeface="Times New Roman"/>
              <a:cs typeface="Times New Roman"/>
              <a:sym typeface="Times New Roman"/>
            </a:endParaRPr>
          </a:p>
          <a:p>
            <a:pPr indent="0" lvl="0" marL="0" rtl="0" algn="ctr">
              <a:spcBef>
                <a:spcPts val="0"/>
              </a:spcBef>
              <a:spcAft>
                <a:spcPts val="0"/>
              </a:spcAft>
              <a:buClr>
                <a:schemeClr val="dk1"/>
              </a:buClr>
              <a:buSzPct val="39285"/>
              <a:buFont typeface="Arial"/>
              <a:buNone/>
            </a:pPr>
            <a:r>
              <a:rPr lang="ru">
                <a:solidFill>
                  <a:srgbClr val="000000"/>
                </a:solidFill>
                <a:latin typeface="Times New Roman"/>
                <a:ea typeface="Times New Roman"/>
                <a:cs typeface="Times New Roman"/>
                <a:sym typeface="Times New Roman"/>
              </a:rPr>
              <a:t>31.01.2026</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ru" sz="2920">
                <a:solidFill>
                  <a:srgbClr val="CC0000"/>
                </a:solidFill>
                <a:latin typeface="Times New Roman"/>
                <a:ea typeface="Times New Roman"/>
                <a:cs typeface="Times New Roman"/>
                <a:sym typeface="Times New Roman"/>
              </a:rPr>
              <a:t>Speech acts</a:t>
            </a:r>
            <a:endParaRPr sz="2920">
              <a:solidFill>
                <a:srgbClr val="CC0000"/>
              </a:solidFill>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8520600" cy="35343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b="1" lang="ru" sz="2218">
                <a:solidFill>
                  <a:srgbClr val="000000"/>
                </a:solidFill>
                <a:latin typeface="Times New Roman"/>
                <a:ea typeface="Times New Roman"/>
                <a:cs typeface="Times New Roman"/>
                <a:sym typeface="Times New Roman"/>
              </a:rPr>
              <a:t>Bilbo Baggins:</a:t>
            </a:r>
            <a:r>
              <a:rPr lang="ru" sz="2218">
                <a:solidFill>
                  <a:srgbClr val="000000"/>
                </a:solidFill>
                <a:latin typeface="Times New Roman"/>
                <a:ea typeface="Times New Roman"/>
                <a:cs typeface="Times New Roman"/>
                <a:sym typeface="Times New Roman"/>
              </a:rPr>
              <a:t> Good morning!</a:t>
            </a:r>
            <a:endParaRPr sz="22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2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ru" sz="2218">
                <a:solidFill>
                  <a:srgbClr val="000000"/>
                </a:solidFill>
                <a:latin typeface="Times New Roman"/>
                <a:ea typeface="Times New Roman"/>
                <a:cs typeface="Times New Roman"/>
                <a:sym typeface="Times New Roman"/>
              </a:rPr>
              <a:t>Gandalf:</a:t>
            </a:r>
            <a:r>
              <a:rPr lang="ru" sz="2218">
                <a:solidFill>
                  <a:srgbClr val="000000"/>
                </a:solidFill>
                <a:latin typeface="Times New Roman"/>
                <a:ea typeface="Times New Roman"/>
                <a:cs typeface="Times New Roman"/>
                <a:sym typeface="Times New Roman"/>
              </a:rPr>
              <a:t> What do you mean? Do you mean to wish me a good morning or do you mean that it is a good morning whether I want it or not… or perhaps you mean to say that you feel good on this particular morning.. or are you simply stating that this is a morning to be good on?</a:t>
            </a:r>
            <a:endParaRPr sz="22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2218">
                <a:solidFill>
                  <a:srgbClr val="000000"/>
                </a:solidFill>
                <a:latin typeface="Times New Roman"/>
                <a:ea typeface="Times New Roman"/>
                <a:cs typeface="Times New Roman"/>
                <a:sym typeface="Times New Roman"/>
              </a:rPr>
              <a:t> </a:t>
            </a:r>
            <a:endParaRPr sz="22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ru" sz="2218">
                <a:solidFill>
                  <a:schemeClr val="dk1"/>
                </a:solidFill>
                <a:latin typeface="Times New Roman"/>
                <a:ea typeface="Times New Roman"/>
                <a:cs typeface="Times New Roman"/>
                <a:sym typeface="Times New Roman"/>
              </a:rPr>
              <a:t>Bilbo Baggins:</a:t>
            </a:r>
            <a:r>
              <a:rPr lang="ru" sz="2218">
                <a:solidFill>
                  <a:schemeClr val="dk1"/>
                </a:solidFill>
                <a:latin typeface="Times New Roman"/>
                <a:ea typeface="Times New Roman"/>
                <a:cs typeface="Times New Roman"/>
                <a:sym typeface="Times New Roman"/>
              </a:rPr>
              <a:t> </a:t>
            </a:r>
            <a:r>
              <a:rPr lang="ru" sz="2218">
                <a:solidFill>
                  <a:srgbClr val="000000"/>
                </a:solidFill>
                <a:latin typeface="Times New Roman"/>
                <a:ea typeface="Times New Roman"/>
                <a:cs typeface="Times New Roman"/>
                <a:sym typeface="Times New Roman"/>
              </a:rPr>
              <a:t>All of them at once, I suppose.</a:t>
            </a:r>
            <a:endParaRPr sz="22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2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2218">
                <a:solidFill>
                  <a:srgbClr val="000000"/>
                </a:solidFill>
                <a:latin typeface="Times New Roman"/>
                <a:ea typeface="Times New Roman"/>
                <a:cs typeface="Times New Roman"/>
                <a:sym typeface="Times New Roman"/>
              </a:rPr>
              <a:t>									The Hobbit. An Unexpected Journey</a:t>
            </a:r>
            <a:endParaRPr sz="22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solidFill>
                  <a:srgbClr val="CC0000"/>
                </a:solidFill>
                <a:latin typeface="Times New Roman"/>
                <a:ea typeface="Times New Roman"/>
                <a:cs typeface="Times New Roman"/>
                <a:sym typeface="Times New Roman"/>
              </a:rPr>
              <a:t>Speech acts</a:t>
            </a:r>
            <a:endParaRPr>
              <a:solidFill>
                <a:srgbClr val="CC0000"/>
              </a:solidFill>
              <a:latin typeface="Times New Roman"/>
              <a:ea typeface="Times New Roman"/>
              <a:cs typeface="Times New Roman"/>
              <a:sym typeface="Times New Roman"/>
            </a:endParaRPr>
          </a:p>
        </p:txBody>
      </p:sp>
      <p:sp>
        <p:nvSpPr>
          <p:cNvPr id="67" name="Google Shape;67;p15"/>
          <p:cNvSpPr txBox="1"/>
          <p:nvPr>
            <p:ph idx="1" type="body"/>
          </p:nvPr>
        </p:nvSpPr>
        <p:spPr>
          <a:xfrm>
            <a:off x="311700" y="1152475"/>
            <a:ext cx="8520600" cy="3534300"/>
          </a:xfrm>
          <a:prstGeom prst="rect">
            <a:avLst/>
          </a:prstGeom>
        </p:spPr>
        <p:txBody>
          <a:bodyPr anchorCtr="0" anchor="t" bIns="91425" lIns="91425" spcFirstLastPara="1" rIns="91425" wrap="square" tIns="91425">
            <a:normAutofit fontScale="32500" lnSpcReduction="10000"/>
          </a:bodyPr>
          <a:lstStyle/>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Speech act is a minimal unit of communication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309463" lvl="0" marL="457200" rtl="0" algn="l">
              <a:lnSpc>
                <a:spcPct val="100000"/>
              </a:lnSpc>
              <a:spcBef>
                <a:spcPts val="0"/>
              </a:spcBef>
              <a:spcAft>
                <a:spcPts val="0"/>
              </a:spcAft>
              <a:buClr>
                <a:srgbClr val="000000"/>
              </a:buClr>
              <a:buSzPct val="100000"/>
              <a:buFont typeface="Times New Roman"/>
              <a:buAutoNum type="arabicParenBoth"/>
            </a:pPr>
            <a:r>
              <a:rPr lang="ru" sz="3918">
                <a:solidFill>
                  <a:srgbClr val="000000"/>
                </a:solidFill>
                <a:latin typeface="Times New Roman"/>
                <a:ea typeface="Times New Roman"/>
                <a:cs typeface="Times New Roman"/>
                <a:sym typeface="Times New Roman"/>
              </a:rPr>
              <a:t>Take an umbrella with you!</a:t>
            </a:r>
            <a:endParaRPr sz="3918">
              <a:solidFill>
                <a:srgbClr val="000000"/>
              </a:solidFill>
              <a:latin typeface="Times New Roman"/>
              <a:ea typeface="Times New Roman"/>
              <a:cs typeface="Times New Roman"/>
              <a:sym typeface="Times New Roman"/>
            </a:endParaRPr>
          </a:p>
          <a:p>
            <a:pPr indent="-309463" lvl="0" marL="457200" rtl="0" algn="l">
              <a:lnSpc>
                <a:spcPct val="100000"/>
              </a:lnSpc>
              <a:spcBef>
                <a:spcPts val="0"/>
              </a:spcBef>
              <a:spcAft>
                <a:spcPts val="0"/>
              </a:spcAft>
              <a:buClr>
                <a:srgbClr val="000000"/>
              </a:buClr>
              <a:buSzPct val="100000"/>
              <a:buFont typeface="Times New Roman"/>
              <a:buAutoNum type="arabicParenBoth"/>
            </a:pPr>
            <a:r>
              <a:rPr lang="ru" sz="3918">
                <a:solidFill>
                  <a:srgbClr val="000000"/>
                </a:solidFill>
                <a:latin typeface="Times New Roman"/>
                <a:ea typeface="Times New Roman"/>
                <a:cs typeface="Times New Roman"/>
                <a:sym typeface="Times New Roman"/>
              </a:rPr>
              <a:t>Happy Birthday!</a:t>
            </a:r>
            <a:endParaRPr sz="3918">
              <a:solidFill>
                <a:srgbClr val="000000"/>
              </a:solidFill>
              <a:latin typeface="Times New Roman"/>
              <a:ea typeface="Times New Roman"/>
              <a:cs typeface="Times New Roman"/>
              <a:sym typeface="Times New Roman"/>
            </a:endParaRPr>
          </a:p>
          <a:p>
            <a:pPr indent="-309463" lvl="0" marL="457200" rtl="0" algn="l">
              <a:lnSpc>
                <a:spcPct val="100000"/>
              </a:lnSpc>
              <a:spcBef>
                <a:spcPts val="0"/>
              </a:spcBef>
              <a:spcAft>
                <a:spcPts val="0"/>
              </a:spcAft>
              <a:buClr>
                <a:srgbClr val="000000"/>
              </a:buClr>
              <a:buSzPct val="100000"/>
              <a:buFont typeface="Times New Roman"/>
              <a:buAutoNum type="arabicParenBoth"/>
            </a:pPr>
            <a:r>
              <a:rPr lang="ru" sz="3918">
                <a:solidFill>
                  <a:srgbClr val="000000"/>
                </a:solidFill>
                <a:latin typeface="Times New Roman"/>
                <a:ea typeface="Times New Roman"/>
                <a:cs typeface="Times New Roman"/>
                <a:sym typeface="Times New Roman"/>
              </a:rPr>
              <a:t>Today we are discussing speech acts</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Three components of a speech act:</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An illocutionary act</a:t>
            </a:r>
            <a:r>
              <a:rPr lang="ru" sz="3918">
                <a:solidFill>
                  <a:srgbClr val="000000"/>
                </a:solidFill>
                <a:latin typeface="Times New Roman"/>
                <a:ea typeface="Times New Roman"/>
                <a:cs typeface="Times New Roman"/>
                <a:sym typeface="Times New Roman"/>
              </a:rPr>
              <a:t> is the speaker’s intention behind the act. The illocutionary force of an utterance is another name for the act behind that utterance. For example, an utterance might be said to have the force of a question or a promise.</a:t>
            </a:r>
            <a:endParaRPr sz="3918">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A locutionary act</a:t>
            </a:r>
            <a:r>
              <a:rPr lang="ru" sz="3918">
                <a:solidFill>
                  <a:srgbClr val="000000"/>
                </a:solidFill>
                <a:latin typeface="Times New Roman"/>
                <a:ea typeface="Times New Roman"/>
                <a:cs typeface="Times New Roman"/>
                <a:sym typeface="Times New Roman"/>
              </a:rPr>
              <a:t> is an instance of using language. </a:t>
            </a:r>
            <a:endParaRPr sz="3918">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A perlocutionary act</a:t>
            </a:r>
            <a:r>
              <a:rPr lang="ru" sz="3918">
                <a:solidFill>
                  <a:srgbClr val="000000"/>
                </a:solidFill>
                <a:latin typeface="Times New Roman"/>
                <a:ea typeface="Times New Roman"/>
                <a:cs typeface="Times New Roman"/>
                <a:sym typeface="Times New Roman"/>
              </a:rPr>
              <a:t> or effect is an additional effect that comes about through performing an illocutionary act. </a:t>
            </a:r>
            <a:endParaRPr sz="3918">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(Of course, perlocutionary effects are only partially under the speaker’s control; I might intend my utterance to have one effect, only to find that my audience perceived a very different one. This will result in a communicative failure)</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Clr>
                <a:schemeClr val="dk1"/>
              </a:buClr>
              <a:buSzPct val="61111"/>
              <a:buFont typeface="Arial"/>
              <a:buNone/>
            </a:pPr>
            <a:r>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solidFill>
                  <a:srgbClr val="CC0000"/>
                </a:solidFill>
                <a:latin typeface="Times New Roman"/>
                <a:ea typeface="Times New Roman"/>
                <a:cs typeface="Times New Roman"/>
                <a:sym typeface="Times New Roman"/>
              </a:rPr>
              <a:t>Speech acts</a:t>
            </a:r>
            <a:endParaRPr>
              <a:solidFill>
                <a:srgbClr val="CC0000"/>
              </a:solidFill>
              <a:latin typeface="Times New Roman"/>
              <a:ea typeface="Times New Roman"/>
              <a:cs typeface="Times New Roman"/>
              <a:sym typeface="Times New Roman"/>
            </a:endParaRPr>
          </a:p>
        </p:txBody>
      </p:sp>
      <p:sp>
        <p:nvSpPr>
          <p:cNvPr id="73" name="Google Shape;73;p16"/>
          <p:cNvSpPr txBox="1"/>
          <p:nvPr>
            <p:ph idx="1" type="body"/>
          </p:nvPr>
        </p:nvSpPr>
        <p:spPr>
          <a:xfrm>
            <a:off x="311700" y="1152475"/>
            <a:ext cx="8520600" cy="3534300"/>
          </a:xfrm>
          <a:prstGeom prst="rect">
            <a:avLst/>
          </a:prstGeom>
        </p:spPr>
        <p:txBody>
          <a:bodyPr anchorCtr="0" anchor="t" bIns="91425" lIns="91425" spcFirstLastPara="1" rIns="91425" wrap="square" tIns="91425">
            <a:normAutofit fontScale="32500" lnSpcReduction="20000"/>
          </a:bodyPr>
          <a:lstStyle/>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Three components of a speech act:</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An illocutionary act</a:t>
            </a:r>
            <a:r>
              <a:rPr lang="ru" sz="3918">
                <a:solidFill>
                  <a:srgbClr val="000000"/>
                </a:solidFill>
                <a:latin typeface="Times New Roman"/>
                <a:ea typeface="Times New Roman"/>
                <a:cs typeface="Times New Roman"/>
                <a:sym typeface="Times New Roman"/>
              </a:rPr>
              <a:t> is the speaker’s intention behind the act. The illocutionary force of an utterance is another name for the act behind that utterance. For example, an utterance might be said to have the force of a question or a promise.</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A locutionary act</a:t>
            </a:r>
            <a:r>
              <a:rPr lang="ru" sz="3918">
                <a:solidFill>
                  <a:srgbClr val="000000"/>
                </a:solidFill>
                <a:latin typeface="Times New Roman"/>
                <a:ea typeface="Times New Roman"/>
                <a:cs typeface="Times New Roman"/>
                <a:sym typeface="Times New Roman"/>
              </a:rPr>
              <a:t> is an instance of using language.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A perlocutionary act</a:t>
            </a:r>
            <a:r>
              <a:rPr lang="ru" sz="3918">
                <a:solidFill>
                  <a:srgbClr val="000000"/>
                </a:solidFill>
                <a:latin typeface="Times New Roman"/>
                <a:ea typeface="Times New Roman"/>
                <a:cs typeface="Times New Roman"/>
                <a:sym typeface="Times New Roman"/>
              </a:rPr>
              <a:t> or effect is an additional effect that comes about through performing an illocution-</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ary act. (Of course, perlocutionary effects are only partially under the speaker’s control; I might intend my</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utterance to have one effect, only to find that my audience perceived a very different one. This will result in a communicative failure)</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Performatives</a:t>
            </a:r>
            <a:r>
              <a:rPr lang="ru" sz="3918">
                <a:solidFill>
                  <a:srgbClr val="000000"/>
                </a:solidFill>
                <a:latin typeface="Times New Roman"/>
                <a:ea typeface="Times New Roman"/>
                <a:cs typeface="Times New Roman"/>
                <a:sym typeface="Times New Roman"/>
              </a:rPr>
              <a:t>: direct encoding of illocution – testing with </a:t>
            </a:r>
            <a:r>
              <a:rPr i="1" lang="ru" sz="3918">
                <a:solidFill>
                  <a:srgbClr val="000000"/>
                </a:solidFill>
                <a:latin typeface="Times New Roman"/>
                <a:ea typeface="Times New Roman"/>
                <a:cs typeface="Times New Roman"/>
                <a:sym typeface="Times New Roman"/>
              </a:rPr>
              <a:t>hereby</a:t>
            </a:r>
            <a:endParaRPr i="1"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a. I hereby promise to bring candy to the last class. (a promise)</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b. I hereby fry an egg. (not an egg-frying)</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c. I hereby insult you. (an act of insulting?)</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d. Your cooking is terrible. (might be an act of insulting)</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Clr>
                <a:schemeClr val="dk1"/>
              </a:buClr>
              <a:buSzPct val="61111"/>
              <a:buFont typeface="Arial"/>
              <a:buNone/>
            </a:pPr>
            <a:r>
              <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solidFill>
                  <a:srgbClr val="CC0000"/>
                </a:solidFill>
                <a:latin typeface="Times New Roman"/>
                <a:ea typeface="Times New Roman"/>
                <a:cs typeface="Times New Roman"/>
                <a:sym typeface="Times New Roman"/>
              </a:rPr>
              <a:t>Speech acts</a:t>
            </a:r>
            <a:endParaRPr>
              <a:solidFill>
                <a:srgbClr val="CC0000"/>
              </a:solidFill>
              <a:latin typeface="Times New Roman"/>
              <a:ea typeface="Times New Roman"/>
              <a:cs typeface="Times New Roman"/>
              <a:sym typeface="Times New Roman"/>
            </a:endParaRPr>
          </a:p>
        </p:txBody>
      </p:sp>
      <p:sp>
        <p:nvSpPr>
          <p:cNvPr id="79" name="Google Shape;79;p17"/>
          <p:cNvSpPr txBox="1"/>
          <p:nvPr>
            <p:ph idx="1" type="body"/>
          </p:nvPr>
        </p:nvSpPr>
        <p:spPr>
          <a:xfrm>
            <a:off x="311700" y="1152475"/>
            <a:ext cx="8520600" cy="3534300"/>
          </a:xfrm>
          <a:prstGeom prst="rect">
            <a:avLst/>
          </a:prstGeom>
        </p:spPr>
        <p:txBody>
          <a:bodyPr anchorCtr="0" anchor="t" bIns="91425" lIns="91425" spcFirstLastPara="1" rIns="91425" wrap="square" tIns="91425">
            <a:normAutofit fontScale="32500" lnSpcReduction="20000"/>
          </a:bodyPr>
          <a:lstStyle/>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Three components of a speech act:</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An illocutionary act</a:t>
            </a:r>
            <a:r>
              <a:rPr lang="ru" sz="3918">
                <a:solidFill>
                  <a:srgbClr val="000000"/>
                </a:solidFill>
                <a:latin typeface="Times New Roman"/>
                <a:ea typeface="Times New Roman"/>
                <a:cs typeface="Times New Roman"/>
                <a:sym typeface="Times New Roman"/>
              </a:rPr>
              <a:t> is the speaker’s intention behind the act. The illocutionary force of an utterance is another name for the act behind that utterance. For example, an utterance might be said to have the force of a question or a promise.</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A locutionary act</a:t>
            </a:r>
            <a:r>
              <a:rPr lang="ru" sz="3918">
                <a:solidFill>
                  <a:srgbClr val="000000"/>
                </a:solidFill>
                <a:latin typeface="Times New Roman"/>
                <a:ea typeface="Times New Roman"/>
                <a:cs typeface="Times New Roman"/>
                <a:sym typeface="Times New Roman"/>
              </a:rPr>
              <a:t> is an instance of using language.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A perlocutionary act</a:t>
            </a:r>
            <a:r>
              <a:rPr lang="ru" sz="3918">
                <a:solidFill>
                  <a:srgbClr val="000000"/>
                </a:solidFill>
                <a:latin typeface="Times New Roman"/>
                <a:ea typeface="Times New Roman"/>
                <a:cs typeface="Times New Roman"/>
                <a:sym typeface="Times New Roman"/>
              </a:rPr>
              <a:t> or effect is an additional effect that comes about through performing an illocution-</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ary act. (Of course, perlocutionary effects are only partially under the speaker’s control; I might intend my</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a:solidFill>
                  <a:srgbClr val="000000"/>
                </a:solidFill>
                <a:latin typeface="Times New Roman"/>
                <a:ea typeface="Times New Roman"/>
                <a:cs typeface="Times New Roman"/>
                <a:sym typeface="Times New Roman"/>
              </a:rPr>
              <a:t>utterance to have one effect, only to find that my audience perceived a very different one. This will result in a communicative failure)</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3918" u="sng">
                <a:solidFill>
                  <a:srgbClr val="000000"/>
                </a:solidFill>
                <a:latin typeface="Times New Roman"/>
                <a:ea typeface="Times New Roman"/>
                <a:cs typeface="Times New Roman"/>
                <a:sym typeface="Times New Roman"/>
              </a:rPr>
              <a:t>Direct vs. indirect speech acts</a:t>
            </a:r>
            <a:r>
              <a:rPr lang="ru" sz="3918">
                <a:solidFill>
                  <a:srgbClr val="000000"/>
                </a:solidFill>
                <a:latin typeface="Times New Roman"/>
                <a:ea typeface="Times New Roman"/>
                <a:cs typeface="Times New Roman"/>
                <a:sym typeface="Times New Roman"/>
              </a:rPr>
              <a:t>:</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309463" lvl="0" marL="457200" rtl="0" algn="l">
              <a:lnSpc>
                <a:spcPct val="100000"/>
              </a:lnSpc>
              <a:spcBef>
                <a:spcPts val="0"/>
              </a:spcBef>
              <a:spcAft>
                <a:spcPts val="0"/>
              </a:spcAft>
              <a:buClr>
                <a:srgbClr val="000000"/>
              </a:buClr>
              <a:buSzPct val="100000"/>
              <a:buFont typeface="Times New Roman"/>
              <a:buAutoNum type="alphaLcPeriod"/>
            </a:pPr>
            <a:r>
              <a:rPr lang="ru" sz="3918">
                <a:solidFill>
                  <a:srgbClr val="000000"/>
                </a:solidFill>
                <a:latin typeface="Times New Roman"/>
                <a:ea typeface="Times New Roman"/>
                <a:cs typeface="Times New Roman"/>
                <a:sym typeface="Times New Roman"/>
              </a:rPr>
              <a:t>Open the window! (direct)</a:t>
            </a:r>
            <a:endParaRPr sz="3918">
              <a:solidFill>
                <a:srgbClr val="000000"/>
              </a:solidFill>
              <a:latin typeface="Times New Roman"/>
              <a:ea typeface="Times New Roman"/>
              <a:cs typeface="Times New Roman"/>
              <a:sym typeface="Times New Roman"/>
            </a:endParaRPr>
          </a:p>
          <a:p>
            <a:pPr indent="-309463" lvl="0" marL="457200" rtl="0" algn="l">
              <a:lnSpc>
                <a:spcPct val="100000"/>
              </a:lnSpc>
              <a:spcBef>
                <a:spcPts val="0"/>
              </a:spcBef>
              <a:spcAft>
                <a:spcPts val="0"/>
              </a:spcAft>
              <a:buClr>
                <a:srgbClr val="000000"/>
              </a:buClr>
              <a:buSzPct val="100000"/>
              <a:buFont typeface="Times New Roman"/>
              <a:buAutoNum type="alphaLcPeriod"/>
            </a:pPr>
            <a:r>
              <a:rPr lang="ru" sz="3918">
                <a:solidFill>
                  <a:srgbClr val="000000"/>
                </a:solidFill>
                <a:latin typeface="Times New Roman"/>
                <a:ea typeface="Times New Roman"/>
                <a:cs typeface="Times New Roman"/>
                <a:sym typeface="Times New Roman"/>
              </a:rPr>
              <a:t>It is so stuffy in here! (indirect)</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3918">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Clr>
                <a:schemeClr val="dk1"/>
              </a:buClr>
              <a:buSzPct val="61111"/>
              <a:buFont typeface="Arial"/>
              <a:buNone/>
            </a:pPr>
            <a:r>
              <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ru" sz="2320">
                <a:solidFill>
                  <a:srgbClr val="CC0000"/>
                </a:solidFill>
                <a:latin typeface="Times New Roman"/>
                <a:ea typeface="Times New Roman"/>
                <a:cs typeface="Times New Roman"/>
                <a:sym typeface="Times New Roman"/>
              </a:rPr>
              <a:t>Sentence types and illocutionary acts</a:t>
            </a:r>
            <a:endParaRPr sz="2320">
              <a:solidFill>
                <a:srgbClr val="CC0000"/>
              </a:solidFill>
              <a:latin typeface="Times New Roman"/>
              <a:ea typeface="Times New Roman"/>
              <a:cs typeface="Times New Roman"/>
              <a:sym typeface="Times New Roman"/>
            </a:endParaRPr>
          </a:p>
        </p:txBody>
      </p:sp>
      <p:sp>
        <p:nvSpPr>
          <p:cNvPr id="85" name="Google Shape;85;p18"/>
          <p:cNvSpPr txBox="1"/>
          <p:nvPr>
            <p:ph idx="1" type="body"/>
          </p:nvPr>
        </p:nvSpPr>
        <p:spPr>
          <a:xfrm>
            <a:off x="311700" y="1017725"/>
            <a:ext cx="8520600" cy="3922800"/>
          </a:xfrm>
          <a:prstGeom prst="rect">
            <a:avLst/>
          </a:prstGeom>
        </p:spPr>
        <p:txBody>
          <a:bodyPr anchorCtr="0" anchor="t" bIns="91425" lIns="91425" spcFirstLastPara="1" rIns="91425" wrap="square" tIns="91425">
            <a:normAutofit fontScale="62500" lnSpcReduction="20000"/>
          </a:bodyPr>
          <a:lstStyle/>
          <a:p>
            <a:pPr indent="0" lvl="0" marL="0" rtl="0" algn="l">
              <a:lnSpc>
                <a:spcPct val="100000"/>
              </a:lnSpc>
              <a:spcBef>
                <a:spcPts val="0"/>
              </a:spcBef>
              <a:spcAft>
                <a:spcPts val="0"/>
              </a:spcAft>
              <a:buClr>
                <a:schemeClr val="dk1"/>
              </a:buClr>
              <a:buSzPct val="56122"/>
              <a:buFont typeface="Arial"/>
              <a:buNone/>
            </a:pPr>
            <a:r>
              <a:rPr lang="ru" sz="1960">
                <a:solidFill>
                  <a:schemeClr val="dk1"/>
                </a:solidFill>
                <a:latin typeface="Times New Roman"/>
                <a:ea typeface="Times New Roman"/>
                <a:cs typeface="Times New Roman"/>
                <a:sym typeface="Times New Roman"/>
              </a:rPr>
              <a:t>Sentence type</a:t>
            </a:r>
            <a:r>
              <a:rPr lang="ru" sz="1960">
                <a:solidFill>
                  <a:schemeClr val="dk1"/>
                </a:solidFill>
                <a:latin typeface="Times New Roman"/>
                <a:ea typeface="Times New Roman"/>
                <a:cs typeface="Times New Roman"/>
                <a:sym typeface="Times New Roman"/>
              </a:rPr>
              <a:t>: </a:t>
            </a:r>
            <a:endParaRPr sz="196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56122"/>
              <a:buFont typeface="Arial"/>
              <a:buNone/>
            </a:pPr>
            <a:r>
              <a:t/>
            </a:r>
            <a:endParaRPr sz="196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56122"/>
              <a:buFont typeface="Arial"/>
              <a:buNone/>
            </a:pPr>
            <a:r>
              <a:rPr lang="ru" sz="1960">
                <a:solidFill>
                  <a:schemeClr val="dk1"/>
                </a:solidFill>
                <a:latin typeface="Times New Roman"/>
                <a:ea typeface="Times New Roman"/>
                <a:cs typeface="Times New Roman"/>
                <a:sym typeface="Times New Roman"/>
              </a:rPr>
              <a:t>– declarative:</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Ducks are amazing.</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I wonder where Anna is.</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You should move your car.</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You can have a muffin. </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It would be a shame if something happened to your store.</a:t>
            </a:r>
            <a:endParaRPr sz="196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56122"/>
              <a:buFont typeface="Arial"/>
              <a:buNone/>
            </a:pPr>
            <a:r>
              <a:t/>
            </a:r>
            <a:endParaRPr sz="196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56122"/>
              <a:buFont typeface="Arial"/>
              <a:buNone/>
            </a:pPr>
            <a:r>
              <a:rPr lang="ru" sz="1960">
                <a:solidFill>
                  <a:schemeClr val="dk1"/>
                </a:solidFill>
                <a:latin typeface="Times New Roman"/>
                <a:ea typeface="Times New Roman"/>
                <a:cs typeface="Times New Roman"/>
                <a:sym typeface="Times New Roman"/>
              </a:rPr>
              <a:t>– interrogative:</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Is today Saturday? </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What day is today?</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What on earth are you doing?</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Do you want to have ice-cream?</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Could you help me?</a:t>
            </a:r>
            <a:endParaRPr sz="1960">
              <a:solidFill>
                <a:schemeClr val="dk1"/>
              </a:solidFill>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t/>
            </a:r>
            <a:endParaRPr sz="196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56122"/>
              <a:buFont typeface="Arial"/>
              <a:buNone/>
            </a:pPr>
            <a:r>
              <a:rPr lang="ru" sz="1960">
                <a:solidFill>
                  <a:schemeClr val="dk1"/>
                </a:solidFill>
                <a:latin typeface="Times New Roman"/>
                <a:ea typeface="Times New Roman"/>
                <a:cs typeface="Times New Roman"/>
                <a:sym typeface="Times New Roman"/>
              </a:rPr>
              <a:t>– imperative:</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Move your car!</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Have a muffin!</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Please rain! </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Get well soon! </a:t>
            </a:r>
            <a:endParaRPr sz="1960">
              <a:solidFill>
                <a:schemeClr val="dk1"/>
              </a:solidFill>
              <a:latin typeface="Times New Roman"/>
              <a:ea typeface="Times New Roman"/>
              <a:cs typeface="Times New Roman"/>
              <a:sym typeface="Times New Roman"/>
            </a:endParaRPr>
          </a:p>
          <a:p>
            <a:pPr indent="-306387" lvl="0" marL="457200" rtl="0" algn="l">
              <a:lnSpc>
                <a:spcPct val="100000"/>
              </a:lnSpc>
              <a:spcBef>
                <a:spcPts val="0"/>
              </a:spcBef>
              <a:spcAft>
                <a:spcPts val="0"/>
              </a:spcAft>
              <a:buClr>
                <a:schemeClr val="dk1"/>
              </a:buClr>
              <a:buSzPct val="100000"/>
              <a:buFont typeface="Times New Roman"/>
              <a:buAutoNum type="arabicParenBoth"/>
            </a:pPr>
            <a:r>
              <a:rPr lang="ru" sz="1960">
                <a:solidFill>
                  <a:schemeClr val="dk1"/>
                </a:solidFill>
                <a:latin typeface="Times New Roman"/>
                <a:ea typeface="Times New Roman"/>
                <a:cs typeface="Times New Roman"/>
                <a:sym typeface="Times New Roman"/>
              </a:rPr>
              <a:t>Turn right here.</a:t>
            </a:r>
            <a:endParaRPr sz="196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96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96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1960">
                <a:solidFill>
                  <a:schemeClr val="dk1"/>
                </a:solidFill>
                <a:latin typeface="Times New Roman"/>
                <a:ea typeface="Times New Roman"/>
                <a:cs typeface="Times New Roman"/>
                <a:sym typeface="Times New Roman"/>
              </a:rPr>
              <a:t>What speech acts correspond to (1) - (15)?</a:t>
            </a:r>
            <a:endParaRPr sz="196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ru" sz="2320">
                <a:solidFill>
                  <a:srgbClr val="CC0000"/>
                </a:solidFill>
                <a:latin typeface="Times New Roman"/>
                <a:ea typeface="Times New Roman"/>
                <a:cs typeface="Times New Roman"/>
                <a:sym typeface="Times New Roman"/>
              </a:rPr>
              <a:t>Sentence types and illocutionary acts</a:t>
            </a:r>
            <a:endParaRPr sz="2320">
              <a:solidFill>
                <a:srgbClr val="CC0000"/>
              </a:solidFill>
              <a:latin typeface="Times New Roman"/>
              <a:ea typeface="Times New Roman"/>
              <a:cs typeface="Times New Roman"/>
              <a:sym typeface="Times New Roman"/>
            </a:endParaRPr>
          </a:p>
        </p:txBody>
      </p:sp>
      <p:sp>
        <p:nvSpPr>
          <p:cNvPr id="91" name="Google Shape;91;p19"/>
          <p:cNvSpPr txBox="1"/>
          <p:nvPr>
            <p:ph idx="1" type="body"/>
          </p:nvPr>
        </p:nvSpPr>
        <p:spPr>
          <a:xfrm>
            <a:off x="311700" y="1017725"/>
            <a:ext cx="8520600" cy="39228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688"/>
              <a:buFont typeface="Arial"/>
              <a:buNone/>
            </a:pPr>
            <a:r>
              <a:rPr lang="ru" sz="1425">
                <a:solidFill>
                  <a:schemeClr val="dk1"/>
                </a:solidFill>
                <a:latin typeface="Times New Roman"/>
                <a:ea typeface="Times New Roman"/>
                <a:cs typeface="Times New Roman"/>
                <a:sym typeface="Times New Roman"/>
              </a:rPr>
              <a:t>Sentence type: 									Act:</a:t>
            </a:r>
            <a:endParaRPr sz="1425">
              <a:solidFill>
                <a:schemeClr val="dk1"/>
              </a:solidFill>
              <a:latin typeface="Times New Roman"/>
              <a:ea typeface="Times New Roman"/>
              <a:cs typeface="Times New Roman"/>
              <a:sym typeface="Times New Roman"/>
            </a:endParaRPr>
          </a:p>
          <a:p>
            <a:pPr indent="0" lvl="0" marL="0" rtl="0" algn="l">
              <a:lnSpc>
                <a:spcPct val="80000"/>
              </a:lnSpc>
              <a:spcBef>
                <a:spcPts val="0"/>
              </a:spcBef>
              <a:spcAft>
                <a:spcPts val="0"/>
              </a:spcAft>
              <a:buClr>
                <a:schemeClr val="dk1"/>
              </a:buClr>
              <a:buSzPts val="688"/>
              <a:buFont typeface="Arial"/>
              <a:buNone/>
            </a:pPr>
            <a:r>
              <a:t/>
            </a:r>
            <a:endParaRPr sz="1425">
              <a:solidFill>
                <a:schemeClr val="dk1"/>
              </a:solidFill>
              <a:latin typeface="Times New Roman"/>
              <a:ea typeface="Times New Roman"/>
              <a:cs typeface="Times New Roman"/>
              <a:sym typeface="Times New Roman"/>
            </a:endParaRPr>
          </a:p>
          <a:p>
            <a:pPr indent="0" lvl="0" marL="0" rtl="0" algn="l">
              <a:lnSpc>
                <a:spcPct val="80000"/>
              </a:lnSpc>
              <a:spcBef>
                <a:spcPts val="0"/>
              </a:spcBef>
              <a:spcAft>
                <a:spcPts val="0"/>
              </a:spcAft>
              <a:buClr>
                <a:schemeClr val="dk1"/>
              </a:buClr>
              <a:buSzPts val="688"/>
              <a:buFont typeface="Arial"/>
              <a:buNone/>
            </a:pPr>
            <a:r>
              <a:rPr lang="ru" sz="1425">
                <a:solidFill>
                  <a:schemeClr val="dk1"/>
                </a:solidFill>
                <a:latin typeface="Times New Roman"/>
                <a:ea typeface="Times New Roman"/>
                <a:cs typeface="Times New Roman"/>
                <a:sym typeface="Times New Roman"/>
              </a:rPr>
              <a:t>– declarative:</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Ducks are amazing.							assertion</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I wonder where Anna is.							question</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You should move your car.						suggestion</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You can have a muffin. 							invitation</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It would be a shame if something happened to your store.	threat</a:t>
            </a:r>
            <a:endParaRPr sz="1425">
              <a:solidFill>
                <a:schemeClr val="dk1"/>
              </a:solidFill>
              <a:latin typeface="Times New Roman"/>
              <a:ea typeface="Times New Roman"/>
              <a:cs typeface="Times New Roman"/>
              <a:sym typeface="Times New Roman"/>
            </a:endParaRPr>
          </a:p>
          <a:p>
            <a:pPr indent="0" lvl="0" marL="0" rtl="0" algn="l">
              <a:lnSpc>
                <a:spcPct val="80000"/>
              </a:lnSpc>
              <a:spcBef>
                <a:spcPts val="0"/>
              </a:spcBef>
              <a:spcAft>
                <a:spcPts val="0"/>
              </a:spcAft>
              <a:buClr>
                <a:schemeClr val="dk1"/>
              </a:buClr>
              <a:buSzPts val="688"/>
              <a:buFont typeface="Arial"/>
              <a:buNone/>
            </a:pPr>
            <a:r>
              <a:t/>
            </a:r>
            <a:endParaRPr sz="1425">
              <a:solidFill>
                <a:schemeClr val="dk1"/>
              </a:solidFill>
              <a:latin typeface="Times New Roman"/>
              <a:ea typeface="Times New Roman"/>
              <a:cs typeface="Times New Roman"/>
              <a:sym typeface="Times New Roman"/>
            </a:endParaRPr>
          </a:p>
          <a:p>
            <a:pPr indent="0" lvl="0" marL="0" rtl="0" algn="l">
              <a:lnSpc>
                <a:spcPct val="80000"/>
              </a:lnSpc>
              <a:spcBef>
                <a:spcPts val="0"/>
              </a:spcBef>
              <a:spcAft>
                <a:spcPts val="0"/>
              </a:spcAft>
              <a:buClr>
                <a:schemeClr val="dk1"/>
              </a:buClr>
              <a:buSzPts val="688"/>
              <a:buFont typeface="Arial"/>
              <a:buNone/>
            </a:pPr>
            <a:r>
              <a:rPr lang="ru" sz="1425">
                <a:solidFill>
                  <a:schemeClr val="dk1"/>
                </a:solidFill>
                <a:latin typeface="Times New Roman"/>
                <a:ea typeface="Times New Roman"/>
                <a:cs typeface="Times New Roman"/>
                <a:sym typeface="Times New Roman"/>
              </a:rPr>
              <a:t>– interrogative:</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Is today Saturday? 							question</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What day is today?							question</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What on earth are you doing?						accusation</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Do you want to have ice-cream?					invitation</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Could you help me?							request</a:t>
            </a:r>
            <a:endParaRPr sz="1425">
              <a:solidFill>
                <a:schemeClr val="dk1"/>
              </a:solidFill>
              <a:latin typeface="Times New Roman"/>
              <a:ea typeface="Times New Roman"/>
              <a:cs typeface="Times New Roman"/>
              <a:sym typeface="Times New Roman"/>
            </a:endParaRPr>
          </a:p>
          <a:p>
            <a:pPr indent="0" lvl="0" marL="457200" rtl="0" algn="l">
              <a:lnSpc>
                <a:spcPct val="80000"/>
              </a:lnSpc>
              <a:spcBef>
                <a:spcPts val="0"/>
              </a:spcBef>
              <a:spcAft>
                <a:spcPts val="0"/>
              </a:spcAft>
              <a:buSzPts val="688"/>
              <a:buNone/>
            </a:pPr>
            <a:r>
              <a:t/>
            </a:r>
            <a:endParaRPr sz="1425">
              <a:solidFill>
                <a:schemeClr val="dk1"/>
              </a:solidFill>
              <a:latin typeface="Times New Roman"/>
              <a:ea typeface="Times New Roman"/>
              <a:cs typeface="Times New Roman"/>
              <a:sym typeface="Times New Roman"/>
            </a:endParaRPr>
          </a:p>
          <a:p>
            <a:pPr indent="0" lvl="0" marL="0" rtl="0" algn="l">
              <a:lnSpc>
                <a:spcPct val="80000"/>
              </a:lnSpc>
              <a:spcBef>
                <a:spcPts val="0"/>
              </a:spcBef>
              <a:spcAft>
                <a:spcPts val="0"/>
              </a:spcAft>
              <a:buClr>
                <a:schemeClr val="dk1"/>
              </a:buClr>
              <a:buSzPts val="688"/>
              <a:buFont typeface="Arial"/>
              <a:buNone/>
            </a:pPr>
            <a:r>
              <a:rPr lang="ru" sz="1425">
                <a:solidFill>
                  <a:schemeClr val="dk1"/>
                </a:solidFill>
                <a:latin typeface="Times New Roman"/>
                <a:ea typeface="Times New Roman"/>
                <a:cs typeface="Times New Roman"/>
                <a:sym typeface="Times New Roman"/>
              </a:rPr>
              <a:t>– imperative:</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Move your car!								command</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Have a muffin!								invitation</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Please rain! 									plea</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Get well soon! 								well-wish</a:t>
            </a:r>
            <a:endParaRPr sz="1425">
              <a:solidFill>
                <a:schemeClr val="dk1"/>
              </a:solidFill>
              <a:latin typeface="Times New Roman"/>
              <a:ea typeface="Times New Roman"/>
              <a:cs typeface="Times New Roman"/>
              <a:sym typeface="Times New Roman"/>
            </a:endParaRPr>
          </a:p>
          <a:p>
            <a:pPr indent="-319087" lvl="0" marL="457200" rtl="0" algn="l">
              <a:lnSpc>
                <a:spcPct val="80000"/>
              </a:lnSpc>
              <a:spcBef>
                <a:spcPts val="0"/>
              </a:spcBef>
              <a:spcAft>
                <a:spcPts val="0"/>
              </a:spcAft>
              <a:buClr>
                <a:schemeClr val="dk1"/>
              </a:buClr>
              <a:buSzPts val="1425"/>
              <a:buFont typeface="Times New Roman"/>
              <a:buAutoNum type="arabicParenBoth"/>
            </a:pPr>
            <a:r>
              <a:rPr lang="ru" sz="1425">
                <a:solidFill>
                  <a:schemeClr val="dk1"/>
                </a:solidFill>
                <a:latin typeface="Times New Roman"/>
                <a:ea typeface="Times New Roman"/>
                <a:cs typeface="Times New Roman"/>
                <a:sym typeface="Times New Roman"/>
              </a:rPr>
              <a:t>Turn right here.								request</a:t>
            </a:r>
            <a:endParaRPr sz="1425">
              <a:solidFill>
                <a:schemeClr val="dk1"/>
              </a:solidFill>
              <a:latin typeface="Times New Roman"/>
              <a:ea typeface="Times New Roman"/>
              <a:cs typeface="Times New Roman"/>
              <a:sym typeface="Times New Roman"/>
            </a:endParaRPr>
          </a:p>
          <a:p>
            <a:pPr indent="0" lvl="0" marL="0" rtl="0" algn="l">
              <a:lnSpc>
                <a:spcPct val="80000"/>
              </a:lnSpc>
              <a:spcBef>
                <a:spcPts val="0"/>
              </a:spcBef>
              <a:spcAft>
                <a:spcPts val="0"/>
              </a:spcAft>
              <a:buSzPts val="688"/>
              <a:buNone/>
            </a:pPr>
            <a:r>
              <a:t/>
            </a:r>
            <a:endParaRPr sz="1425">
              <a:solidFill>
                <a:schemeClr val="dk1"/>
              </a:solidFill>
              <a:latin typeface="Times New Roman"/>
              <a:ea typeface="Times New Roman"/>
              <a:cs typeface="Times New Roman"/>
              <a:sym typeface="Times New Roman"/>
            </a:endParaRPr>
          </a:p>
          <a:p>
            <a:pPr indent="0" lvl="0" marL="0" rtl="0" algn="l">
              <a:lnSpc>
                <a:spcPct val="80000"/>
              </a:lnSpc>
              <a:spcBef>
                <a:spcPts val="0"/>
              </a:spcBef>
              <a:spcAft>
                <a:spcPts val="0"/>
              </a:spcAft>
              <a:buSzPts val="688"/>
              <a:buNone/>
            </a:pPr>
            <a:r>
              <a:t/>
            </a:r>
            <a:endParaRPr sz="1225">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ru" sz="2220">
                <a:solidFill>
                  <a:srgbClr val="CC0000"/>
                </a:solidFill>
                <a:latin typeface="Times New Roman"/>
                <a:ea typeface="Times New Roman"/>
                <a:cs typeface="Times New Roman"/>
                <a:sym typeface="Times New Roman"/>
              </a:rPr>
              <a:t>Sentence type conventions</a:t>
            </a:r>
            <a:endParaRPr sz="2220">
              <a:solidFill>
                <a:srgbClr val="CC0000"/>
              </a:solidFill>
              <a:latin typeface="Times New Roman"/>
              <a:ea typeface="Times New Roman"/>
              <a:cs typeface="Times New Roman"/>
              <a:sym typeface="Times New Roman"/>
            </a:endParaRPr>
          </a:p>
        </p:txBody>
      </p:sp>
      <p:sp>
        <p:nvSpPr>
          <p:cNvPr id="97" name="Google Shape;97;p20"/>
          <p:cNvSpPr txBox="1"/>
          <p:nvPr>
            <p:ph idx="1" type="body"/>
          </p:nvPr>
        </p:nvSpPr>
        <p:spPr>
          <a:xfrm>
            <a:off x="311700" y="1017725"/>
            <a:ext cx="8520600" cy="39228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Clr>
                <a:schemeClr val="dk1"/>
              </a:buClr>
              <a:buSzPts val="1800"/>
              <a:buFont typeface="Times New Roman"/>
              <a:buAutoNum type="arabicParenBoth"/>
            </a:pPr>
            <a:r>
              <a:rPr lang="ru" u="sng">
                <a:solidFill>
                  <a:schemeClr val="dk1"/>
                </a:solidFill>
                <a:latin typeface="Times New Roman"/>
                <a:ea typeface="Times New Roman"/>
                <a:cs typeface="Times New Roman"/>
                <a:sym typeface="Times New Roman"/>
              </a:rPr>
              <a:t>Declarative convention</a:t>
            </a:r>
            <a:r>
              <a:rPr lang="ru">
                <a:solidFill>
                  <a:schemeClr val="dk1"/>
                </a:solidFill>
                <a:latin typeface="Times New Roman"/>
                <a:ea typeface="Times New Roman"/>
                <a:cs typeface="Times New Roman"/>
                <a:sym typeface="Times New Roman"/>
              </a:rPr>
              <a:t>: If a speaker S utters a declarative sentence with propositional content p, then S thereby commits to acting as though she believes p.</a:t>
            </a:r>
            <a:endParaRPr>
              <a:solidFill>
                <a:schemeClr val="dk1"/>
              </a:solidFill>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AutoNum type="arabicParenBoth"/>
            </a:pPr>
            <a:r>
              <a:rPr lang="ru" u="sng">
                <a:solidFill>
                  <a:schemeClr val="dk1"/>
                </a:solidFill>
                <a:latin typeface="Times New Roman"/>
                <a:ea typeface="Times New Roman"/>
                <a:cs typeface="Times New Roman"/>
                <a:sym typeface="Times New Roman"/>
              </a:rPr>
              <a:t>Imperative convention</a:t>
            </a:r>
            <a:r>
              <a:rPr lang="ru">
                <a:solidFill>
                  <a:schemeClr val="dk1"/>
                </a:solidFill>
                <a:latin typeface="Times New Roman"/>
                <a:ea typeface="Times New Roman"/>
                <a:cs typeface="Times New Roman"/>
                <a:sym typeface="Times New Roman"/>
              </a:rPr>
              <a:t>: If a speaker S utters an imperative with content p, then S thereby commits to having an effective preference for p.</a:t>
            </a:r>
            <a:endParaRPr>
              <a:solidFill>
                <a:schemeClr val="dk1"/>
              </a:solidFill>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AutoNum type="arabicParenBoth"/>
            </a:pPr>
            <a:r>
              <a:rPr lang="ru" u="sng">
                <a:solidFill>
                  <a:schemeClr val="dk1"/>
                </a:solidFill>
                <a:latin typeface="Times New Roman"/>
                <a:ea typeface="Times New Roman"/>
                <a:cs typeface="Times New Roman"/>
                <a:sym typeface="Times New Roman"/>
              </a:rPr>
              <a:t>Interrogative convention</a:t>
            </a:r>
            <a:r>
              <a:rPr lang="ru">
                <a:solidFill>
                  <a:schemeClr val="dk1"/>
                </a:solidFill>
                <a:latin typeface="Times New Roman"/>
                <a:ea typeface="Times New Roman"/>
                <a:cs typeface="Times New Roman"/>
                <a:sym typeface="Times New Roman"/>
              </a:rPr>
              <a:t>: If a speaker S utters an interrogative with content Q, then S thereby commits to a preference for the hearer to commit himself to acting as though he believes an answer to Q.</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ru">
                <a:solidFill>
                  <a:schemeClr val="dk1"/>
                </a:solidFill>
                <a:latin typeface="Times New Roman"/>
                <a:ea typeface="Times New Roman"/>
                <a:cs typeface="Times New Roman"/>
                <a:sym typeface="Times New Roman"/>
              </a:rPr>
              <a:t>(Lauer 2013)</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ru" sz="2320">
                <a:solidFill>
                  <a:srgbClr val="CC0000"/>
                </a:solidFill>
                <a:latin typeface="Times New Roman"/>
                <a:ea typeface="Times New Roman"/>
                <a:cs typeface="Times New Roman"/>
                <a:sym typeface="Times New Roman"/>
              </a:rPr>
              <a:t>Properties of illocutionary acts and illocutionary force</a:t>
            </a:r>
            <a:r>
              <a:rPr lang="ru" sz="2320">
                <a:solidFill>
                  <a:srgbClr val="CC0000"/>
                </a:solidFill>
                <a:latin typeface="Times New Roman"/>
                <a:ea typeface="Times New Roman"/>
                <a:cs typeface="Times New Roman"/>
                <a:sym typeface="Times New Roman"/>
              </a:rPr>
              <a:t> (Green 2007)</a:t>
            </a:r>
            <a:endParaRPr sz="2320">
              <a:solidFill>
                <a:srgbClr val="CC0000"/>
              </a:solidFill>
              <a:latin typeface="Times New Roman"/>
              <a:ea typeface="Times New Roman"/>
              <a:cs typeface="Times New Roman"/>
              <a:sym typeface="Times New Roman"/>
            </a:endParaRPr>
          </a:p>
        </p:txBody>
      </p:sp>
      <p:sp>
        <p:nvSpPr>
          <p:cNvPr id="103" name="Google Shape;103;p21"/>
          <p:cNvSpPr txBox="1"/>
          <p:nvPr>
            <p:ph idx="1" type="body"/>
          </p:nvPr>
        </p:nvSpPr>
        <p:spPr>
          <a:xfrm>
            <a:off x="311700" y="1152475"/>
            <a:ext cx="8520600" cy="3788100"/>
          </a:xfrm>
          <a:prstGeom prst="rect">
            <a:avLst/>
          </a:prstGeom>
        </p:spPr>
        <p:txBody>
          <a:bodyPr anchorCtr="0" anchor="t" bIns="91425" lIns="91425" spcFirstLastPara="1" rIns="91425" wrap="square" tIns="91425">
            <a:normAutofit fontScale="77500" lnSpcReduction="20000"/>
          </a:bodyPr>
          <a:lstStyle/>
          <a:p>
            <a:pPr indent="0" lvl="0" marL="0" rtl="0" algn="just">
              <a:lnSpc>
                <a:spcPct val="100000"/>
              </a:lnSpc>
              <a:spcBef>
                <a:spcPts val="0"/>
              </a:spcBef>
              <a:spcAft>
                <a:spcPts val="0"/>
              </a:spcAft>
              <a:buNone/>
            </a:pPr>
            <a:r>
              <a:rPr lang="ru">
                <a:solidFill>
                  <a:schemeClr val="dk1"/>
                </a:solidFill>
                <a:latin typeface="Times New Roman"/>
                <a:ea typeface="Times New Roman"/>
                <a:cs typeface="Times New Roman"/>
                <a:sym typeface="Times New Roman"/>
              </a:rPr>
              <a:t>i. </a:t>
            </a:r>
            <a:r>
              <a:rPr b="1" lang="ru">
                <a:solidFill>
                  <a:schemeClr val="dk1"/>
                </a:solidFill>
                <a:latin typeface="Times New Roman"/>
                <a:ea typeface="Times New Roman"/>
                <a:cs typeface="Times New Roman"/>
                <a:sym typeface="Times New Roman"/>
              </a:rPr>
              <a:t>Illocutionary point</a:t>
            </a:r>
            <a:r>
              <a:rPr lang="ru">
                <a:solidFill>
                  <a:schemeClr val="dk1"/>
                </a:solidFill>
                <a:latin typeface="Times New Roman"/>
                <a:ea typeface="Times New Roman"/>
                <a:cs typeface="Times New Roman"/>
                <a:sym typeface="Times New Roman"/>
              </a:rPr>
              <a:t>: This is the characteristic aim of each type of speech act. For instance, the characteristic aim of an assertion is to describe how things are; the characteristic point of a promise is to commit oneself to a future course of action.</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ct val="61111"/>
              <a:buFont typeface="Arial"/>
              <a:buNone/>
            </a:pPr>
            <a:r>
              <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ru">
                <a:solidFill>
                  <a:schemeClr val="dk1"/>
                </a:solidFill>
                <a:latin typeface="Times New Roman"/>
                <a:ea typeface="Times New Roman"/>
                <a:cs typeface="Times New Roman"/>
                <a:sym typeface="Times New Roman"/>
              </a:rPr>
              <a:t>ii. </a:t>
            </a:r>
            <a:r>
              <a:rPr b="1" lang="ru">
                <a:solidFill>
                  <a:schemeClr val="dk1"/>
                </a:solidFill>
                <a:latin typeface="Times New Roman"/>
                <a:ea typeface="Times New Roman"/>
                <a:cs typeface="Times New Roman"/>
                <a:sym typeface="Times New Roman"/>
              </a:rPr>
              <a:t>Degree of strength of the illocutionary point</a:t>
            </a:r>
            <a:r>
              <a:rPr lang="ru">
                <a:solidFill>
                  <a:schemeClr val="dk1"/>
                </a:solidFill>
                <a:latin typeface="Times New Roman"/>
                <a:ea typeface="Times New Roman"/>
                <a:cs typeface="Times New Roman"/>
                <a:sym typeface="Times New Roman"/>
              </a:rPr>
              <a:t>: Two illocutions can have the same point but differ along the dimension of strength. For instance, requesting and insisting that the addressee do something both have the point of attempting to get the addressee to do that thing; however, the latter is stronger than the former.</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ct val="61111"/>
              <a:buFont typeface="Arial"/>
              <a:buNone/>
            </a:pPr>
            <a:r>
              <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ru">
                <a:solidFill>
                  <a:schemeClr val="dk1"/>
                </a:solidFill>
                <a:latin typeface="Times New Roman"/>
                <a:ea typeface="Times New Roman"/>
                <a:cs typeface="Times New Roman"/>
                <a:sym typeface="Times New Roman"/>
              </a:rPr>
              <a:t>iii. </a:t>
            </a:r>
            <a:r>
              <a:rPr b="1" lang="ru">
                <a:solidFill>
                  <a:schemeClr val="dk1"/>
                </a:solidFill>
                <a:latin typeface="Times New Roman"/>
                <a:ea typeface="Times New Roman"/>
                <a:cs typeface="Times New Roman"/>
                <a:sym typeface="Times New Roman"/>
              </a:rPr>
              <a:t>Mode of achievement</a:t>
            </a:r>
            <a:r>
              <a:rPr lang="ru">
                <a:solidFill>
                  <a:schemeClr val="dk1"/>
                </a:solidFill>
                <a:latin typeface="Times New Roman"/>
                <a:ea typeface="Times New Roman"/>
                <a:cs typeface="Times New Roman"/>
                <a:sym typeface="Times New Roman"/>
              </a:rPr>
              <a:t>: This is the special way, if any, in which the illocutionary point of a speech act must be achieved. Testifying and asserting both have the point of describing how things are; however, the former also involves invoking one’s authority as a witness while the latter does not. To testify is to assert in one’s capacity as a witness. Commanding and requesting both aim to get the addressee to do something; yet only someone issuing a command does so in her capacity as a person in a position of authority.</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ct val="61111"/>
              <a:buFont typeface="Arial"/>
              <a:buNone/>
            </a:pPr>
            <a:r>
              <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ct val="61111"/>
              <a:buFont typeface="Arial"/>
              <a:buNone/>
            </a:pPr>
            <a:r>
              <a:rPr lang="ru">
                <a:solidFill>
                  <a:schemeClr val="dk1"/>
                </a:solidFill>
                <a:latin typeface="Times New Roman"/>
                <a:ea typeface="Times New Roman"/>
                <a:cs typeface="Times New Roman"/>
                <a:sym typeface="Times New Roman"/>
              </a:rPr>
              <a:t>iv. </a:t>
            </a:r>
            <a:r>
              <a:rPr b="1" lang="ru">
                <a:solidFill>
                  <a:schemeClr val="dk1"/>
                </a:solidFill>
                <a:latin typeface="Times New Roman"/>
                <a:ea typeface="Times New Roman"/>
                <a:cs typeface="Times New Roman"/>
                <a:sym typeface="Times New Roman"/>
              </a:rPr>
              <a:t>Propositional content conditions</a:t>
            </a:r>
            <a:r>
              <a:rPr lang="ru">
                <a:solidFill>
                  <a:schemeClr val="dk1"/>
                </a:solidFill>
                <a:latin typeface="Times New Roman"/>
                <a:ea typeface="Times New Roman"/>
                <a:cs typeface="Times New Roman"/>
                <a:sym typeface="Times New Roman"/>
              </a:rPr>
              <a:t>: Some illocutions can only be achieved with an appropriate propositional content. For instance, I can only promise what is in the future and under my control. I can only apologize for what is in some sense under my control and already the case. For this reason, promising to make it the case that the sun did not rise yesterday is not possible; neither can I apologize for the truth of Snell’s Law.</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990"/>
              <a:buFont typeface="Arial"/>
              <a:buNone/>
            </a:pPr>
            <a:r>
              <a:rPr lang="ru" sz="2320">
                <a:solidFill>
                  <a:srgbClr val="CC0000"/>
                </a:solidFill>
                <a:latin typeface="Times New Roman"/>
                <a:ea typeface="Times New Roman"/>
                <a:cs typeface="Times New Roman"/>
                <a:sym typeface="Times New Roman"/>
              </a:rPr>
              <a:t>P</a:t>
            </a:r>
            <a:r>
              <a:rPr lang="ru" sz="2320">
                <a:solidFill>
                  <a:srgbClr val="CC0000"/>
                </a:solidFill>
                <a:latin typeface="Times New Roman"/>
                <a:ea typeface="Times New Roman"/>
                <a:cs typeface="Times New Roman"/>
                <a:sym typeface="Times New Roman"/>
              </a:rPr>
              <a:t>roperties of illocutionary acts and illocutionary force (Green 2007)</a:t>
            </a:r>
            <a:endParaRPr/>
          </a:p>
        </p:txBody>
      </p:sp>
      <p:sp>
        <p:nvSpPr>
          <p:cNvPr id="109" name="Google Shape;109;p22"/>
          <p:cNvSpPr txBox="1"/>
          <p:nvPr>
            <p:ph idx="1" type="body"/>
          </p:nvPr>
        </p:nvSpPr>
        <p:spPr>
          <a:xfrm>
            <a:off x="311700" y="1152475"/>
            <a:ext cx="8520600" cy="3788100"/>
          </a:xfrm>
          <a:prstGeom prst="rect">
            <a:avLst/>
          </a:prstGeom>
        </p:spPr>
        <p:txBody>
          <a:bodyPr anchorCtr="0" anchor="t" bIns="91425" lIns="91425" spcFirstLastPara="1" rIns="91425" wrap="square" tIns="91425">
            <a:normAutofit fontScale="92500" lnSpcReduction="10000"/>
          </a:bodyPr>
          <a:lstStyle/>
          <a:p>
            <a:pPr indent="0" lvl="0" marL="0" rtl="0" algn="just">
              <a:lnSpc>
                <a:spcPct val="100000"/>
              </a:lnSpc>
              <a:spcBef>
                <a:spcPts val="0"/>
              </a:spcBef>
              <a:spcAft>
                <a:spcPts val="0"/>
              </a:spcAft>
              <a:buNone/>
            </a:pPr>
            <a:r>
              <a:rPr lang="ru">
                <a:solidFill>
                  <a:schemeClr val="dk1"/>
                </a:solidFill>
                <a:latin typeface="Times New Roman"/>
                <a:ea typeface="Times New Roman"/>
                <a:cs typeface="Times New Roman"/>
                <a:sym typeface="Times New Roman"/>
              </a:rPr>
              <a:t>v. </a:t>
            </a:r>
            <a:r>
              <a:rPr b="1" lang="ru">
                <a:solidFill>
                  <a:schemeClr val="dk1"/>
                </a:solidFill>
                <a:latin typeface="Times New Roman"/>
                <a:ea typeface="Times New Roman"/>
                <a:cs typeface="Times New Roman"/>
                <a:sym typeface="Times New Roman"/>
              </a:rPr>
              <a:t>Preparatory conditions</a:t>
            </a:r>
            <a:r>
              <a:rPr lang="ru">
                <a:solidFill>
                  <a:schemeClr val="dk1"/>
                </a:solidFill>
                <a:latin typeface="Times New Roman"/>
                <a:ea typeface="Times New Roman"/>
                <a:cs typeface="Times New Roman"/>
                <a:sym typeface="Times New Roman"/>
              </a:rPr>
              <a:t>: These are all other conditions that must be met for the speech act not to misfire. Such conditions often concern the social status of interlocutors. For instance, a person cannot bequeath an object unless she already owns it or has power of attorney; a person cannot marry a couple unless she is legally invested with the authority to do so.</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ru">
                <a:solidFill>
                  <a:schemeClr val="dk1"/>
                </a:solidFill>
                <a:latin typeface="Times New Roman"/>
                <a:ea typeface="Times New Roman"/>
                <a:cs typeface="Times New Roman"/>
                <a:sym typeface="Times New Roman"/>
              </a:rPr>
              <a:t>vi. </a:t>
            </a:r>
            <a:r>
              <a:rPr b="1" lang="ru">
                <a:solidFill>
                  <a:schemeClr val="dk1"/>
                </a:solidFill>
                <a:latin typeface="Times New Roman"/>
                <a:ea typeface="Times New Roman"/>
                <a:cs typeface="Times New Roman"/>
                <a:sym typeface="Times New Roman"/>
              </a:rPr>
              <a:t>Sincerity conditions</a:t>
            </a:r>
            <a:r>
              <a:rPr lang="ru">
                <a:solidFill>
                  <a:schemeClr val="dk1"/>
                </a:solidFill>
                <a:latin typeface="Times New Roman"/>
                <a:ea typeface="Times New Roman"/>
                <a:cs typeface="Times New Roman"/>
                <a:sym typeface="Times New Roman"/>
              </a:rPr>
              <a:t>: Many speech acts involve the expression of a psychological state. Assertion expresses belief; apology expresses regret, a promise expresses an intention, and so on. A speech act is sincere only if the speaker is in the psychological state that her speech act expresses.</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ru">
                <a:solidFill>
                  <a:schemeClr val="dk1"/>
                </a:solidFill>
                <a:latin typeface="Times New Roman"/>
                <a:ea typeface="Times New Roman"/>
                <a:cs typeface="Times New Roman"/>
                <a:sym typeface="Times New Roman"/>
              </a:rPr>
              <a:t>vii. </a:t>
            </a:r>
            <a:r>
              <a:rPr b="1" lang="ru">
                <a:solidFill>
                  <a:schemeClr val="dk1"/>
                </a:solidFill>
                <a:latin typeface="Times New Roman"/>
                <a:ea typeface="Times New Roman"/>
                <a:cs typeface="Times New Roman"/>
                <a:sym typeface="Times New Roman"/>
              </a:rPr>
              <a:t>Degree of strength of the sincerity conditions</a:t>
            </a:r>
            <a:r>
              <a:rPr lang="ru">
                <a:solidFill>
                  <a:schemeClr val="dk1"/>
                </a:solidFill>
                <a:latin typeface="Times New Roman"/>
                <a:ea typeface="Times New Roman"/>
                <a:cs typeface="Times New Roman"/>
                <a:sym typeface="Times New Roman"/>
              </a:rPr>
              <a:t>: Two speech acts might be the same along other dimensions, but express psychological states that differ from one another in the dimension of strength. Requesting and imploring both express desires, and are identical along the other six dimensions above; however, the latter expresses a stronger desire than the former.</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solidFill>
                  <a:srgbClr val="CC0000"/>
                </a:solidFill>
                <a:latin typeface="Times New Roman"/>
                <a:ea typeface="Times New Roman"/>
                <a:cs typeface="Times New Roman"/>
                <a:sym typeface="Times New Roman"/>
              </a:rPr>
              <a:t>Practice: compliments</a:t>
            </a:r>
            <a:endParaRPr>
              <a:solidFill>
                <a:srgbClr val="CC0000"/>
              </a:solidFill>
              <a:latin typeface="Times New Roman"/>
              <a:ea typeface="Times New Roman"/>
              <a:cs typeface="Times New Roman"/>
              <a:sym typeface="Times New Roman"/>
            </a:endParaRPr>
          </a:p>
        </p:txBody>
      </p:sp>
      <p:sp>
        <p:nvSpPr>
          <p:cNvPr id="115" name="Google Shape;115;p23"/>
          <p:cNvSpPr txBox="1"/>
          <p:nvPr>
            <p:ph idx="1" type="body"/>
          </p:nvPr>
        </p:nvSpPr>
        <p:spPr>
          <a:xfrm>
            <a:off x="311700" y="1152475"/>
            <a:ext cx="8520600" cy="3684600"/>
          </a:xfrm>
          <a:prstGeom prst="rect">
            <a:avLst/>
          </a:prstGeom>
        </p:spPr>
        <p:txBody>
          <a:bodyPr anchorCtr="0" anchor="t" bIns="91425" lIns="91425" spcFirstLastPara="1" rIns="91425" wrap="square" tIns="91425">
            <a:normAutofit fontScale="25000" lnSpcReduction="20000"/>
          </a:bodyPr>
          <a:lstStyle/>
          <a:p>
            <a:pPr indent="0" lvl="0" marL="0" rtl="0" algn="l">
              <a:lnSpc>
                <a:spcPct val="100000"/>
              </a:lnSpc>
              <a:spcBef>
                <a:spcPts val="0"/>
              </a:spcBef>
              <a:spcAft>
                <a:spcPts val="0"/>
              </a:spcAft>
              <a:buNone/>
            </a:pPr>
            <a:r>
              <a:rPr lang="ru" sz="5600">
                <a:solidFill>
                  <a:srgbClr val="000000"/>
                </a:solidFill>
                <a:highlight>
                  <a:srgbClr val="FFFFFF"/>
                </a:highlight>
                <a:latin typeface="Times New Roman"/>
                <a:ea typeface="Times New Roman"/>
                <a:cs typeface="Times New Roman"/>
                <a:sym typeface="Times New Roman"/>
              </a:rPr>
              <a:t>– Wierzbicka (1987: 201):</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275"/>
              <a:buFont typeface="Arial"/>
              <a:buNone/>
            </a:pPr>
            <a:r>
              <a:rPr lang="ru" sz="5600">
                <a:solidFill>
                  <a:srgbClr val="000000"/>
                </a:solidFill>
                <a:highlight>
                  <a:srgbClr val="FFFFFF"/>
                </a:highlight>
                <a:latin typeface="Times New Roman"/>
                <a:ea typeface="Times New Roman"/>
                <a:cs typeface="Times New Roman"/>
                <a:sym typeface="Times New Roman"/>
              </a:rPr>
              <a:t>(1) I perceive something good about your Y.</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275"/>
              <a:buFont typeface="Arial"/>
              <a:buNone/>
            </a:pPr>
            <a:r>
              <a:rPr lang="ru" sz="5600">
                <a:solidFill>
                  <a:srgbClr val="000000"/>
                </a:solidFill>
                <a:highlight>
                  <a:srgbClr val="FFFFFF"/>
                </a:highlight>
                <a:latin typeface="Times New Roman"/>
                <a:ea typeface="Times New Roman"/>
                <a:cs typeface="Times New Roman"/>
                <a:sym typeface="Times New Roman"/>
              </a:rPr>
              <a:t>(2) I'd like to say a good thing about you because of that.</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highlight>
                  <a:srgbClr val="FFFFFF"/>
                </a:highlight>
                <a:latin typeface="Times New Roman"/>
                <a:ea typeface="Times New Roman"/>
                <a:cs typeface="Times New Roman"/>
                <a:sym typeface="Times New Roman"/>
              </a:rPr>
              <a:t>(3) I say something good about X and X’s Y.</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highlight>
                  <a:srgbClr val="FFFFFF"/>
                </a:highlight>
                <a:latin typeface="Times New Roman"/>
                <a:ea typeface="Times New Roman"/>
                <a:cs typeface="Times New Roman"/>
                <a:sym typeface="Times New Roman"/>
              </a:rPr>
              <a:t>– Jacob et al. (1993:6): </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highlight>
                  <a:srgbClr val="FFFFFF"/>
                </a:highlight>
                <a:latin typeface="Times New Roman"/>
                <a:ea typeface="Times New Roman"/>
                <a:cs typeface="Times New Roman"/>
                <a:sym typeface="Times New Roman"/>
              </a:rPr>
              <a:t>A. The Propositional Conditions: The S must indicate a positive value for an attribute, state, or event.</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highlight>
                  <a:srgbClr val="FFFFFF"/>
                </a:highlight>
                <a:latin typeface="Times New Roman"/>
                <a:ea typeface="Times New Roman"/>
                <a:cs typeface="Times New Roman"/>
                <a:sym typeface="Times New Roman"/>
              </a:rPr>
              <a:t>B. The Preparatory Conditions: The S must have positive value, the attribute must be noteworthy, and the H must be able to take credit for the attribute.</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highlight>
                  <a:srgbClr val="FFFFFF"/>
                </a:highlight>
                <a:latin typeface="Times New Roman"/>
                <a:ea typeface="Times New Roman"/>
                <a:cs typeface="Times New Roman"/>
                <a:sym typeface="Times New Roman"/>
              </a:rPr>
              <a:t>C. The Sincerity Condition: The S must approve the attribute; state or event being mentioned.</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highlight>
                  <a:srgbClr val="FFFFFF"/>
                </a:highlight>
                <a:latin typeface="Times New Roman"/>
                <a:ea typeface="Times New Roman"/>
                <a:cs typeface="Times New Roman"/>
                <a:sym typeface="Times New Roman"/>
              </a:rPr>
              <a:t>D. The Essential Conditions: The utterance counts as a recognition and approval of the attribute, state, or event credited to the hearer.</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latin typeface="Times New Roman"/>
                <a:ea typeface="Times New Roman"/>
                <a:cs typeface="Times New Roman"/>
                <a:sym typeface="Times New Roman"/>
              </a:rPr>
              <a:t>What perlocutionary effect do we expect? </a:t>
            </a:r>
            <a:endParaRPr sz="56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latin typeface="Times New Roman"/>
                <a:ea typeface="Times New Roman"/>
                <a:cs typeface="Times New Roman"/>
                <a:sym typeface="Times New Roman"/>
              </a:rPr>
              <a:t>Could a compliment result in a communicative failure? </a:t>
            </a:r>
            <a:endParaRPr sz="56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latin typeface="Times New Roman"/>
                <a:ea typeface="Times New Roman"/>
                <a:cs typeface="Times New Roman"/>
                <a:sym typeface="Times New Roman"/>
              </a:rPr>
              <a:t>Could a different speech act be disguised as a compliment? </a:t>
            </a:r>
            <a:endParaRPr sz="56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latin typeface="Times New Roman"/>
                <a:ea typeface="Times New Roman"/>
                <a:cs typeface="Times New Roman"/>
                <a:sym typeface="Times New Roman"/>
              </a:rPr>
              <a:t>Could a compliment be mistaken for a different speech act? </a:t>
            </a:r>
            <a:endParaRPr sz="56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latin typeface="Times New Roman"/>
                <a:ea typeface="Times New Roman"/>
                <a:cs typeface="Times New Roman"/>
                <a:sym typeface="Times New Roman"/>
              </a:rPr>
              <a:t>What speech acts are in the compliment family: praise, acknowledgement…? </a:t>
            </a:r>
            <a:endParaRPr sz="56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latin typeface="Times New Roman"/>
                <a:ea typeface="Times New Roman"/>
                <a:cs typeface="Times New Roman"/>
                <a:sym typeface="Times New Roman"/>
              </a:rPr>
              <a:t>How do we distinguish between those? </a:t>
            </a:r>
            <a:endParaRPr sz="56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5600">
                <a:solidFill>
                  <a:srgbClr val="000000"/>
                </a:solidFill>
                <a:latin typeface="Times New Roman"/>
                <a:ea typeface="Times New Roman"/>
                <a:cs typeface="Times New Roman"/>
                <a:sym typeface="Times New Roman"/>
              </a:rPr>
              <a:t>Which sentence types could be used in a compliment?</a:t>
            </a:r>
            <a:endParaRPr sz="56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56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5600">
              <a:solidFill>
                <a:srgbClr val="222222"/>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8750"/>
              <a:buFont typeface="Arial"/>
              <a:buNone/>
            </a:pPr>
            <a:r>
              <a:t/>
            </a:r>
            <a:endParaRPr sz="1600">
              <a:solidFill>
                <a:srgbClr val="222222"/>
              </a:solidFill>
              <a:highlight>
                <a:srgbClr val="FFFFFF"/>
              </a:highlight>
            </a:endParaRPr>
          </a:p>
          <a:p>
            <a:pPr indent="0" lvl="0" marL="0" rtl="0" algn="l">
              <a:lnSpc>
                <a:spcPct val="100000"/>
              </a:lnSpc>
              <a:spcBef>
                <a:spcPts val="0"/>
              </a:spcBef>
              <a:spcAft>
                <a:spcPts val="0"/>
              </a:spcAft>
              <a:buNone/>
            </a:pPr>
            <a:r>
              <a:t/>
            </a:r>
            <a:endParaRPr sz="1600">
              <a:solidFill>
                <a:srgbClr val="222222"/>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solidFill>
                  <a:srgbClr val="CC0000"/>
                </a:solidFill>
                <a:latin typeface="Times New Roman"/>
                <a:ea typeface="Times New Roman"/>
                <a:cs typeface="Times New Roman"/>
                <a:sym typeface="Times New Roman"/>
              </a:rPr>
              <a:t>Practice: direct and indirect speech acts</a:t>
            </a:r>
            <a:endParaRPr>
              <a:solidFill>
                <a:srgbClr val="CC0000"/>
              </a:solidFill>
              <a:latin typeface="Times New Roman"/>
              <a:ea typeface="Times New Roman"/>
              <a:cs typeface="Times New Roman"/>
              <a:sym typeface="Times New Roman"/>
            </a:endParaRPr>
          </a:p>
        </p:txBody>
      </p:sp>
      <p:sp>
        <p:nvSpPr>
          <p:cNvPr id="121" name="Google Shape;121;p24"/>
          <p:cNvSpPr txBox="1"/>
          <p:nvPr>
            <p:ph idx="1" type="body"/>
          </p:nvPr>
        </p:nvSpPr>
        <p:spPr>
          <a:xfrm>
            <a:off x="311700" y="1152475"/>
            <a:ext cx="8520600" cy="37188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Clr>
                <a:schemeClr val="dk1"/>
              </a:buClr>
              <a:buSzPct val="68750"/>
              <a:buFont typeface="Arial"/>
              <a:buNone/>
            </a:pPr>
            <a:r>
              <a:rPr lang="ru" sz="1600">
                <a:solidFill>
                  <a:schemeClr val="dk1"/>
                </a:solidFill>
                <a:highlight>
                  <a:srgbClr val="FFFFFF"/>
                </a:highlight>
                <a:latin typeface="Times New Roman"/>
                <a:ea typeface="Times New Roman"/>
                <a:cs typeface="Times New Roman"/>
                <a:sym typeface="Times New Roman"/>
              </a:rPr>
              <a:t>Solan &amp; Tiersma (2005:61):</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8750"/>
              <a:buFont typeface="Arial"/>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8750"/>
              <a:buFont typeface="Arial"/>
              <a:buNone/>
            </a:pPr>
            <a:r>
              <a:rPr lang="ru" sz="1600">
                <a:solidFill>
                  <a:schemeClr val="dk1"/>
                </a:solidFill>
                <a:highlight>
                  <a:srgbClr val="FFFFFF"/>
                </a:highlight>
                <a:latin typeface="Times New Roman"/>
                <a:ea typeface="Times New Roman"/>
                <a:cs typeface="Times New Roman"/>
                <a:sym typeface="Times New Roman"/>
              </a:rPr>
              <a:t>These findings suggest that the legal system should begin to recognize indirect requests for counsel, just as they recognize indirect requests by the police to search a car, and just as they recognize indirect acts of consent by suspects. At the very least, law enforcement officers should be required to explain, once a suspect raises the right to counsel, that his request will be respected and that if he wants to have a lawyer present, all he has to do is say “I want a lawyer.”</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8750"/>
              <a:buFont typeface="Arial"/>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8750"/>
              <a:buFont typeface="Arial"/>
              <a:buNone/>
            </a:pPr>
            <a:r>
              <a:rPr lang="ru" sz="1600">
                <a:solidFill>
                  <a:schemeClr val="dk1"/>
                </a:solidFill>
                <a:highlight>
                  <a:srgbClr val="FFFFFF"/>
                </a:highlight>
                <a:latin typeface="Times New Roman"/>
                <a:ea typeface="Times New Roman"/>
                <a:cs typeface="Times New Roman"/>
                <a:sym typeface="Times New Roman"/>
              </a:rPr>
              <a:t>The law is now settled and contains no such requirement. In 1994 – the year after Ainsworth’s article was published in the Yale Law Journal – the Supreme Court held in Davis v. United States that a suspect’s statement that “Maybe I should talk to a lawyer” was not an invocation of the right to counsel, adopting the literalistic threshold of clarity approach. The Court also held that interrogating officers were under no duty to ask clarifying questions, emphasizing that unless and until a suspect makes an unambiguous or unequivocal request for counsel, the police can continue questioning. The ruling was especially aggressive in rejecting the clarification standard, which the government itself had agreed may be the best path to take when a suspect makes an equivocal invocation.</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8750"/>
              <a:buFont typeface="Arial"/>
              <a:buNone/>
            </a:pPr>
            <a:r>
              <a:t/>
            </a:r>
            <a:endParaRPr sz="1600">
              <a:solidFill>
                <a:srgbClr val="222222"/>
              </a:solidFill>
              <a:highlight>
                <a:srgbClr val="FFFFFF"/>
              </a:highlight>
            </a:endParaRPr>
          </a:p>
          <a:p>
            <a:pPr indent="0" lvl="0" marL="0" rtl="0" algn="l">
              <a:lnSpc>
                <a:spcPct val="100000"/>
              </a:lnSpc>
              <a:spcBef>
                <a:spcPts val="0"/>
              </a:spcBef>
              <a:spcAft>
                <a:spcPts val="0"/>
              </a:spcAft>
              <a:buClr>
                <a:schemeClr val="dk1"/>
              </a:buClr>
              <a:buSzPct val="68750"/>
              <a:buFont typeface="Arial"/>
              <a:buNone/>
            </a:pPr>
            <a:r>
              <a:t/>
            </a:r>
            <a:endParaRPr b="1" sz="1600">
              <a:solidFill>
                <a:srgbClr val="222222"/>
              </a:solidFill>
              <a:highlight>
                <a:srgbClr val="FFFFFF"/>
              </a:highlight>
            </a:endParaRPr>
          </a:p>
          <a:p>
            <a:pPr indent="0" lvl="0" marL="0" rtl="0" algn="l">
              <a:lnSpc>
                <a:spcPct val="100000"/>
              </a:lnSpc>
              <a:spcBef>
                <a:spcPts val="0"/>
              </a:spcBef>
              <a:spcAft>
                <a:spcPts val="0"/>
              </a:spcAft>
              <a:buClr>
                <a:schemeClr val="dk1"/>
              </a:buClr>
              <a:buSzPct val="68750"/>
              <a:buFont typeface="Arial"/>
              <a:buNone/>
            </a:pPr>
            <a:r>
              <a:t/>
            </a:r>
            <a:endParaRPr sz="1600">
              <a:solidFill>
                <a:srgbClr val="222222"/>
              </a:solidFill>
              <a:highlight>
                <a:srgbClr val="FFFFFF"/>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solidFill>
                  <a:srgbClr val="CC0000"/>
                </a:solidFill>
                <a:latin typeface="Times New Roman"/>
                <a:ea typeface="Times New Roman"/>
                <a:cs typeface="Times New Roman"/>
                <a:sym typeface="Times New Roman"/>
              </a:rPr>
              <a:t>Practice: direct and indirect speech acts</a:t>
            </a:r>
            <a:endParaRPr/>
          </a:p>
        </p:txBody>
      </p:sp>
      <p:sp>
        <p:nvSpPr>
          <p:cNvPr id="127" name="Google Shape;127;p25"/>
          <p:cNvSpPr txBox="1"/>
          <p:nvPr>
            <p:ph idx="1" type="body"/>
          </p:nvPr>
        </p:nvSpPr>
        <p:spPr>
          <a:xfrm>
            <a:off x="311700" y="1152475"/>
            <a:ext cx="8520600" cy="3718800"/>
          </a:xfrm>
          <a:prstGeom prst="rect">
            <a:avLst/>
          </a:prstGeom>
        </p:spPr>
        <p:txBody>
          <a:bodyPr anchorCtr="0" anchor="t" bIns="91425" lIns="91425" spcFirstLastPara="1" rIns="91425" wrap="square" tIns="91425">
            <a:normAutofit fontScale="32500" lnSpcReduction="20000"/>
          </a:bodyPr>
          <a:lstStyle/>
          <a:p>
            <a:pPr indent="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(1) I hereby invoke my right to counsel. – to invoke your right to counsel in the U.S.</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26077"/>
              <a:buFont typeface="Arial"/>
              <a:buNone/>
            </a:pPr>
            <a:r>
              <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Courts have ruled that all of the following fail to invoke the right to counsel:</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(2)	a. “Maybe I need a lawyer.”</a:t>
            </a:r>
            <a:endParaRPr sz="4218">
              <a:solidFill>
                <a:schemeClr val="dk1"/>
              </a:solidFill>
              <a:highlight>
                <a:srgbClr val="FFFFFF"/>
              </a:highlight>
              <a:latin typeface="Times New Roman"/>
              <a:ea typeface="Times New Roman"/>
              <a:cs typeface="Times New Roman"/>
              <a:sym typeface="Times New Roman"/>
            </a:endParaRPr>
          </a:p>
          <a:p>
            <a:pPr indent="45720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b. “I think I need a lawyer.”</a:t>
            </a:r>
            <a:endParaRPr sz="4218">
              <a:solidFill>
                <a:schemeClr val="dk1"/>
              </a:solidFill>
              <a:highlight>
                <a:srgbClr val="FFFFFF"/>
              </a:highlight>
              <a:latin typeface="Times New Roman"/>
              <a:ea typeface="Times New Roman"/>
              <a:cs typeface="Times New Roman"/>
              <a:sym typeface="Times New Roman"/>
            </a:endParaRPr>
          </a:p>
          <a:p>
            <a:pPr indent="45720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c. “Didn’t you say I have the right to an attorney?”</a:t>
            </a:r>
            <a:endParaRPr sz="4218">
              <a:solidFill>
                <a:schemeClr val="dk1"/>
              </a:solidFill>
              <a:highlight>
                <a:srgbClr val="FFFFFF"/>
              </a:highlight>
              <a:latin typeface="Times New Roman"/>
              <a:ea typeface="Times New Roman"/>
              <a:cs typeface="Times New Roman"/>
              <a:sym typeface="Times New Roman"/>
            </a:endParaRPr>
          </a:p>
          <a:p>
            <a:pPr indent="45720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d. “Wait a minute. Maybe I ought to have an attorney.”</a:t>
            </a:r>
            <a:endParaRPr sz="4218">
              <a:solidFill>
                <a:schemeClr val="dk1"/>
              </a:solidFill>
              <a:highlight>
                <a:srgbClr val="FFFFFF"/>
              </a:highlight>
              <a:latin typeface="Times New Roman"/>
              <a:ea typeface="Times New Roman"/>
              <a:cs typeface="Times New Roman"/>
              <a:sym typeface="Times New Roman"/>
            </a:endParaRPr>
          </a:p>
          <a:p>
            <a:pPr indent="457200" lvl="0" marL="0" rtl="0" algn="l">
              <a:lnSpc>
                <a:spcPct val="100000"/>
              </a:lnSpc>
              <a:spcBef>
                <a:spcPts val="0"/>
              </a:spcBef>
              <a:spcAft>
                <a:spcPts val="0"/>
              </a:spcAft>
              <a:buClr>
                <a:schemeClr val="dk1"/>
              </a:buClr>
              <a:buSzPct val="26077"/>
              <a:buFont typeface="Arial"/>
              <a:buNone/>
            </a:pPr>
            <a:r>
              <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Why do you think people might use indirect speech acts in (2), as opposed to a direct speech act in (1)?</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26077"/>
              <a:buFont typeface="Arial"/>
              <a:buNone/>
            </a:pPr>
            <a:r>
              <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26077"/>
              <a:buFont typeface="Arial"/>
              <a:buNone/>
            </a:pPr>
            <a:r>
              <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For comparison, all of the following have been interpreted by courts as successful instances of police requesting that they be allowed to search people or their motor vehicles:</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26077"/>
              <a:buFont typeface="Arial"/>
              <a:buNone/>
            </a:pPr>
            <a:r>
              <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(Solan &amp; Tiersma 2005:§3):</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(3)	a. “You don’t mind if we look in you trunk, do you?”</a:t>
            </a:r>
            <a:endParaRPr sz="4218">
              <a:solidFill>
                <a:schemeClr val="dk1"/>
              </a:solidFill>
              <a:highlight>
                <a:srgbClr val="FFFFFF"/>
              </a:highlight>
              <a:latin typeface="Times New Roman"/>
              <a:ea typeface="Times New Roman"/>
              <a:cs typeface="Times New Roman"/>
              <a:sym typeface="Times New Roman"/>
            </a:endParaRPr>
          </a:p>
          <a:p>
            <a:pPr indent="45720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b. “Do you mind if I check it [luggage]?”</a:t>
            </a:r>
            <a:endParaRPr sz="4218">
              <a:solidFill>
                <a:schemeClr val="dk1"/>
              </a:solidFill>
              <a:highlight>
                <a:srgbClr val="FFFFFF"/>
              </a:highlight>
              <a:latin typeface="Times New Roman"/>
              <a:ea typeface="Times New Roman"/>
              <a:cs typeface="Times New Roman"/>
              <a:sym typeface="Times New Roman"/>
            </a:endParaRPr>
          </a:p>
          <a:p>
            <a:pPr indent="45720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c. “Do you mind if I take a look?”</a:t>
            </a:r>
            <a:endParaRPr sz="4218">
              <a:solidFill>
                <a:schemeClr val="dk1"/>
              </a:solidFill>
              <a:highlight>
                <a:srgbClr val="FFFFFF"/>
              </a:highlight>
              <a:latin typeface="Times New Roman"/>
              <a:ea typeface="Times New Roman"/>
              <a:cs typeface="Times New Roman"/>
              <a:sym typeface="Times New Roman"/>
            </a:endParaRPr>
          </a:p>
          <a:p>
            <a:pPr indent="457200" lvl="0" marL="0" rtl="0" algn="l">
              <a:lnSpc>
                <a:spcPct val="100000"/>
              </a:lnSpc>
              <a:spcBef>
                <a:spcPts val="0"/>
              </a:spcBef>
              <a:spcAft>
                <a:spcPts val="0"/>
              </a:spcAft>
              <a:buClr>
                <a:schemeClr val="dk1"/>
              </a:buClr>
              <a:buSzPct val="26077"/>
              <a:buFont typeface="Arial"/>
              <a:buNone/>
            </a:pPr>
            <a:r>
              <a:rPr lang="ru" sz="4218">
                <a:solidFill>
                  <a:schemeClr val="dk1"/>
                </a:solidFill>
                <a:highlight>
                  <a:srgbClr val="FFFFFF"/>
                </a:highlight>
                <a:latin typeface="Times New Roman"/>
                <a:ea typeface="Times New Roman"/>
                <a:cs typeface="Times New Roman"/>
                <a:sym typeface="Times New Roman"/>
              </a:rPr>
              <a:t>d. “Can I have permission to search your vehicle?”</a:t>
            </a:r>
            <a:endParaRPr sz="4218">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68750"/>
              <a:buFont typeface="Arial"/>
              <a:buNone/>
            </a:pPr>
            <a:r>
              <a:t/>
            </a:r>
            <a:endParaRPr sz="1600">
              <a:solidFill>
                <a:srgbClr val="222222"/>
              </a:solidFill>
              <a:highlight>
                <a:srgbClr val="FFFFFF"/>
              </a:highlight>
            </a:endParaRPr>
          </a:p>
          <a:p>
            <a:pPr indent="0" lvl="0" marL="0" rtl="0" algn="l">
              <a:lnSpc>
                <a:spcPct val="100000"/>
              </a:lnSpc>
              <a:spcBef>
                <a:spcPts val="0"/>
              </a:spcBef>
              <a:spcAft>
                <a:spcPts val="0"/>
              </a:spcAft>
              <a:buClr>
                <a:schemeClr val="dk1"/>
              </a:buClr>
              <a:buSzPct val="68750"/>
              <a:buFont typeface="Arial"/>
              <a:buNone/>
            </a:pPr>
            <a:r>
              <a:t/>
            </a:r>
            <a:endParaRPr sz="1600">
              <a:solidFill>
                <a:srgbClr val="222222"/>
              </a:solidFill>
              <a:highlight>
                <a:srgbClr val="FFFFFF"/>
              </a:highlight>
            </a:endParaRPr>
          </a:p>
          <a:p>
            <a:pPr indent="0" lvl="0" marL="0" rtl="0" algn="l">
              <a:lnSpc>
                <a:spcPct val="100000"/>
              </a:lnSpc>
              <a:spcBef>
                <a:spcPts val="0"/>
              </a:spcBef>
              <a:spcAft>
                <a:spcPts val="0"/>
              </a:spcAft>
              <a:buClr>
                <a:schemeClr val="dk1"/>
              </a:buClr>
              <a:buSzPct val="68750"/>
              <a:buFont typeface="Arial"/>
              <a:buNone/>
            </a:pPr>
            <a:r>
              <a:t/>
            </a:r>
            <a:endParaRPr sz="1600">
              <a:solidFill>
                <a:srgbClr val="222222"/>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solidFill>
                  <a:srgbClr val="CC0000"/>
                </a:solidFill>
                <a:latin typeface="Times New Roman"/>
                <a:ea typeface="Times New Roman"/>
                <a:cs typeface="Times New Roman"/>
                <a:sym typeface="Times New Roman"/>
              </a:rPr>
              <a:t>Practice: a request or a suggestion?</a:t>
            </a:r>
            <a:endParaRPr/>
          </a:p>
          <a:p>
            <a:pPr indent="0" lvl="0" marL="0" rtl="0" algn="l">
              <a:spcBef>
                <a:spcPts val="0"/>
              </a:spcBef>
              <a:spcAft>
                <a:spcPts val="0"/>
              </a:spcAft>
              <a:buNone/>
            </a:pPr>
            <a:r>
              <a:t/>
            </a:r>
            <a:endParaRPr/>
          </a:p>
        </p:txBody>
      </p:sp>
      <p:sp>
        <p:nvSpPr>
          <p:cNvPr id="133" name="Google Shape;133;p26"/>
          <p:cNvSpPr txBox="1"/>
          <p:nvPr>
            <p:ph idx="1" type="body"/>
          </p:nvPr>
        </p:nvSpPr>
        <p:spPr>
          <a:xfrm>
            <a:off x="311700" y="1152475"/>
            <a:ext cx="8520600" cy="3718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ru" sz="1400">
                <a:solidFill>
                  <a:srgbClr val="000000"/>
                </a:solidFill>
                <a:highlight>
                  <a:srgbClr val="FFFFFF"/>
                </a:highlight>
                <a:latin typeface="Times New Roman"/>
                <a:ea typeface="Times New Roman"/>
                <a:cs typeface="Times New Roman"/>
                <a:sym typeface="Times New Roman"/>
              </a:rPr>
              <a:t>Solan &amp; Tiersma (2005:181):</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ru" sz="1400">
                <a:solidFill>
                  <a:srgbClr val="000000"/>
                </a:solidFill>
                <a:highlight>
                  <a:srgbClr val="FFFFFF"/>
                </a:highlight>
                <a:latin typeface="Times New Roman"/>
                <a:ea typeface="Times New Roman"/>
                <a:cs typeface="Times New Roman"/>
                <a:sym typeface="Times New Roman"/>
              </a:rPr>
              <a:t>Not only is it illegal to commit a crime, but people can also be punished for asking or inducing someone else to do so. This is the crime of solicitation. Usually, the law punishes only the solicitation of more serious crimes. The state must usually prove that the solicitor intended the crime to be committed, although the crime does not actually have to be carried out. What is essential, at least under federal law, is that the solicitor “solicits, commands, induces, or otherwise endeavors to persuade” someone else to engage in the crime. The essence of solicitation is language.</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ru" sz="1400">
                <a:solidFill>
                  <a:srgbClr val="000000"/>
                </a:solidFill>
                <a:highlight>
                  <a:srgbClr val="FFFFFF"/>
                </a:highlight>
                <a:latin typeface="Times New Roman"/>
                <a:ea typeface="Times New Roman"/>
                <a:cs typeface="Times New Roman"/>
                <a:sym typeface="Times New Roman"/>
              </a:rPr>
              <a:t>Wierzbicka (1987:187):</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ru" sz="1400">
                <a:solidFill>
                  <a:srgbClr val="000000"/>
                </a:solidFill>
                <a:highlight>
                  <a:srgbClr val="FFFFFF"/>
                </a:highlight>
                <a:latin typeface="Times New Roman"/>
                <a:ea typeface="Times New Roman"/>
                <a:cs typeface="Times New Roman"/>
                <a:sym typeface="Times New Roman"/>
              </a:rPr>
              <a:t>Utterance U is a suggestion iff</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ru" sz="1400">
                <a:solidFill>
                  <a:srgbClr val="000000"/>
                </a:solidFill>
                <a:highlight>
                  <a:srgbClr val="FFFFFF"/>
                </a:highlight>
                <a:latin typeface="Times New Roman"/>
                <a:ea typeface="Times New Roman"/>
                <a:cs typeface="Times New Roman"/>
                <a:sym typeface="Times New Roman"/>
              </a:rPr>
              <a:t>a. I say that I think that it would be a good thing if you did the act described by U;</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ru" sz="1400">
                <a:solidFill>
                  <a:srgbClr val="000000"/>
                </a:solidFill>
                <a:highlight>
                  <a:srgbClr val="FFFFFF"/>
                </a:highlight>
                <a:latin typeface="Times New Roman"/>
                <a:ea typeface="Times New Roman"/>
                <a:cs typeface="Times New Roman"/>
                <a:sym typeface="Times New Roman"/>
              </a:rPr>
              <a:t>b. I say this because I want you to think about it;</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ru" sz="1400">
                <a:solidFill>
                  <a:srgbClr val="000000"/>
                </a:solidFill>
                <a:highlight>
                  <a:srgbClr val="FFFFFF"/>
                </a:highlight>
                <a:latin typeface="Times New Roman"/>
                <a:ea typeface="Times New Roman"/>
                <a:cs typeface="Times New Roman"/>
                <a:sym typeface="Times New Roman"/>
              </a:rPr>
              <a:t>c. I do not know whether you will do it; and</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ru" sz="1400">
                <a:solidFill>
                  <a:srgbClr val="000000"/>
                </a:solidFill>
                <a:highlight>
                  <a:srgbClr val="FFFFFF"/>
                </a:highlight>
                <a:latin typeface="Times New Roman"/>
                <a:ea typeface="Times New Roman"/>
                <a:cs typeface="Times New Roman"/>
                <a:sym typeface="Times New Roman"/>
              </a:rPr>
              <a:t>d. I do not want to say that I want you to do it.</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b="1" sz="1600">
              <a:solidFill>
                <a:srgbClr val="222222"/>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t/>
            </a:r>
            <a:endParaRPr sz="1600">
              <a:solidFill>
                <a:srgbClr val="222222"/>
              </a:solidFill>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solidFill>
                  <a:srgbClr val="CC0000"/>
                </a:solidFill>
                <a:latin typeface="Times New Roman"/>
                <a:ea typeface="Times New Roman"/>
                <a:cs typeface="Times New Roman"/>
                <a:sym typeface="Times New Roman"/>
              </a:rPr>
              <a:t>Practice: a request or a suggestion?</a:t>
            </a:r>
            <a:endParaRPr/>
          </a:p>
        </p:txBody>
      </p:sp>
      <p:sp>
        <p:nvSpPr>
          <p:cNvPr id="139" name="Google Shape;139;p27"/>
          <p:cNvSpPr txBox="1"/>
          <p:nvPr>
            <p:ph idx="1" type="body"/>
          </p:nvPr>
        </p:nvSpPr>
        <p:spPr>
          <a:xfrm>
            <a:off x="311700" y="1017725"/>
            <a:ext cx="8520600" cy="39573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ru" sz="1400">
                <a:solidFill>
                  <a:srgbClr val="000000"/>
                </a:solidFill>
                <a:highlight>
                  <a:srgbClr val="FFFFFF"/>
                </a:highlight>
                <a:latin typeface="Times New Roman"/>
                <a:ea typeface="Times New Roman"/>
                <a:cs typeface="Times New Roman"/>
                <a:sym typeface="Times New Roman"/>
              </a:rPr>
              <a:t>Solan &amp; Tiersma (2005:184):</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ru" sz="1400">
                <a:solidFill>
                  <a:srgbClr val="000000"/>
                </a:solidFill>
                <a:highlight>
                  <a:srgbClr val="FFFFFF"/>
                </a:highlight>
                <a:latin typeface="Times New Roman"/>
                <a:ea typeface="Times New Roman"/>
                <a:cs typeface="Times New Roman"/>
                <a:sym typeface="Times New Roman"/>
              </a:rPr>
              <a:t>Another relatively obvious example of a request involved Robert Crandall, the president of American Airlines. Crandall was accused by the federal government of soliciting Howard Putnam, president of Braniff Airlines, to engage in an attempt to monopolize the airline business in the Dallas-Fort Worth area. Both airlines had their hub at the Dallas-Fort Worth airport, and competition between them was intense; as a result, neither airline made much money. One day, Crandall telephoned Putnam about the problem:</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600">
              <a:solidFill>
                <a:srgbClr val="222222"/>
              </a:solidFill>
              <a:highlight>
                <a:srgbClr val="FFFFFF"/>
              </a:highlight>
            </a:endParaRPr>
          </a:p>
        </p:txBody>
      </p:sp>
      <p:pic>
        <p:nvPicPr>
          <p:cNvPr id="140" name="Google Shape;140;p27"/>
          <p:cNvPicPr preferRelativeResize="0"/>
          <p:nvPr/>
        </p:nvPicPr>
        <p:blipFill>
          <a:blip r:embed="rId3">
            <a:alphaModFix/>
          </a:blip>
          <a:stretch>
            <a:fillRect/>
          </a:stretch>
        </p:blipFill>
        <p:spPr>
          <a:xfrm>
            <a:off x="2051200" y="2466650"/>
            <a:ext cx="4259376" cy="24623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solidFill>
                  <a:srgbClr val="CC0000"/>
                </a:solidFill>
                <a:latin typeface="Times New Roman"/>
                <a:ea typeface="Times New Roman"/>
                <a:cs typeface="Times New Roman"/>
                <a:sym typeface="Times New Roman"/>
              </a:rPr>
              <a:t>Practice: a request or a suggestion?</a:t>
            </a:r>
            <a:endParaRPr/>
          </a:p>
        </p:txBody>
      </p:sp>
      <p:sp>
        <p:nvSpPr>
          <p:cNvPr id="146" name="Google Shape;146;p28"/>
          <p:cNvSpPr txBox="1"/>
          <p:nvPr>
            <p:ph idx="1" type="body"/>
          </p:nvPr>
        </p:nvSpPr>
        <p:spPr>
          <a:xfrm>
            <a:off x="311700" y="1017725"/>
            <a:ext cx="8520600" cy="39573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ru" sz="1400">
                <a:solidFill>
                  <a:srgbClr val="222222"/>
                </a:solidFill>
                <a:highlight>
                  <a:srgbClr val="FFFFFF"/>
                </a:highlight>
                <a:latin typeface="Times New Roman"/>
                <a:ea typeface="Times New Roman"/>
                <a:cs typeface="Times New Roman"/>
                <a:sym typeface="Times New Roman"/>
              </a:rPr>
              <a:t>Solan &amp; Tiersma’s questions: Did Crandall “request” Putnam to violate the antitrust laws by conspiring to set prices? Or is this merely a suggestion, which is what Crandall himself labeled it, and which would not be criminal</a:t>
            </a:r>
            <a:endParaRPr sz="1400">
              <a:solidFill>
                <a:srgbClr val="222222"/>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600">
              <a:solidFill>
                <a:srgbClr val="222222"/>
              </a:solidFill>
              <a:highlight>
                <a:srgbClr val="FFFFFF"/>
              </a:highlight>
            </a:endParaRPr>
          </a:p>
        </p:txBody>
      </p:sp>
      <p:pic>
        <p:nvPicPr>
          <p:cNvPr id="147" name="Google Shape;147;p28"/>
          <p:cNvPicPr preferRelativeResize="0"/>
          <p:nvPr/>
        </p:nvPicPr>
        <p:blipFill>
          <a:blip r:embed="rId3">
            <a:alphaModFix/>
          </a:blip>
          <a:stretch>
            <a:fillRect/>
          </a:stretch>
        </p:blipFill>
        <p:spPr>
          <a:xfrm>
            <a:off x="2051200" y="1665200"/>
            <a:ext cx="5645751" cy="3263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solidFill>
                  <a:srgbClr val="CC0000"/>
                </a:solidFill>
                <a:latin typeface="Times New Roman"/>
                <a:ea typeface="Times New Roman"/>
                <a:cs typeface="Times New Roman"/>
                <a:sym typeface="Times New Roman"/>
              </a:rPr>
              <a:t>References</a:t>
            </a:r>
            <a:endParaRPr>
              <a:solidFill>
                <a:srgbClr val="CC0000"/>
              </a:solidFill>
              <a:latin typeface="Times New Roman"/>
              <a:ea typeface="Times New Roman"/>
              <a:cs typeface="Times New Roman"/>
              <a:sym typeface="Times New Roman"/>
            </a:endParaRPr>
          </a:p>
        </p:txBody>
      </p:sp>
      <p:sp>
        <p:nvSpPr>
          <p:cNvPr id="153" name="Google Shape;153;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ru" sz="1400">
                <a:solidFill>
                  <a:schemeClr val="dk1"/>
                </a:solidFill>
                <a:latin typeface="Times New Roman"/>
                <a:ea typeface="Times New Roman"/>
                <a:cs typeface="Times New Roman"/>
                <a:sym typeface="Times New Roman"/>
              </a:rPr>
              <a:t>Austin J. L. (1962). How to do things with words. Oxford University Press.</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1400">
                <a:solidFill>
                  <a:schemeClr val="dk1"/>
                </a:solidFill>
                <a:latin typeface="Times New Roman"/>
                <a:ea typeface="Times New Roman"/>
                <a:cs typeface="Times New Roman"/>
                <a:sym typeface="Times New Roman"/>
              </a:rPr>
              <a:t>Green, Mitchell. 2007. Speech acts. In Edward N. Zalta (ed.), The Stanford encyclopedia of philosophy, http://plato.stanford.edu/entries/speech-acts/.</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1400">
                <a:solidFill>
                  <a:schemeClr val="dk1"/>
                </a:solidFill>
                <a:latin typeface="Times New Roman"/>
                <a:ea typeface="Times New Roman"/>
                <a:cs typeface="Times New Roman"/>
                <a:sym typeface="Times New Roman"/>
              </a:rPr>
              <a:t>Jacob, S., M. Aakhus, and Aldrich, A. (1993). This is a really great paper: How to recognize a compliment. Paper presented at the Annual Convention of the International Communication Association, Washington, DC.</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1400">
                <a:solidFill>
                  <a:schemeClr val="dk1"/>
                </a:solidFill>
                <a:latin typeface="Times New Roman"/>
                <a:ea typeface="Times New Roman"/>
                <a:cs typeface="Times New Roman"/>
                <a:sym typeface="Times New Roman"/>
              </a:rPr>
              <a:t>Lauer, Sven. 2013. Towards a dynamic pragmatics: Stanford University dissertation.</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1400">
                <a:solidFill>
                  <a:schemeClr val="dk1"/>
                </a:solidFill>
                <a:latin typeface="Times New Roman"/>
                <a:ea typeface="Times New Roman"/>
                <a:cs typeface="Times New Roman"/>
                <a:sym typeface="Times New Roman"/>
              </a:rPr>
              <a:t>Searle J. (1969). Speech Acts. Cambridge: Cambridge University Press.</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1400">
                <a:solidFill>
                  <a:schemeClr val="dk1"/>
                </a:solidFill>
                <a:latin typeface="Times New Roman"/>
                <a:ea typeface="Times New Roman"/>
                <a:cs typeface="Times New Roman"/>
                <a:sym typeface="Times New Roman"/>
              </a:rPr>
              <a:t>Solan, Lawrence M. &amp; Peter M. Tiersma. 2005. Speaking of crime: The language of criminal justice. Chicago: University of Chicago Press.</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1400">
                <a:solidFill>
                  <a:schemeClr val="dk1"/>
                </a:solidFill>
                <a:latin typeface="Times New Roman"/>
                <a:ea typeface="Times New Roman"/>
                <a:cs typeface="Times New Roman"/>
                <a:sym typeface="Times New Roman"/>
              </a:rPr>
              <a:t>Strawson P. (1964). Intention and convention in speech acts // The Philosophical Review. Vol. 73. P. 439–460.</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ru" sz="1400">
                <a:solidFill>
                  <a:schemeClr val="dk1"/>
                </a:solidFill>
                <a:latin typeface="Times New Roman"/>
                <a:ea typeface="Times New Roman"/>
                <a:cs typeface="Times New Roman"/>
                <a:sym typeface="Times New Roman"/>
              </a:rPr>
              <a:t>Wierzbicka, Anna. 1987. English speech act verbs: A semantic dictionary. New York: Academic Press.</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5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900">
              <a:solidFill>
                <a:srgbClr val="666666"/>
              </a:solidFill>
            </a:endParaRPr>
          </a:p>
          <a:p>
            <a:pPr indent="0" lvl="0" marL="0" rtl="0" algn="l">
              <a:lnSpc>
                <a:spcPct val="100000"/>
              </a:lnSpc>
              <a:spcBef>
                <a:spcPts val="0"/>
              </a:spcBef>
              <a:spcAft>
                <a:spcPts val="0"/>
              </a:spcAft>
              <a:buNone/>
            </a:pPr>
            <a:r>
              <a:t/>
            </a:r>
            <a:endParaRPr sz="900">
              <a:solidFill>
                <a:srgbClr val="66666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