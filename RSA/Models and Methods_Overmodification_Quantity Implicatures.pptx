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b7c218b6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b7c218b6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b7c218b6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b7c218b6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b7c218b6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b7c218b6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523aff88c5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523aff88c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523aff88c5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523aff88c5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23aff88c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23aff88c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b7c218b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b7c218b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523aff88c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523aff88c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523aff88c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523aff88c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523aff88c5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523aff88c5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523aff88c5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523aff88c5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523aff88c5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523aff88c5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523aff88c5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523aff88c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23aff88c5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523aff88c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523aff88c5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523aff88c5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23aff88c5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523aff88c5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23aff88c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523aff88c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bb7c218b6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bb7c218b6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bb7c218b6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bb7c218b6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b7c218b6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bb7c218b6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b7c218b6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bb7c218b6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bb7c218b6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bb7c218b6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bb7c218b67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bb7c218b6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bb7c218b6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bb7c218b6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bb7c218b67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bb7c218b67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b7c218b67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bb7c218b67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b7c218b67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b7c218b67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4c01c3f1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4c01c3f1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4c01c3f1e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4c01c3f1e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b7c218b67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bb7c218b67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bb7c218b67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bb7c218b67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b7c218b6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bb7c218b6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bb7c218b6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bb7c218b6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523aff88c5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523aff88c5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523aff88c5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523aff88c5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523aff88c5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523aff88c5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bb7c218b6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bb7c218b6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523aff88c5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523aff88c5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523aff88c5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523aff88c5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523aff88c5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523aff88c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523aff88c5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523aff88c5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523aff88c5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523aff88c5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523aff88c5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523aff88c5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523aff88c5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523aff88c5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4c01c3f1e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4c01c3f1e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frontiersin.org/journals/psychology/articles/10.3389/fpsyg.2024.1417047/ful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frontiersin.org/journals/psychology/articles/10.3389/fpsyg.2024.1417047/ful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frontiersin.org/journals/psychology/articles/10.3389/fpsyg.2024.1417047/full" TargetMode="Externa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onlinelibrary.wiley.com/doi/full/10.1111/cogs.12171" TargetMode="Externa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onlinelibrary.wiley.com/doi/full/10.1111/cogs.12171"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onlinelibrary.wiley.com/doi/full/10.1111/cogs.12171" TargetMode="Externa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onlinelibrary.wiley.com/doi/full/10.1111/cogs.12171"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onlinelibrary.wiley.com/doi/full/10.1111/cogs.12171" TargetMode="Externa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onlinelibrary.wiley.com/doi/full/10.1111/cogs.12171" TargetMode="Externa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onlinelibrary.wiley.com/doi/full/10.1111/cogs.12171" TargetMode="Externa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onlinelibrary.wiley.com/doi/full/10.1111/cogs.12171" TargetMode="External"/><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onlinelibrary.wiley.com/doi/full/10.1111/cogs.12171" TargetMode="External"/><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onlinelibrary.wiley.com/doi/full/10.1111/cogs.12171"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onlinelibrary.wiley.com/doi/full/10.1111/cogs.12171" TargetMode="External"/><Relationship Id="rId4"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onlinelibrary.wiley.com/doi/full/10.1111/cogs.12171"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558175"/>
            <a:ext cx="8520600" cy="2013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ru">
                <a:solidFill>
                  <a:srgbClr val="990000"/>
                </a:solidFill>
                <a:latin typeface="Times New Roman"/>
                <a:ea typeface="Times New Roman"/>
                <a:cs typeface="Times New Roman"/>
                <a:sym typeface="Times New Roman"/>
              </a:rPr>
              <a:t>Overmodification</a:t>
            </a:r>
            <a:endParaRPr>
              <a:solidFill>
                <a:srgbClr val="990000"/>
              </a:solidFill>
              <a:latin typeface="Times New Roman"/>
              <a:ea typeface="Times New Roman"/>
              <a:cs typeface="Times New Roman"/>
              <a:sym typeface="Times New Roman"/>
            </a:endParaRPr>
          </a:p>
          <a:p>
            <a:pPr indent="0" lvl="0" marL="0" rtl="0" algn="ctr">
              <a:spcBef>
                <a:spcPts val="0"/>
              </a:spcBef>
              <a:spcAft>
                <a:spcPts val="0"/>
              </a:spcAft>
              <a:buNone/>
            </a:pPr>
            <a:r>
              <a:rPr lang="ru">
                <a:solidFill>
                  <a:srgbClr val="274E13"/>
                </a:solidFill>
                <a:latin typeface="Times New Roman"/>
                <a:ea typeface="Times New Roman"/>
                <a:cs typeface="Times New Roman"/>
                <a:sym typeface="Times New Roman"/>
              </a:rPr>
              <a:t>Quantity Implicatures</a:t>
            </a:r>
            <a:endParaRPr>
              <a:solidFill>
                <a:srgbClr val="274E13"/>
              </a:solidFill>
              <a:latin typeface="Times New Roman"/>
              <a:ea typeface="Times New Roman"/>
              <a:cs typeface="Times New Roman"/>
              <a:sym typeface="Times New Roman"/>
            </a:endParaRPr>
          </a:p>
        </p:txBody>
      </p:sp>
      <p:sp>
        <p:nvSpPr>
          <p:cNvPr id="55" name="Google Shape;55;p13"/>
          <p:cNvSpPr txBox="1"/>
          <p:nvPr>
            <p:ph idx="1" type="subTitle"/>
          </p:nvPr>
        </p:nvSpPr>
        <p:spPr>
          <a:xfrm>
            <a:off x="311700" y="2910800"/>
            <a:ext cx="8520600" cy="17118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Clr>
                <a:schemeClr val="dk1"/>
              </a:buClr>
              <a:buSzPct val="39285"/>
              <a:buFont typeface="Arial"/>
              <a:buNone/>
            </a:pPr>
            <a:r>
              <a:rPr lang="ru">
                <a:solidFill>
                  <a:schemeClr val="dk1"/>
                </a:solidFill>
                <a:latin typeface="Times New Roman"/>
                <a:ea typeface="Times New Roman"/>
                <a:cs typeface="Times New Roman"/>
                <a:sym typeface="Times New Roman"/>
              </a:rPr>
              <a:t>Models and Methods</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ct val="39285"/>
              <a:buFont typeface="Arial"/>
              <a:buNone/>
            </a:pPr>
            <a:r>
              <a:t/>
            </a:r>
            <a:endParaRPr>
              <a:latin typeface="Times New Roman"/>
              <a:ea typeface="Times New Roman"/>
              <a:cs typeface="Times New Roman"/>
              <a:sym typeface="Times New Roman"/>
            </a:endParaRPr>
          </a:p>
          <a:p>
            <a:pPr indent="0" lvl="0" marL="0" rtl="0" algn="ctr">
              <a:spcBef>
                <a:spcPts val="0"/>
              </a:spcBef>
              <a:spcAft>
                <a:spcPts val="0"/>
              </a:spcAft>
              <a:buClr>
                <a:schemeClr val="dk1"/>
              </a:buClr>
              <a:buSzPct val="39285"/>
              <a:buFont typeface="Arial"/>
              <a:buNone/>
            </a:pPr>
            <a:r>
              <a:rPr lang="ru">
                <a:solidFill>
                  <a:srgbClr val="000000"/>
                </a:solidFill>
                <a:latin typeface="Times New Roman"/>
                <a:ea typeface="Times New Roman"/>
                <a:cs typeface="Times New Roman"/>
                <a:sym typeface="Times New Roman"/>
              </a:rPr>
              <a:t>Dasha Popova</a:t>
            </a:r>
            <a:endParaRPr>
              <a:solidFill>
                <a:srgbClr val="000000"/>
              </a:solidFill>
              <a:latin typeface="Times New Roman"/>
              <a:ea typeface="Times New Roman"/>
              <a:cs typeface="Times New Roman"/>
              <a:sym typeface="Times New Roman"/>
            </a:endParaRPr>
          </a:p>
          <a:p>
            <a:pPr indent="0" lvl="0" marL="0" rtl="0" algn="ctr">
              <a:spcBef>
                <a:spcPts val="0"/>
              </a:spcBef>
              <a:spcAft>
                <a:spcPts val="0"/>
              </a:spcAft>
              <a:buClr>
                <a:schemeClr val="dk1"/>
              </a:buClr>
              <a:buSzPct val="39285"/>
              <a:buFont typeface="Arial"/>
              <a:buNone/>
            </a:pPr>
            <a:r>
              <a:t/>
            </a:r>
            <a:endParaRPr>
              <a:latin typeface="Times New Roman"/>
              <a:ea typeface="Times New Roman"/>
              <a:cs typeface="Times New Roman"/>
              <a:sym typeface="Times New Roman"/>
            </a:endParaRPr>
          </a:p>
          <a:p>
            <a:pPr indent="0" lvl="0" marL="0" rtl="0" algn="ctr">
              <a:spcBef>
                <a:spcPts val="0"/>
              </a:spcBef>
              <a:spcAft>
                <a:spcPts val="0"/>
              </a:spcAft>
              <a:buClr>
                <a:schemeClr val="dk1"/>
              </a:buClr>
              <a:buSzPct val="39285"/>
              <a:buFont typeface="Arial"/>
              <a:buNone/>
            </a:pPr>
            <a:r>
              <a:rPr lang="ru">
                <a:solidFill>
                  <a:srgbClr val="000000"/>
                </a:solidFill>
                <a:latin typeface="Times New Roman"/>
                <a:ea typeface="Times New Roman"/>
                <a:cs typeface="Times New Roman"/>
                <a:sym typeface="Times New Roman"/>
              </a:rPr>
              <a:t>24.01.2026</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320">
                <a:solidFill>
                  <a:srgbClr val="000000"/>
                </a:solidFill>
                <a:latin typeface="Times New Roman"/>
                <a:ea typeface="Times New Roman"/>
                <a:cs typeface="Times New Roman"/>
                <a:sym typeface="Times New Roman"/>
              </a:rPr>
              <a:t>The Gricean maxims of conversation: clashes, opting-out, flouting</a:t>
            </a:r>
            <a:endParaRPr sz="2320">
              <a:solidFill>
                <a:srgbClr val="000000"/>
              </a:solidFill>
              <a:latin typeface="Times New Roman"/>
              <a:ea typeface="Times New Roman"/>
              <a:cs typeface="Times New Roman"/>
              <a:sym typeface="Times New Roman"/>
            </a:endParaRPr>
          </a:p>
        </p:txBody>
      </p:sp>
      <p:sp>
        <p:nvSpPr>
          <p:cNvPr id="61" name="Google Shape;61;p14"/>
          <p:cNvSpPr txBox="1"/>
          <p:nvPr>
            <p:ph idx="1" type="body"/>
          </p:nvPr>
        </p:nvSpPr>
        <p:spPr>
          <a:xfrm>
            <a:off x="242500" y="1017725"/>
            <a:ext cx="8520600" cy="40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600" u="sng">
                <a:solidFill>
                  <a:schemeClr val="dk1"/>
                </a:solidFill>
                <a:latin typeface="Times New Roman"/>
                <a:ea typeface="Times New Roman"/>
                <a:cs typeface="Times New Roman"/>
                <a:sym typeface="Times New Roman"/>
              </a:rPr>
              <a:t>Flouting quality</a:t>
            </a:r>
            <a:r>
              <a:rPr lang="ru"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330200" lvl="0" marL="457200" rtl="0" algn="l">
              <a:spcBef>
                <a:spcPts val="1200"/>
              </a:spcBef>
              <a:spcAft>
                <a:spcPts val="0"/>
              </a:spcAft>
              <a:buClr>
                <a:schemeClr val="dk1"/>
              </a:buClr>
              <a:buSzPts val="1600"/>
              <a:buFont typeface="Times New Roman"/>
              <a:buAutoNum type="arabicParenBoth"/>
            </a:pPr>
            <a:r>
              <a:rPr lang="ru" sz="1600">
                <a:solidFill>
                  <a:schemeClr val="dk1"/>
                </a:solidFill>
                <a:latin typeface="Times New Roman"/>
                <a:ea typeface="Times New Roman"/>
                <a:cs typeface="Times New Roman"/>
                <a:sym typeface="Times New Roman"/>
              </a:rPr>
              <a:t>Well, that’s just great! (sarcasm)</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AutoNum type="arabicParenBoth"/>
            </a:pPr>
            <a:r>
              <a:rPr lang="ru" sz="1600">
                <a:solidFill>
                  <a:schemeClr val="dk1"/>
                </a:solidFill>
                <a:latin typeface="Times New Roman"/>
                <a:ea typeface="Times New Roman"/>
                <a:cs typeface="Times New Roman"/>
                <a:sym typeface="Times New Roman"/>
              </a:rPr>
              <a:t>What a hot day! (irony)</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AutoNum type="arabicParenBoth"/>
            </a:pPr>
            <a:r>
              <a:rPr lang="ru" sz="1600">
                <a:solidFill>
                  <a:schemeClr val="dk1"/>
                </a:solidFill>
                <a:latin typeface="Times New Roman"/>
                <a:ea typeface="Times New Roman"/>
                <a:cs typeface="Times New Roman"/>
                <a:sym typeface="Times New Roman"/>
              </a:rPr>
              <a:t>The lawyer is a shark. (metaphor)</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AutoNum type="arabicParenBoth"/>
            </a:pPr>
            <a:r>
              <a:rPr lang="ru" sz="1600">
                <a:solidFill>
                  <a:schemeClr val="dk1"/>
                </a:solidFill>
                <a:latin typeface="Times New Roman"/>
                <a:ea typeface="Times New Roman"/>
                <a:cs typeface="Times New Roman"/>
                <a:sym typeface="Times New Roman"/>
              </a:rPr>
              <a:t>The assignment took like 1000 hours. (hyperbole)</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u="sng">
                <a:solidFill>
                  <a:schemeClr val="dk1"/>
                </a:solidFill>
                <a:latin typeface="Times New Roman"/>
                <a:ea typeface="Times New Roman"/>
                <a:cs typeface="Times New Roman"/>
                <a:sym typeface="Times New Roman"/>
              </a:rPr>
              <a:t>Opting out (or attempting to opt out) of relevance:</a:t>
            </a:r>
            <a:endParaRPr sz="1500" u="sng">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(5)	A: How do I put this table together?</a:t>
            </a:r>
            <a:endParaRPr sz="15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B: Very carefully.</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u="sng">
                <a:solidFill>
                  <a:schemeClr val="dk1"/>
                </a:solidFill>
                <a:latin typeface="Times New Roman"/>
                <a:ea typeface="Times New Roman"/>
                <a:cs typeface="Times New Roman"/>
                <a:sym typeface="Times New Roman"/>
              </a:rPr>
              <a:t>Flouting “Be brief”:</a:t>
            </a:r>
            <a:endParaRPr sz="1500" u="sng">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(6) A newspaper review of a newly opened play says that, in the third act, “Soap opera star Rachel Singer produced a series of sounds corresponding closely to the score of an aria from Rigoletto.”</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320">
                <a:solidFill>
                  <a:srgbClr val="000000"/>
                </a:solidFill>
                <a:latin typeface="Times New Roman"/>
                <a:ea typeface="Times New Roman"/>
                <a:cs typeface="Times New Roman"/>
                <a:sym typeface="Times New Roman"/>
              </a:rPr>
              <a:t>The Gricean maxims of conversation: clashes, opting-out, flouting</a:t>
            </a:r>
            <a:endParaRPr sz="2320">
              <a:solidFill>
                <a:srgbClr val="000000"/>
              </a:solidFill>
              <a:latin typeface="Times New Roman"/>
              <a:ea typeface="Times New Roman"/>
              <a:cs typeface="Times New Roman"/>
              <a:sym typeface="Times New Roman"/>
            </a:endParaRPr>
          </a:p>
        </p:txBody>
      </p:sp>
      <p:sp>
        <p:nvSpPr>
          <p:cNvPr id="67" name="Google Shape;67;p15"/>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500" u="sng">
                <a:solidFill>
                  <a:schemeClr val="dk1"/>
                </a:solidFill>
                <a:latin typeface="Times New Roman"/>
                <a:ea typeface="Times New Roman"/>
                <a:cs typeface="Times New Roman"/>
                <a:sym typeface="Times New Roman"/>
              </a:rPr>
              <a:t>Opting out of quantity</a:t>
            </a:r>
            <a:r>
              <a:rPr lang="ru" sz="1500">
                <a:solidFill>
                  <a:schemeClr val="dk1"/>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a:p>
            <a:pPr indent="-323850" lvl="0" marL="457200" rtl="0" algn="l">
              <a:spcBef>
                <a:spcPts val="1200"/>
              </a:spcBef>
              <a:spcAft>
                <a:spcPts val="0"/>
              </a:spcAft>
              <a:buClr>
                <a:schemeClr val="dk1"/>
              </a:buClr>
              <a:buSzPts val="1500"/>
              <a:buFont typeface="Times New Roman"/>
              <a:buAutoNum type="arabicParenBoth"/>
            </a:pPr>
            <a:r>
              <a:rPr lang="ru" sz="1500">
                <a:solidFill>
                  <a:schemeClr val="dk1"/>
                </a:solidFill>
                <a:latin typeface="Times New Roman"/>
                <a:ea typeface="Times New Roman"/>
                <a:cs typeface="Times New Roman"/>
                <a:sym typeface="Times New Roman"/>
              </a:rPr>
              <a:t>No comment. </a:t>
            </a:r>
            <a:endParaRPr sz="1500">
              <a:solidFill>
                <a:schemeClr val="dk1"/>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AutoNum type="arabicParenBoth"/>
            </a:pPr>
            <a:r>
              <a:rPr lang="ru" sz="1500">
                <a:solidFill>
                  <a:schemeClr val="dk1"/>
                </a:solidFill>
                <a:latin typeface="Times New Roman"/>
                <a:ea typeface="Times New Roman"/>
                <a:cs typeface="Times New Roman"/>
                <a:sym typeface="Times New Roman"/>
              </a:rPr>
              <a:t>Mistakes were made.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u="sng">
                <a:solidFill>
                  <a:schemeClr val="dk1"/>
                </a:solidFill>
                <a:latin typeface="Times New Roman"/>
                <a:ea typeface="Times New Roman"/>
                <a:cs typeface="Times New Roman"/>
                <a:sym typeface="Times New Roman"/>
              </a:rPr>
              <a:t>Flouting quantity</a:t>
            </a:r>
            <a:r>
              <a:rPr lang="ru" sz="1500">
                <a:solidFill>
                  <a:schemeClr val="dk1"/>
                </a:solidFill>
                <a:latin typeface="Times New Roman"/>
                <a:ea typeface="Times New Roman"/>
                <a:cs typeface="Times New Roman"/>
                <a:sym typeface="Times New Roman"/>
              </a:rPr>
              <a:t> with tautologies (Grice maintained that tautologies are, strictly speaking, extreme violations of quantity, since they can’t help but be true):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(3) Boys will be boys.	(4) A phone is a phone.</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u="sng">
                <a:solidFill>
                  <a:schemeClr val="dk1"/>
                </a:solidFill>
                <a:latin typeface="Times New Roman"/>
                <a:ea typeface="Times New Roman"/>
                <a:cs typeface="Times New Roman"/>
                <a:sym typeface="Times New Roman"/>
              </a:rPr>
              <a:t>Flouting quantity</a:t>
            </a:r>
            <a:r>
              <a:rPr lang="ru" sz="1500">
                <a:solidFill>
                  <a:schemeClr val="dk1"/>
                </a:solidFill>
                <a:latin typeface="Times New Roman"/>
                <a:ea typeface="Times New Roman"/>
                <a:cs typeface="Times New Roman"/>
                <a:sym typeface="Times New Roman"/>
              </a:rPr>
              <a:t> to achieve a politeness effect:</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(5)	a. Can you pass the salt?</a:t>
            </a:r>
            <a:endParaRPr sz="15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b. Could you open the window (please)?</a:t>
            </a:r>
            <a:endParaRPr sz="15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c. Do you know what time it is?</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u" sz="2320">
                <a:solidFill>
                  <a:srgbClr val="000000"/>
                </a:solidFill>
                <a:latin typeface="Times New Roman"/>
                <a:ea typeface="Times New Roman"/>
                <a:cs typeface="Times New Roman"/>
                <a:sym typeface="Times New Roman"/>
              </a:rPr>
              <a:t>The Gricean maxims of conversation: clashes, opting-out, flouting</a:t>
            </a:r>
            <a:endParaRPr sz="2320">
              <a:solidFill>
                <a:srgbClr val="000000"/>
              </a:solidFill>
              <a:latin typeface="Times New Roman"/>
              <a:ea typeface="Times New Roman"/>
              <a:cs typeface="Times New Roman"/>
              <a:sym typeface="Times New Roman"/>
            </a:endParaRPr>
          </a:p>
        </p:txBody>
      </p:sp>
      <p:sp>
        <p:nvSpPr>
          <p:cNvPr id="73" name="Google Shape;73;p16"/>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500" u="sng">
                <a:solidFill>
                  <a:schemeClr val="dk1"/>
                </a:solidFill>
                <a:latin typeface="Times New Roman"/>
                <a:ea typeface="Times New Roman"/>
                <a:cs typeface="Times New Roman"/>
                <a:sym typeface="Times New Roman"/>
              </a:rPr>
              <a:t>Clash between relevance and quality</a:t>
            </a:r>
            <a:r>
              <a:rPr lang="ru" sz="1500">
                <a:solidFill>
                  <a:schemeClr val="dk1"/>
                </a:solidFill>
                <a:latin typeface="Times New Roman"/>
                <a:ea typeface="Times New Roman"/>
                <a:cs typeface="Times New Roman"/>
                <a:sym typeface="Times New Roman"/>
              </a:rPr>
              <a:t>:</a:t>
            </a:r>
            <a:endParaRPr sz="1500">
              <a:solidFill>
                <a:schemeClr val="dk1"/>
              </a:solidFill>
              <a:latin typeface="Times New Roman"/>
              <a:ea typeface="Times New Roman"/>
              <a:cs typeface="Times New Roman"/>
              <a:sym typeface="Times New Roman"/>
            </a:endParaRPr>
          </a:p>
          <a:p>
            <a:pPr indent="-323850" lvl="0" marL="457200" rtl="0" algn="l">
              <a:spcBef>
                <a:spcPts val="1200"/>
              </a:spcBef>
              <a:spcAft>
                <a:spcPts val="0"/>
              </a:spcAft>
              <a:buClr>
                <a:schemeClr val="dk1"/>
              </a:buClr>
              <a:buSzPts val="1500"/>
              <a:buFont typeface="Times New Roman"/>
              <a:buAutoNum type="arabicParenBoth"/>
            </a:pPr>
            <a:r>
              <a:rPr lang="ru" sz="1500">
                <a:solidFill>
                  <a:schemeClr val="dk1"/>
                </a:solidFill>
                <a:latin typeface="Times New Roman"/>
                <a:ea typeface="Times New Roman"/>
                <a:cs typeface="Times New Roman"/>
                <a:sym typeface="Times New Roman"/>
              </a:rPr>
              <a:t>Source: The detective show Monk, ‘Mr. Monk goes to the Carnival’</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Context: The subject is whether Mr. Monk, who earlier had a nervous breakdown, is ready to be put back on the police force. Stottlemeyer is Monk’s friend and former captain.</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Commission member Is Mr. Monk ready to be put back on the force?</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Stottlemeyer Mr. Monk has excellent instincts.</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Commission member Yes, but is he ready to be reinstated?</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Stottlemeyer He is an excellent investigator.</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Commission member Captain, please. .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solidFill>
                  <a:srgbClr val="000000"/>
                </a:solidFill>
                <a:latin typeface="Times New Roman"/>
                <a:ea typeface="Times New Roman"/>
                <a:cs typeface="Times New Roman"/>
                <a:sym typeface="Times New Roman"/>
              </a:rPr>
              <a:t>Linguistic redundancy</a:t>
            </a:r>
            <a:r>
              <a:rPr lang="ru" sz="2355">
                <a:solidFill>
                  <a:srgbClr val="000000"/>
                </a:solidFill>
                <a:latin typeface="Times New Roman"/>
                <a:ea typeface="Times New Roman"/>
                <a:cs typeface="Times New Roman"/>
                <a:sym typeface="Times New Roman"/>
              </a:rPr>
              <a:t>: color and quantity (</a:t>
            </a:r>
            <a:r>
              <a:rPr lang="ru" sz="2355" u="sng">
                <a:solidFill>
                  <a:srgbClr val="000000"/>
                </a:solidFill>
                <a:latin typeface="Times New Roman"/>
                <a:ea typeface="Times New Roman"/>
                <a:cs typeface="Times New Roman"/>
                <a:sym typeface="Times New Roman"/>
                <a:hlinkClick r:id="rId3">
                  <a:extLst>
                    <a:ext uri="{A12FA001-AC4F-418D-AE19-62706E023703}">
                      <ahyp:hlinkClr val="tx"/>
                    </a:ext>
                  </a:extLst>
                </a:hlinkClick>
              </a:rPr>
              <a:t>Zevakhina et al. 2024</a:t>
            </a:r>
            <a:r>
              <a:rPr lang="ru" sz="2355">
                <a:solidFill>
                  <a:srgbClr val="000000"/>
                </a:solidFill>
                <a:latin typeface="Times New Roman"/>
                <a:ea typeface="Times New Roman"/>
                <a:cs typeface="Times New Roman"/>
                <a:sym typeface="Times New Roman"/>
              </a:rPr>
              <a:t>)</a:t>
            </a:r>
            <a:endParaRPr sz="2355">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79" name="Google Shape;79;p17"/>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80" name="Google Shape;80;p17"/>
          <p:cNvPicPr preferRelativeResize="0"/>
          <p:nvPr/>
        </p:nvPicPr>
        <p:blipFill>
          <a:blip r:embed="rId4">
            <a:alphaModFix/>
          </a:blip>
          <a:stretch>
            <a:fillRect/>
          </a:stretch>
        </p:blipFill>
        <p:spPr>
          <a:xfrm>
            <a:off x="3652838" y="1614488"/>
            <a:ext cx="1838325" cy="1914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86" name="Google Shape;86;p18"/>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87" name="Google Shape;87;p18"/>
          <p:cNvPicPr preferRelativeResize="0"/>
          <p:nvPr/>
        </p:nvPicPr>
        <p:blipFill>
          <a:blip r:embed="rId4">
            <a:alphaModFix/>
          </a:blip>
          <a:stretch>
            <a:fillRect/>
          </a:stretch>
        </p:blipFill>
        <p:spPr>
          <a:xfrm>
            <a:off x="3738563" y="1676400"/>
            <a:ext cx="1666875" cy="1790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93" name="Google Shape;93;p19"/>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sz="1600" u="sng">
                <a:solidFill>
                  <a:srgbClr val="000000"/>
                </a:solidFill>
                <a:latin typeface="Times New Roman"/>
                <a:ea typeface="Times New Roman"/>
                <a:cs typeface="Times New Roman"/>
                <a:sym typeface="Times New Roman"/>
              </a:rPr>
              <a:t>Hypothesis 1</a:t>
            </a:r>
            <a:r>
              <a:rPr lang="ru" sz="1600">
                <a:solidFill>
                  <a:srgbClr val="000000"/>
                </a:solidFill>
                <a:latin typeface="Times New Roman"/>
                <a:ea typeface="Times New Roman"/>
                <a:cs typeface="Times New Roman"/>
                <a:sym typeface="Times New Roman"/>
              </a:rPr>
              <a:t>: the over-specification of small (2–4) cardinalities is expected to be higher than the over-specification of color</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ru" sz="1600" u="sng">
                <a:solidFill>
                  <a:srgbClr val="000000"/>
                </a:solidFill>
                <a:latin typeface="Times New Roman"/>
                <a:ea typeface="Times New Roman"/>
                <a:cs typeface="Times New Roman"/>
                <a:sym typeface="Times New Roman"/>
              </a:rPr>
              <a:t>Hypothesis </a:t>
            </a:r>
            <a:r>
              <a:rPr b="1" lang="ru" sz="1600" u="sng">
                <a:solidFill>
                  <a:srgbClr val="000000"/>
                </a:solidFill>
                <a:latin typeface="Times New Roman"/>
                <a:ea typeface="Times New Roman"/>
                <a:cs typeface="Times New Roman"/>
                <a:sym typeface="Times New Roman"/>
              </a:rPr>
              <a:t>2</a:t>
            </a:r>
            <a:r>
              <a:rPr lang="ru" sz="1600">
                <a:solidFill>
                  <a:srgbClr val="000000"/>
                </a:solidFill>
                <a:latin typeface="Times New Roman"/>
                <a:ea typeface="Times New Roman"/>
                <a:cs typeface="Times New Roman"/>
                <a:sym typeface="Times New Roman"/>
              </a:rPr>
              <a:t>: visual context influences over-specification rates.</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sz="1600" u="sng">
                <a:solidFill>
                  <a:srgbClr val="000000"/>
                </a:solidFill>
                <a:latin typeface="Times New Roman"/>
                <a:ea typeface="Times New Roman"/>
                <a:cs typeface="Times New Roman"/>
                <a:sym typeface="Times New Roman"/>
              </a:rPr>
              <a:t>Hypothesis 2A</a:t>
            </a:r>
            <a:r>
              <a:rPr lang="ru" sz="1600">
                <a:solidFill>
                  <a:srgbClr val="000000"/>
                </a:solidFill>
                <a:latin typeface="Times New Roman"/>
                <a:ea typeface="Times New Roman"/>
                <a:cs typeface="Times New Roman"/>
                <a:sym typeface="Times New Roman"/>
              </a:rPr>
              <a:t>: color over-specification is predicted to be higher in polychrome (visually contrastive) than in monochrome (visually neutral) contexts.</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sz="1600" u="sng">
                <a:solidFill>
                  <a:srgbClr val="000000"/>
                </a:solidFill>
                <a:latin typeface="Times New Roman"/>
                <a:ea typeface="Times New Roman"/>
                <a:cs typeface="Times New Roman"/>
                <a:sym typeface="Times New Roman"/>
              </a:rPr>
              <a:t>Hypothesis 2B</a:t>
            </a:r>
            <a:r>
              <a:rPr lang="ru" sz="1600">
                <a:solidFill>
                  <a:srgbClr val="000000"/>
                </a:solidFill>
                <a:latin typeface="Times New Roman"/>
                <a:ea typeface="Times New Roman"/>
                <a:cs typeface="Times New Roman"/>
                <a:sym typeface="Times New Roman"/>
              </a:rPr>
              <a:t>: the over-specification of small (2 to 4) cardinalities is expected to be higher in multi-cardinality contexts than in one-cardinality contexts. </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sz="1600" u="sng">
                <a:solidFill>
                  <a:srgbClr val="000000"/>
                </a:solidFill>
                <a:latin typeface="Times New Roman"/>
                <a:ea typeface="Times New Roman"/>
                <a:cs typeface="Times New Roman"/>
                <a:sym typeface="Times New Roman"/>
              </a:rPr>
              <a:t>Hypothesis 2C</a:t>
            </a:r>
            <a:r>
              <a:rPr lang="ru" sz="1600">
                <a:solidFill>
                  <a:srgbClr val="000000"/>
                </a:solidFill>
                <a:latin typeface="Times New Roman"/>
                <a:ea typeface="Times New Roman"/>
                <a:cs typeface="Times New Roman"/>
                <a:sym typeface="Times New Roman"/>
              </a:rPr>
              <a:t>: the over-specification of borderline (5–8) cardinalities is expected to be higher in an ordered design than in an unordered design.</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99" name="Google Shape;99;p20"/>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u="sng">
                <a:solidFill>
                  <a:srgbClr val="000000"/>
                </a:solidFill>
                <a:latin typeface="Times New Roman"/>
                <a:ea typeface="Times New Roman"/>
                <a:cs typeface="Times New Roman"/>
                <a:sym typeface="Times New Roman"/>
              </a:rPr>
              <a:t>Hypothesis 3</a:t>
            </a:r>
            <a:r>
              <a:rPr lang="ru">
                <a:solidFill>
                  <a:srgbClr val="000000"/>
                </a:solidFill>
                <a:latin typeface="Times New Roman"/>
                <a:ea typeface="Times New Roman"/>
                <a:cs typeface="Times New Roman"/>
                <a:sym typeface="Times New Roman"/>
              </a:rPr>
              <a:t> deals with the modifier position.</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u="sng">
                <a:solidFill>
                  <a:srgbClr val="000000"/>
                </a:solidFill>
                <a:latin typeface="Times New Roman"/>
                <a:ea typeface="Times New Roman"/>
                <a:cs typeface="Times New Roman"/>
                <a:sym typeface="Times New Roman"/>
              </a:rPr>
              <a:t>Hypothesis 3A</a:t>
            </a:r>
            <a:r>
              <a:rPr lang="ru">
                <a:solidFill>
                  <a:srgbClr val="000000"/>
                </a:solidFill>
                <a:latin typeface="Times New Roman"/>
                <a:ea typeface="Times New Roman"/>
                <a:cs typeface="Times New Roman"/>
                <a:sym typeface="Times New Roman"/>
              </a:rPr>
              <a:t>: the prenominal position is more typical than the postnominal position for color adjectives in referential communication. </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u="sng">
                <a:solidFill>
                  <a:srgbClr val="000000"/>
                </a:solidFill>
                <a:latin typeface="Times New Roman"/>
                <a:ea typeface="Times New Roman"/>
                <a:cs typeface="Times New Roman"/>
                <a:sym typeface="Times New Roman"/>
              </a:rPr>
              <a:t>Hypothesis </a:t>
            </a:r>
            <a:r>
              <a:rPr lang="ru" u="sng">
                <a:solidFill>
                  <a:srgbClr val="000000"/>
                </a:solidFill>
                <a:latin typeface="Times New Roman"/>
                <a:ea typeface="Times New Roman"/>
                <a:cs typeface="Times New Roman"/>
                <a:sym typeface="Times New Roman"/>
              </a:rPr>
              <a:t>3B</a:t>
            </a:r>
            <a:r>
              <a:rPr lang="ru">
                <a:solidFill>
                  <a:srgbClr val="000000"/>
                </a:solidFill>
                <a:latin typeface="Times New Roman"/>
                <a:ea typeface="Times New Roman"/>
                <a:cs typeface="Times New Roman"/>
                <a:sym typeface="Times New Roman"/>
              </a:rPr>
              <a:t>: the prenominal position is more typical than the postnominal position for numerals. </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b="1" lang="ru" u="sng">
                <a:solidFill>
                  <a:srgbClr val="000000"/>
                </a:solidFill>
                <a:latin typeface="Times New Roman"/>
                <a:ea typeface="Times New Roman"/>
                <a:cs typeface="Times New Roman"/>
                <a:sym typeface="Times New Roman"/>
              </a:rPr>
              <a:t>Hypothesis 4</a:t>
            </a:r>
            <a:r>
              <a:rPr lang="ru">
                <a:solidFill>
                  <a:srgbClr val="000000"/>
                </a:solidFill>
                <a:latin typeface="Times New Roman"/>
                <a:ea typeface="Times New Roman"/>
                <a:cs typeface="Times New Roman"/>
                <a:sym typeface="Times New Roman"/>
              </a:rPr>
              <a:t>: the speaker adheres to either minimal specification or over-specification of colored objects of small (2–4) cardinalities or of uncolored objects of borderline (5–8) cardinalities throughout a whole communication.</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05" name="Google Shape;105;p21"/>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500" u="sng">
                <a:solidFill>
                  <a:schemeClr val="dk1"/>
                </a:solidFill>
                <a:latin typeface="Times New Roman"/>
                <a:ea typeface="Times New Roman"/>
                <a:cs typeface="Times New Roman"/>
                <a:sym typeface="Times New Roman"/>
              </a:rPr>
              <a:t>Expected responses</a:t>
            </a:r>
            <a:r>
              <a:rPr lang="ru" sz="1500">
                <a:solidFill>
                  <a:schemeClr val="dk1"/>
                </a:solidFill>
                <a:latin typeface="Times New Roman"/>
                <a:ea typeface="Times New Roman"/>
                <a:cs typeface="Times New Roman"/>
                <a:sym typeface="Times New Roman"/>
              </a:rPr>
              <a:t>: a bare plural form of a noun (e.g., ‘triangles’), numeral + noun (e.g., ‘four triangles’), color adjective + noun (e.g., ‘blue triangles’), numeral + color adjective + noun (e.g., ‘four blue triangles’).</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06" name="Google Shape;106;p21"/>
          <p:cNvPicPr preferRelativeResize="0"/>
          <p:nvPr/>
        </p:nvPicPr>
        <p:blipFill>
          <a:blip r:embed="rId4">
            <a:alphaModFix/>
          </a:blip>
          <a:stretch>
            <a:fillRect/>
          </a:stretch>
        </p:blipFill>
        <p:spPr>
          <a:xfrm>
            <a:off x="2026300" y="1632363"/>
            <a:ext cx="4953000" cy="3400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12" name="Google Shape;112;p22"/>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500" u="sng">
                <a:solidFill>
                  <a:schemeClr val="dk1"/>
                </a:solidFill>
                <a:latin typeface="Times New Roman"/>
                <a:ea typeface="Times New Roman"/>
                <a:cs typeface="Times New Roman"/>
                <a:sym typeface="Times New Roman"/>
              </a:rPr>
              <a:t>Expected responses</a:t>
            </a:r>
            <a:r>
              <a:rPr lang="ru" sz="1500">
                <a:solidFill>
                  <a:schemeClr val="dk1"/>
                </a:solidFill>
                <a:latin typeface="Times New Roman"/>
                <a:ea typeface="Times New Roman"/>
                <a:cs typeface="Times New Roman"/>
                <a:sym typeface="Times New Roman"/>
              </a:rPr>
              <a:t>: a bare plural form of a noun (e.g., ‘triangles’), numeral + noun (e.g., ‘four triangles’), color adjective + noun (e.g., ‘blue triangles’), numeral + color adjective + noun (e.g., ‘four blue triangles’).</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13" name="Google Shape;113;p22"/>
          <p:cNvPicPr preferRelativeResize="0"/>
          <p:nvPr/>
        </p:nvPicPr>
        <p:blipFill>
          <a:blip r:embed="rId4">
            <a:alphaModFix/>
          </a:blip>
          <a:stretch>
            <a:fillRect/>
          </a:stretch>
        </p:blipFill>
        <p:spPr>
          <a:xfrm>
            <a:off x="2651838" y="1797900"/>
            <a:ext cx="3840325" cy="29465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19" name="Google Shape;119;p23"/>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500" u="sng">
                <a:solidFill>
                  <a:schemeClr val="dk1"/>
                </a:solidFill>
                <a:latin typeface="Times New Roman"/>
                <a:ea typeface="Times New Roman"/>
                <a:cs typeface="Times New Roman"/>
                <a:sym typeface="Times New Roman"/>
              </a:rPr>
              <a:t>Expected responses</a:t>
            </a:r>
            <a:r>
              <a:rPr lang="ru" sz="1500">
                <a:solidFill>
                  <a:schemeClr val="dk1"/>
                </a:solidFill>
                <a:latin typeface="Times New Roman"/>
                <a:ea typeface="Times New Roman"/>
                <a:cs typeface="Times New Roman"/>
                <a:sym typeface="Times New Roman"/>
              </a:rPr>
              <a:t>: a bare plural form of a noun (e.g., ‘triangles’), numeral + noun (e.g., ‘four triangles’), color adjective + noun (e.g., ‘blue triangles’), numeral + color adjective + noun (e.g., ‘four blue triangles’).</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20" name="Google Shape;120;p23"/>
          <p:cNvPicPr preferRelativeResize="0"/>
          <p:nvPr/>
        </p:nvPicPr>
        <p:blipFill>
          <a:blip r:embed="rId4">
            <a:alphaModFix/>
          </a:blip>
          <a:stretch>
            <a:fillRect/>
          </a:stretch>
        </p:blipFill>
        <p:spPr>
          <a:xfrm>
            <a:off x="0" y="1957391"/>
            <a:ext cx="9144001" cy="288936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26" name="Google Shape;126;p24"/>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500" u="sng">
                <a:solidFill>
                  <a:schemeClr val="dk1"/>
                </a:solidFill>
                <a:latin typeface="Times New Roman"/>
                <a:ea typeface="Times New Roman"/>
                <a:cs typeface="Times New Roman"/>
                <a:sym typeface="Times New Roman"/>
              </a:rPr>
              <a:t>Expected responses</a:t>
            </a:r>
            <a:r>
              <a:rPr lang="ru" sz="1500">
                <a:solidFill>
                  <a:schemeClr val="dk1"/>
                </a:solidFill>
                <a:latin typeface="Times New Roman"/>
                <a:ea typeface="Times New Roman"/>
                <a:cs typeface="Times New Roman"/>
                <a:sym typeface="Times New Roman"/>
              </a:rPr>
              <a:t>: a bare plural form of a noun (e.g., ‘triangles’), numeral + noun (e.g., ‘four triangles’), color adjective + noun (e.g., ‘blue triangles’), numeral + color adjective + noun (e.g., ‘four blue triangles’).</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27" name="Google Shape;127;p24"/>
          <p:cNvPicPr preferRelativeResize="0"/>
          <p:nvPr/>
        </p:nvPicPr>
        <p:blipFill>
          <a:blip r:embed="rId4">
            <a:alphaModFix/>
          </a:blip>
          <a:stretch>
            <a:fillRect/>
          </a:stretch>
        </p:blipFill>
        <p:spPr>
          <a:xfrm>
            <a:off x="126850" y="1618786"/>
            <a:ext cx="9143999" cy="330557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t/>
            </a:r>
            <a:endParaRPr/>
          </a:p>
        </p:txBody>
      </p:sp>
      <p:sp>
        <p:nvSpPr>
          <p:cNvPr id="133" name="Google Shape;133;p25"/>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500" u="sng">
                <a:solidFill>
                  <a:schemeClr val="dk1"/>
                </a:solidFill>
                <a:latin typeface="Times New Roman"/>
                <a:ea typeface="Times New Roman"/>
                <a:cs typeface="Times New Roman"/>
                <a:sym typeface="Times New Roman"/>
              </a:rPr>
              <a:t>Expected responses</a:t>
            </a:r>
            <a:r>
              <a:rPr lang="ru" sz="1500">
                <a:solidFill>
                  <a:schemeClr val="dk1"/>
                </a:solidFill>
                <a:latin typeface="Times New Roman"/>
                <a:ea typeface="Times New Roman"/>
                <a:cs typeface="Times New Roman"/>
                <a:sym typeface="Times New Roman"/>
              </a:rPr>
              <a:t>: a bare plural form of a noun (e.g., ‘triangles’), numeral + noun (e.g., ‘four triangles’), color adjective + noun (e.g., ‘blue triangles’), numeral + color adjective + noun (e.g., ‘four blue triangles’).</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34" name="Google Shape;134;p25"/>
          <p:cNvPicPr preferRelativeResize="0"/>
          <p:nvPr/>
        </p:nvPicPr>
        <p:blipFill>
          <a:blip r:embed="rId4">
            <a:alphaModFix/>
          </a:blip>
          <a:stretch>
            <a:fillRect/>
          </a:stretch>
        </p:blipFill>
        <p:spPr>
          <a:xfrm>
            <a:off x="0" y="1547547"/>
            <a:ext cx="9144000" cy="359595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40" name="Google Shape;140;p26"/>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600">
                <a:solidFill>
                  <a:schemeClr val="dk1"/>
                </a:solidFill>
                <a:latin typeface="Times New Roman"/>
                <a:ea typeface="Times New Roman"/>
                <a:cs typeface="Times New Roman"/>
                <a:sym typeface="Times New Roman"/>
              </a:rPr>
              <a:t>The second experiment tested cardinalities ranging from 5 to 8 and had a between-subjects design (Ordered vs. Unordered conditions).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41" name="Google Shape;141;p26"/>
          <p:cNvPicPr preferRelativeResize="0"/>
          <p:nvPr/>
        </p:nvPicPr>
        <p:blipFill>
          <a:blip r:embed="rId4">
            <a:alphaModFix/>
          </a:blip>
          <a:stretch>
            <a:fillRect/>
          </a:stretch>
        </p:blipFill>
        <p:spPr>
          <a:xfrm>
            <a:off x="578125" y="1612625"/>
            <a:ext cx="7657576" cy="3263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47" name="Google Shape;147;p27"/>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600">
                <a:solidFill>
                  <a:schemeClr val="dk1"/>
                </a:solidFill>
                <a:latin typeface="Times New Roman"/>
                <a:ea typeface="Times New Roman"/>
                <a:cs typeface="Times New Roman"/>
                <a:sym typeface="Times New Roman"/>
              </a:rPr>
              <a:t>The second experiment tested cardinalities ranging from 5 to 8 and had a between-subjects design (Ordered vs. Unordered conditions).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48" name="Google Shape;148;p27"/>
          <p:cNvPicPr preferRelativeResize="0"/>
          <p:nvPr/>
        </p:nvPicPr>
        <p:blipFill>
          <a:blip r:embed="rId4">
            <a:alphaModFix/>
          </a:blip>
          <a:stretch>
            <a:fillRect/>
          </a:stretch>
        </p:blipFill>
        <p:spPr>
          <a:xfrm>
            <a:off x="2335099" y="1569525"/>
            <a:ext cx="4006800" cy="33444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54" name="Google Shape;154;p28"/>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600">
                <a:solidFill>
                  <a:schemeClr val="dk1"/>
                </a:solidFill>
                <a:latin typeface="Times New Roman"/>
                <a:ea typeface="Times New Roman"/>
                <a:cs typeface="Times New Roman"/>
                <a:sym typeface="Times New Roman"/>
              </a:rPr>
              <a:t>The second experiment tested cardinalities ranging from 5 to 8 and had a between-subjects design (Ordered vs. Unordered conditions).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55" name="Google Shape;155;p28"/>
          <p:cNvPicPr preferRelativeResize="0"/>
          <p:nvPr/>
        </p:nvPicPr>
        <p:blipFill>
          <a:blip r:embed="rId4">
            <a:alphaModFix/>
          </a:blip>
          <a:stretch>
            <a:fillRect/>
          </a:stretch>
        </p:blipFill>
        <p:spPr>
          <a:xfrm>
            <a:off x="1974225" y="1599000"/>
            <a:ext cx="5029200" cy="3790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61" name="Google Shape;161;p29"/>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600">
                <a:solidFill>
                  <a:schemeClr val="dk1"/>
                </a:solidFill>
                <a:latin typeface="Times New Roman"/>
                <a:ea typeface="Times New Roman"/>
                <a:cs typeface="Times New Roman"/>
                <a:sym typeface="Times New Roman"/>
              </a:rPr>
              <a:t>The second experiment tested cardinalities ranging from 5 to 8 and had a between-subjects design (Ordered vs. Unordered conditions).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62" name="Google Shape;162;p29"/>
          <p:cNvPicPr preferRelativeResize="0"/>
          <p:nvPr/>
        </p:nvPicPr>
        <p:blipFill>
          <a:blip r:embed="rId4">
            <a:alphaModFix/>
          </a:blip>
          <a:stretch>
            <a:fillRect/>
          </a:stretch>
        </p:blipFill>
        <p:spPr>
          <a:xfrm>
            <a:off x="135925" y="1619854"/>
            <a:ext cx="9144000" cy="360584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6698"/>
              <a:buFont typeface="Arial"/>
              <a:buNone/>
            </a:pPr>
            <a:r>
              <a:rPr lang="ru" sz="2355">
                <a:latin typeface="Times New Roman"/>
                <a:ea typeface="Times New Roman"/>
                <a:cs typeface="Times New Roman"/>
                <a:sym typeface="Times New Roman"/>
              </a:rPr>
              <a:t>Linguistic redundancy: color and quantity (</a:t>
            </a:r>
            <a:r>
              <a:rPr lang="ru" sz="2355" u="sng">
                <a:latin typeface="Times New Roman"/>
                <a:ea typeface="Times New Roman"/>
                <a:cs typeface="Times New Roman"/>
                <a:sym typeface="Times New Roman"/>
                <a:hlinkClick r:id="rId3"/>
              </a:rPr>
              <a:t>Zevakhina et al. 2024</a:t>
            </a:r>
            <a:r>
              <a:rPr lang="ru" sz="2355">
                <a:latin typeface="Times New Roman"/>
                <a:ea typeface="Times New Roman"/>
                <a:cs typeface="Times New Roman"/>
                <a:sym typeface="Times New Roman"/>
              </a:rPr>
              <a:t>)</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68" name="Google Shape;168;p30"/>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1600">
                <a:solidFill>
                  <a:schemeClr val="dk1"/>
                </a:solidFill>
                <a:latin typeface="Times New Roman"/>
                <a:ea typeface="Times New Roman"/>
                <a:cs typeface="Times New Roman"/>
                <a:sym typeface="Times New Roman"/>
              </a:rPr>
              <a:t>The second experiment tested cardinalities ranging from 5 to 8 and had a between-subjects design (Ordered vs. Unordered conditions).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169" name="Google Shape;169;p30"/>
          <p:cNvPicPr preferRelativeResize="0"/>
          <p:nvPr/>
        </p:nvPicPr>
        <p:blipFill>
          <a:blip r:embed="rId4">
            <a:alphaModFix/>
          </a:blip>
          <a:stretch>
            <a:fillRect/>
          </a:stretch>
        </p:blipFill>
        <p:spPr>
          <a:xfrm>
            <a:off x="0" y="1614859"/>
            <a:ext cx="9144001" cy="366793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Linguistic redundancy: color</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75" name="Google Shape;175;p31"/>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sz="1400">
                <a:solidFill>
                  <a:schemeClr val="dk1"/>
                </a:solidFill>
                <a:latin typeface="Times New Roman"/>
                <a:ea typeface="Times New Roman"/>
                <a:cs typeface="Times New Roman"/>
                <a:sym typeface="Times New Roman"/>
              </a:rPr>
              <a:t>Overinformativity</a:t>
            </a:r>
            <a:r>
              <a:rPr lang="ru" sz="1400">
                <a:solidFill>
                  <a:schemeClr val="dk1"/>
                </a:solidFill>
                <a:latin typeface="Times New Roman"/>
                <a:ea typeface="Times New Roman"/>
                <a:cs typeface="Times New Roman"/>
                <a:sym typeface="Times New Roman"/>
              </a:rPr>
              <a:t> – a quality of an object is specified that is unique in the context and thus redundant (Rubio-Fernandez, 2016).</a:t>
            </a:r>
            <a:endParaRPr sz="1400">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Font typeface="Times New Roman"/>
              <a:buAutoNum type="arabicParenBoth"/>
            </a:pPr>
            <a:r>
              <a:rPr lang="ru" sz="1400">
                <a:solidFill>
                  <a:schemeClr val="dk1"/>
                </a:solidFill>
                <a:latin typeface="Times New Roman"/>
                <a:ea typeface="Times New Roman"/>
                <a:cs typeface="Times New Roman"/>
                <a:sym typeface="Times New Roman"/>
              </a:rPr>
              <a:t>Give me the blue cup!</a:t>
            </a:r>
            <a:endParaRPr sz="14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ru" sz="1400">
                <a:solidFill>
                  <a:schemeClr val="dk1"/>
                </a:solidFill>
                <a:latin typeface="Times New Roman"/>
                <a:ea typeface="Times New Roman"/>
                <a:cs typeface="Times New Roman"/>
                <a:sym typeface="Times New Roman"/>
              </a:rPr>
              <a:t>Context 1: blue cup, red cup, green spoon</a:t>
            </a:r>
            <a:endParaRPr sz="14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ru" sz="1400">
                <a:solidFill>
                  <a:schemeClr val="dk1"/>
                </a:solidFill>
                <a:latin typeface="Times New Roman"/>
                <a:ea typeface="Times New Roman"/>
                <a:cs typeface="Times New Roman"/>
                <a:sym typeface="Times New Roman"/>
              </a:rPr>
              <a:t>Context 2: blue cup, red knife, green spoon</a:t>
            </a:r>
            <a:endParaRPr sz="14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rPr lang="ru" sz="1400">
                <a:solidFill>
                  <a:schemeClr val="dk1"/>
                </a:solidFill>
                <a:latin typeface="Times New Roman"/>
                <a:ea typeface="Times New Roman"/>
                <a:cs typeface="Times New Roman"/>
                <a:sym typeface="Times New Roman"/>
              </a:rPr>
              <a:t>Context 3: blue cup, blue knife, blue spoon</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In which context is the utterance (1) informative? overinformative?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Overinformativity violates the Maxims of Quantity, then why is it possible?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Linguistic redundancy: color</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81" name="Google Shape;181;p32"/>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sz="1400">
                <a:solidFill>
                  <a:schemeClr val="dk1"/>
                </a:solidFill>
                <a:latin typeface="Times New Roman"/>
                <a:ea typeface="Times New Roman"/>
                <a:cs typeface="Times New Roman"/>
                <a:sym typeface="Times New Roman"/>
              </a:rPr>
              <a:t>Overinformativity</a:t>
            </a:r>
            <a:r>
              <a:rPr lang="ru" sz="1400">
                <a:solidFill>
                  <a:schemeClr val="dk1"/>
                </a:solidFill>
                <a:latin typeface="Times New Roman"/>
                <a:ea typeface="Times New Roman"/>
                <a:cs typeface="Times New Roman"/>
                <a:sym typeface="Times New Roman"/>
              </a:rPr>
              <a:t> – a quality of an object is specified that is unique in the context and thus redundant (Rubio-Fernandez, 2016).</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Overinformativity violates the Maxims of Quantity, then why is it possible?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Rubio-Fernandez proposes to switch from Quantity to Efficiency: overmodification allows the listener to identify the intended object more easily, color is an important characteristic of certain kinds of objects.</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Color is special, other dimensions like shape or size usually don’t get overspecified.</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Color is usually absolute (does not change from object to object), inherent for a lot of objects, often constant and perceptually salient.</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Overmodification occurs more often in contexts with objects of different colors.</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Atypical (</a:t>
            </a:r>
            <a:r>
              <a:rPr i="1" lang="ru" sz="1400">
                <a:solidFill>
                  <a:schemeClr val="dk1"/>
                </a:solidFill>
                <a:latin typeface="Times New Roman"/>
                <a:ea typeface="Times New Roman"/>
                <a:cs typeface="Times New Roman"/>
                <a:sym typeface="Times New Roman"/>
              </a:rPr>
              <a:t>green swan</a:t>
            </a:r>
            <a:r>
              <a:rPr lang="ru" sz="1400">
                <a:solidFill>
                  <a:schemeClr val="dk1"/>
                </a:solidFill>
                <a:latin typeface="Times New Roman"/>
                <a:ea typeface="Times New Roman"/>
                <a:cs typeface="Times New Roman"/>
                <a:sym typeface="Times New Roman"/>
              </a:rPr>
              <a:t>, </a:t>
            </a:r>
            <a:r>
              <a:rPr i="1" lang="ru" sz="1400">
                <a:solidFill>
                  <a:schemeClr val="dk1"/>
                </a:solidFill>
                <a:latin typeface="Times New Roman"/>
                <a:ea typeface="Times New Roman"/>
                <a:cs typeface="Times New Roman"/>
                <a:sym typeface="Times New Roman"/>
              </a:rPr>
              <a:t>purple banana</a:t>
            </a:r>
            <a:r>
              <a:rPr lang="ru" sz="1400">
                <a:solidFill>
                  <a:schemeClr val="dk1"/>
                </a:solidFill>
                <a:latin typeface="Times New Roman"/>
                <a:ea typeface="Times New Roman"/>
                <a:cs typeface="Times New Roman"/>
                <a:sym typeface="Times New Roman"/>
              </a:rPr>
              <a:t>) gets overmodified more often than objects of variable colors (</a:t>
            </a:r>
            <a:r>
              <a:rPr i="1" lang="ru" sz="1400">
                <a:solidFill>
                  <a:schemeClr val="dk1"/>
                </a:solidFill>
                <a:latin typeface="Times New Roman"/>
                <a:ea typeface="Times New Roman"/>
                <a:cs typeface="Times New Roman"/>
                <a:sym typeface="Times New Roman"/>
              </a:rPr>
              <a:t>red dress</a:t>
            </a:r>
            <a:r>
              <a:rPr lang="ru" sz="1400">
                <a:solidFill>
                  <a:schemeClr val="dk1"/>
                </a:solidFill>
                <a:latin typeface="Times New Roman"/>
                <a:ea typeface="Times New Roman"/>
                <a:cs typeface="Times New Roman"/>
                <a:sym typeface="Times New Roman"/>
              </a:rPr>
              <a:t>, </a:t>
            </a:r>
            <a:r>
              <a:rPr i="1" lang="ru" sz="1400">
                <a:solidFill>
                  <a:schemeClr val="dk1"/>
                </a:solidFill>
                <a:latin typeface="Times New Roman"/>
                <a:ea typeface="Times New Roman"/>
                <a:cs typeface="Times New Roman"/>
                <a:sym typeface="Times New Roman"/>
              </a:rPr>
              <a:t>black cup</a:t>
            </a:r>
            <a:r>
              <a:rPr lang="ru" sz="1400">
                <a:solidFill>
                  <a:schemeClr val="dk1"/>
                </a:solidFill>
                <a:latin typeface="Times New Roman"/>
                <a:ea typeface="Times New Roman"/>
                <a:cs typeface="Times New Roman"/>
                <a:sym typeface="Times New Roman"/>
              </a:rPr>
              <a:t>), which, in turn, get overmodified more often than stereotypically colored objects (</a:t>
            </a:r>
            <a:r>
              <a:rPr i="1" lang="ru" sz="1400">
                <a:solidFill>
                  <a:schemeClr val="dk1"/>
                </a:solidFill>
                <a:latin typeface="Times New Roman"/>
                <a:ea typeface="Times New Roman"/>
                <a:cs typeface="Times New Roman"/>
                <a:sym typeface="Times New Roman"/>
              </a:rPr>
              <a:t>grey wolf</a:t>
            </a:r>
            <a:r>
              <a:rPr lang="ru" sz="1400">
                <a:solidFill>
                  <a:schemeClr val="dk1"/>
                </a:solidFill>
                <a:latin typeface="Times New Roman"/>
                <a:ea typeface="Times New Roman"/>
                <a:cs typeface="Times New Roman"/>
                <a:sym typeface="Times New Roman"/>
              </a:rPr>
              <a:t>, </a:t>
            </a:r>
            <a:r>
              <a:rPr i="1" lang="ru" sz="1400">
                <a:solidFill>
                  <a:schemeClr val="dk1"/>
                </a:solidFill>
                <a:latin typeface="Times New Roman"/>
                <a:ea typeface="Times New Roman"/>
                <a:cs typeface="Times New Roman"/>
                <a:sym typeface="Times New Roman"/>
              </a:rPr>
              <a:t>yellow lemon</a:t>
            </a:r>
            <a:r>
              <a:rPr lang="ru" sz="1400">
                <a:solidFill>
                  <a:schemeClr val="dk1"/>
                </a:solidFill>
                <a:latin typeface="Times New Roman"/>
                <a:ea typeface="Times New Roman"/>
                <a:cs typeface="Times New Roman"/>
                <a:sym typeface="Times New Roman"/>
              </a:rPr>
              <a:t>).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If color matters for a certain category of objects, it gets overmodified more often (</a:t>
            </a:r>
            <a:r>
              <a:rPr i="1" lang="ru" sz="1400">
                <a:solidFill>
                  <a:schemeClr val="dk1"/>
                </a:solidFill>
                <a:latin typeface="Times New Roman"/>
                <a:ea typeface="Times New Roman"/>
                <a:cs typeface="Times New Roman"/>
                <a:sym typeface="Times New Roman"/>
              </a:rPr>
              <a:t>red dress</a:t>
            </a:r>
            <a:r>
              <a:rPr lang="ru" sz="1400">
                <a:solidFill>
                  <a:schemeClr val="dk1"/>
                </a:solidFill>
                <a:latin typeface="Times New Roman"/>
                <a:ea typeface="Times New Roman"/>
                <a:cs typeface="Times New Roman"/>
                <a:sym typeface="Times New Roman"/>
              </a:rPr>
              <a:t> vs. </a:t>
            </a:r>
            <a:r>
              <a:rPr i="1" lang="ru" sz="1400">
                <a:solidFill>
                  <a:schemeClr val="dk1"/>
                </a:solidFill>
                <a:latin typeface="Times New Roman"/>
                <a:ea typeface="Times New Roman"/>
                <a:cs typeface="Times New Roman"/>
                <a:sym typeface="Times New Roman"/>
              </a:rPr>
              <a:t>red circle</a:t>
            </a:r>
            <a:r>
              <a:rPr lang="ru" sz="1400">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Conversational Implicature</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87" name="Google Shape;187;p33"/>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a:solidFill>
                  <a:schemeClr val="dk1"/>
                </a:solidFill>
                <a:latin typeface="Times New Roman"/>
                <a:ea typeface="Times New Roman"/>
                <a:cs typeface="Times New Roman"/>
                <a:sym typeface="Times New Roman"/>
              </a:rPr>
              <a:t>Definition (adapted from Hirschberg 1985:§2)</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Proposition q is a conversational implicature of utterance U by agent A in context C if, and only if:</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i. A believes that it is mutual, public knowledge of all the discourse participants in C that A is obeying the cooperative principle.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ii. A believes that, to maintain (i) given U, the hearer will assume that A believes q.</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iii. A believes that it is mutual, public knowledge of all the discourse participants that (ii) holds.</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Conversational Implicature: calculability: Quantity-based</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93" name="Google Shape;193;p34"/>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200">
                <a:solidFill>
                  <a:schemeClr val="dk1"/>
                </a:solidFill>
                <a:latin typeface="Times New Roman"/>
                <a:ea typeface="Times New Roman"/>
                <a:cs typeface="Times New Roman"/>
                <a:sym typeface="Times New Roman"/>
              </a:rPr>
              <a:t>Kyle to Ellen: “I have $9.”</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200">
                <a:solidFill>
                  <a:schemeClr val="dk1"/>
                </a:solidFill>
                <a:latin typeface="Times New Roman"/>
                <a:ea typeface="Times New Roman"/>
                <a:cs typeface="Times New Roman"/>
                <a:sym typeface="Times New Roman"/>
              </a:rPr>
              <a:t>Conversational implicature: Kyle does not have &gt; $9.</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200">
                <a:solidFill>
                  <a:schemeClr val="dk1"/>
                </a:solidFill>
                <a:latin typeface="Times New Roman"/>
                <a:ea typeface="Times New Roman"/>
                <a:cs typeface="Times New Roman"/>
                <a:sym typeface="Times New Roman"/>
              </a:rPr>
              <a:t>a. Contextual premise: Both Kyle and Ellen need $10 for their movie tickets.</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200">
                <a:solidFill>
                  <a:schemeClr val="dk1"/>
                </a:solidFill>
                <a:latin typeface="Times New Roman"/>
                <a:ea typeface="Times New Roman"/>
                <a:cs typeface="Times New Roman"/>
                <a:sym typeface="Times New Roman"/>
              </a:rPr>
              <a:t>b. Contextual premise: It is mutual, public information that Kyle has complete knowledge of how much money he has on him.</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200">
                <a:solidFill>
                  <a:schemeClr val="dk1"/>
                </a:solidFill>
                <a:latin typeface="Times New Roman"/>
                <a:ea typeface="Times New Roman"/>
                <a:cs typeface="Times New Roman"/>
                <a:sym typeface="Times New Roman"/>
              </a:rPr>
              <a:t>c. Assume Kyle is cooperative at least insofar as he is obeying Quantity and Quality.</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200">
                <a:solidFill>
                  <a:schemeClr val="dk1"/>
                </a:solidFill>
                <a:latin typeface="Times New Roman"/>
                <a:ea typeface="Times New Roman"/>
                <a:cs typeface="Times New Roman"/>
                <a:sym typeface="Times New Roman"/>
              </a:rPr>
              <a:t>d. Then he will assert what is maximally relevant, informative, and true.</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200">
                <a:solidFill>
                  <a:schemeClr val="dk1"/>
                </a:solidFill>
                <a:latin typeface="Times New Roman"/>
                <a:ea typeface="Times New Roman"/>
                <a:cs typeface="Times New Roman"/>
                <a:sym typeface="Times New Roman"/>
              </a:rPr>
              <a:t>e. By (a), the proposition p that Kyle has $n for 9 &lt; n &lt;= 10 is more informative and relevant in this context than the proposition that he has $9.</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200">
                <a:solidFill>
                  <a:schemeClr val="dk1"/>
                </a:solidFill>
                <a:latin typeface="Times New Roman"/>
                <a:ea typeface="Times New Roman"/>
                <a:cs typeface="Times New Roman"/>
                <a:sym typeface="Times New Roman"/>
              </a:rPr>
              <a:t>f. Therefore, Kyle must lack sufficient evidence to assert p.</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200">
                <a:solidFill>
                  <a:schemeClr val="dk1"/>
                </a:solidFill>
                <a:latin typeface="Times New Roman"/>
                <a:ea typeface="Times New Roman"/>
                <a:cs typeface="Times New Roman"/>
                <a:sym typeface="Times New Roman"/>
              </a:rPr>
              <a:t>g. By (b), he must lack evidence for p because it is false.</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200">
                <a:solidFill>
                  <a:schemeClr val="dk1"/>
                </a:solidFill>
                <a:latin typeface="Times New Roman"/>
                <a:ea typeface="Times New Roman"/>
                <a:cs typeface="Times New Roman"/>
                <a:sym typeface="Times New Roman"/>
              </a:rPr>
              <a:t>Once we have calculated the implicature and agreed that it was intended, then we can also conclude that Kyle doesn’t have $11, $12, etc. These are unlikely to be conversational implicatures, though, since they are not relevant in our context.</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Conversational Implicature: calculability: Relevance-based</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199" name="Google Shape;199;p35"/>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a:solidFill>
                  <a:schemeClr val="dk1"/>
                </a:solidFill>
                <a:latin typeface="Times New Roman"/>
                <a:ea typeface="Times New Roman"/>
                <a:cs typeface="Times New Roman"/>
                <a:sym typeface="Times New Roman"/>
              </a:rPr>
              <a:t>A: Which city does Barbara live in?</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B: She lives in Russia.</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Conversational implicature: B does not know which city Barbara lives in.</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a. Contextual premise: B is forthcoming about Barbara’s personal life.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b. Assume B is cooperative.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c. Assume, towards a contradiction, that B does know which city Barbara lives in (the negation of the implicature).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d. Supplying the city’s name would do better on Relevance and Quantity than supplying just the country name.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e. The contextual assumption is that B will supply such information.</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f. This contradicts the cooperativity assumption (b).</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g. We can therefore conclude that the implicature is true.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Conversational Implicature: tests</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05" name="Google Shape;205;p36"/>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u="sng">
                <a:solidFill>
                  <a:schemeClr val="dk1"/>
                </a:solidFill>
                <a:latin typeface="Times New Roman"/>
                <a:ea typeface="Times New Roman"/>
                <a:cs typeface="Times New Roman"/>
                <a:sym typeface="Times New Roman"/>
              </a:rPr>
              <a:t>Cancellation</a:t>
            </a:r>
            <a:r>
              <a:rPr lang="ru">
                <a:solidFill>
                  <a:schemeClr val="dk1"/>
                </a:solidFill>
                <a:latin typeface="Times New Roman"/>
                <a:ea typeface="Times New Roman"/>
                <a:cs typeface="Times New Roman"/>
                <a:sym typeface="Times New Roman"/>
              </a:rPr>
              <a:t>: encoding semantically the negation of the target meaning. If the result seems consistent, then the target meaning is likely an implicature.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u="sng">
                <a:solidFill>
                  <a:schemeClr val="dk1"/>
                </a:solidFill>
                <a:latin typeface="Times New Roman"/>
                <a:ea typeface="Times New Roman"/>
                <a:cs typeface="Times New Roman"/>
                <a:sym typeface="Times New Roman"/>
              </a:rPr>
              <a:t>Suspension</a:t>
            </a:r>
            <a:r>
              <a:rPr lang="ru">
                <a:solidFill>
                  <a:schemeClr val="dk1"/>
                </a:solidFill>
                <a:latin typeface="Times New Roman"/>
                <a:ea typeface="Times New Roman"/>
                <a:cs typeface="Times New Roman"/>
                <a:sym typeface="Times New Roman"/>
              </a:rPr>
              <a:t>: encoding semantically a lack of knowledge about the truth of the target meaning or its negation. If the result seems consistent, then the target meaning is likely an implicature.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u="sng">
                <a:solidFill>
                  <a:schemeClr val="dk1"/>
                </a:solidFill>
                <a:latin typeface="Times New Roman"/>
                <a:ea typeface="Times New Roman"/>
                <a:cs typeface="Times New Roman"/>
                <a:sym typeface="Times New Roman"/>
              </a:rPr>
              <a:t>Reinforcement</a:t>
            </a:r>
            <a:r>
              <a:rPr lang="ru">
                <a:solidFill>
                  <a:schemeClr val="dk1"/>
                </a:solidFill>
                <a:latin typeface="Times New Roman"/>
                <a:ea typeface="Times New Roman"/>
                <a:cs typeface="Times New Roman"/>
                <a:sym typeface="Times New Roman"/>
              </a:rPr>
              <a:t>: encoding semantically the target meaning itself. If the result seems non-redundant, then the target meaning is likely an implicature.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Conversational Implicature: tests</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11" name="Google Shape;211;p37"/>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000000"/>
                </a:solidFill>
                <a:latin typeface="Times New Roman"/>
                <a:ea typeface="Times New Roman"/>
                <a:cs typeface="Times New Roman"/>
                <a:sym typeface="Times New Roman"/>
              </a:rPr>
              <a:t>E</a:t>
            </a:r>
            <a:r>
              <a:rPr lang="ru">
                <a:solidFill>
                  <a:srgbClr val="000000"/>
                </a:solidFill>
                <a:latin typeface="Times New Roman"/>
                <a:ea typeface="Times New Roman"/>
                <a:cs typeface="Times New Roman"/>
                <a:sym typeface="Times New Roman"/>
              </a:rPr>
              <a:t>xample: The play was good.</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rgbClr val="000000"/>
                </a:solidFill>
                <a:latin typeface="Times New Roman"/>
                <a:ea typeface="Times New Roman"/>
                <a:cs typeface="Times New Roman"/>
                <a:sym typeface="Times New Roman"/>
              </a:rPr>
              <a:t>a. Target meaning: the play was not excellent</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rgbClr val="000000"/>
                </a:solidFill>
                <a:latin typeface="Times New Roman"/>
                <a:ea typeface="Times New Roman"/>
                <a:cs typeface="Times New Roman"/>
                <a:sym typeface="Times New Roman"/>
              </a:rPr>
              <a:t>b. Cancellation: The play was good – in fact, it was excellent. </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rgbClr val="000000"/>
                </a:solidFill>
                <a:latin typeface="Times New Roman"/>
                <a:ea typeface="Times New Roman"/>
                <a:cs typeface="Times New Roman"/>
                <a:sym typeface="Times New Roman"/>
              </a:rPr>
              <a:t>c. Suspension: The play was good, maybe even excellent.</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rgbClr val="000000"/>
                </a:solidFill>
                <a:latin typeface="Times New Roman"/>
                <a:ea typeface="Times New Roman"/>
                <a:cs typeface="Times New Roman"/>
                <a:sym typeface="Times New Roman"/>
              </a:rPr>
              <a:t>d. Reinforcement: The play was good, but not excellent.</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u="sng">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Conversational Implicature: tests</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17" name="Google Shape;217;p38"/>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Example: Some of the puppies escaped.</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a. Target meaning: not all of the puppies escaped</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b. Cancellation: Some – in fact all! – of the puppies escaped. (“not not all”)</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c. Suspension: Some, maybe even all, of the puppies escaped.</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d. Reinforcement: Some, but not all, of the puppies escaped.</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u="sng">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Conversational Implicature: tests</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23" name="Google Shape;223;p39"/>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dk1"/>
                </a:solidFill>
                <a:latin typeface="Times New Roman"/>
                <a:ea typeface="Times New Roman"/>
                <a:cs typeface="Times New Roman"/>
                <a:sym typeface="Times New Roman"/>
              </a:rPr>
              <a:t>Example: The food was edible</a:t>
            </a:r>
            <a:r>
              <a:rPr lang="ru">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a. Target meaning: the food was not delicious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b. Cancellation:</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c. Suspension:</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a:solidFill>
                  <a:schemeClr val="dk1"/>
                </a:solidFill>
                <a:latin typeface="Times New Roman"/>
                <a:ea typeface="Times New Roman"/>
                <a:cs typeface="Times New Roman"/>
                <a:sym typeface="Times New Roman"/>
              </a:rPr>
              <a:t>d. Reinforcement:</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u="sng">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1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355">
                <a:latin typeface="Times New Roman"/>
                <a:ea typeface="Times New Roman"/>
                <a:cs typeface="Times New Roman"/>
                <a:sym typeface="Times New Roman"/>
              </a:rPr>
              <a:t>Conversational Implicature: tests</a:t>
            </a:r>
            <a:endParaRPr sz="2133"/>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29" name="Google Shape;229;p40"/>
          <p:cNvSpPr txBox="1"/>
          <p:nvPr>
            <p:ph idx="1" type="body"/>
          </p:nvPr>
        </p:nvSpPr>
        <p:spPr>
          <a:xfrm>
            <a:off x="311700" y="948000"/>
            <a:ext cx="8520600" cy="40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u="sng">
                <a:solidFill>
                  <a:schemeClr val="dk1"/>
                </a:solidFill>
                <a:latin typeface="Times New Roman"/>
                <a:ea typeface="Times New Roman"/>
                <a:cs typeface="Times New Roman"/>
                <a:sym typeface="Times New Roman"/>
              </a:rPr>
              <a:t>Calculation</a:t>
            </a:r>
            <a:endParaRPr u="sng">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u="sng">
                <a:solidFill>
                  <a:schemeClr val="dk1"/>
                </a:solidFill>
                <a:latin typeface="Times New Roman"/>
                <a:ea typeface="Times New Roman"/>
                <a:cs typeface="Times New Roman"/>
                <a:sym typeface="Times New Roman"/>
              </a:rPr>
              <a:t>Indeterminacy</a:t>
            </a:r>
            <a:r>
              <a:rPr lang="ru">
                <a:solidFill>
                  <a:schemeClr val="dk1"/>
                </a:solidFill>
                <a:latin typeface="Times New Roman"/>
                <a:ea typeface="Times New Roman"/>
                <a:cs typeface="Times New Roman"/>
                <a:sym typeface="Times New Roman"/>
              </a:rPr>
              <a:t>: Hirschberg (1985:24) writes, “a conversational implicatum is often a disjunction of several possible interpretations of an utterance and is often indeterminate”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u="sng">
                <a:solidFill>
                  <a:schemeClr val="dk1"/>
                </a:solidFill>
                <a:latin typeface="Times New Roman"/>
                <a:ea typeface="Times New Roman"/>
                <a:cs typeface="Times New Roman"/>
                <a:sym typeface="Times New Roman"/>
              </a:rPr>
              <a:t>Nonconventionality</a:t>
            </a:r>
            <a:r>
              <a:rPr lang="ru">
                <a:solidFill>
                  <a:schemeClr val="dk1"/>
                </a:solidFill>
                <a:latin typeface="Times New Roman"/>
                <a:ea typeface="Times New Roman"/>
                <a:cs typeface="Times New Roman"/>
                <a:sym typeface="Times New Roman"/>
              </a:rPr>
              <a:t>: the inferences should derive, not (solely) from lexical or constructional idiosyncrasies, but rather from pragmatic interactions</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u="sng">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b="1"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0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0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latin typeface="Times New Roman"/>
                <a:ea typeface="Times New Roman"/>
                <a:cs typeface="Times New Roman"/>
                <a:sym typeface="Times New Roman"/>
              </a:rPr>
              <a:t>Quantity Implicatures</a:t>
            </a:r>
            <a:endParaRPr>
              <a:latin typeface="Times New Roman"/>
              <a:ea typeface="Times New Roman"/>
              <a:cs typeface="Times New Roman"/>
              <a:sym typeface="Times New Roman"/>
            </a:endParaRPr>
          </a:p>
        </p:txBody>
      </p:sp>
      <p:sp>
        <p:nvSpPr>
          <p:cNvPr id="235" name="Google Shape;235;p41"/>
          <p:cNvSpPr txBox="1"/>
          <p:nvPr>
            <p:ph idx="1" type="body"/>
          </p:nvPr>
        </p:nvSpPr>
        <p:spPr>
          <a:xfrm>
            <a:off x="311700" y="1152475"/>
            <a:ext cx="8520600" cy="369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u="sng">
                <a:solidFill>
                  <a:schemeClr val="dk1"/>
                </a:solidFill>
                <a:latin typeface="Times New Roman"/>
                <a:ea typeface="Times New Roman"/>
                <a:cs typeface="Times New Roman"/>
                <a:sym typeface="Times New Roman"/>
              </a:rPr>
              <a:t>Quantity Implicatures</a:t>
            </a:r>
            <a:r>
              <a:rPr lang="ru" sz="1400">
                <a:solidFill>
                  <a:schemeClr val="dk1"/>
                </a:solidFill>
                <a:latin typeface="Times New Roman"/>
                <a:ea typeface="Times New Roman"/>
                <a:cs typeface="Times New Roman"/>
                <a:sym typeface="Times New Roman"/>
              </a:rPr>
              <a:t> are calculated based on the Maxim of Quantity:</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u="sng">
                <a:solidFill>
                  <a:schemeClr val="dk1"/>
                </a:solidFill>
                <a:latin typeface="Times New Roman"/>
                <a:ea typeface="Times New Roman"/>
                <a:cs typeface="Times New Roman"/>
                <a:sym typeface="Times New Roman"/>
              </a:rPr>
              <a:t>Q</a:t>
            </a:r>
            <a:r>
              <a:rPr baseline="-25000" lang="ru" sz="1400" u="sng">
                <a:solidFill>
                  <a:schemeClr val="dk1"/>
                </a:solidFill>
                <a:latin typeface="Times New Roman"/>
                <a:ea typeface="Times New Roman"/>
                <a:cs typeface="Times New Roman"/>
                <a:sym typeface="Times New Roman"/>
              </a:rPr>
              <a:t>C</a:t>
            </a:r>
            <a:r>
              <a:rPr lang="ru" sz="1400" u="sng">
                <a:solidFill>
                  <a:schemeClr val="dk1"/>
                </a:solidFill>
                <a:latin typeface="Times New Roman"/>
                <a:ea typeface="Times New Roman"/>
                <a:cs typeface="Times New Roman"/>
                <a:sym typeface="Times New Roman"/>
              </a:rPr>
              <a:t>-implicatures</a:t>
            </a:r>
            <a:r>
              <a:rPr lang="ru" sz="1400">
                <a:solidFill>
                  <a:schemeClr val="dk1"/>
                </a:solidFill>
                <a:latin typeface="Times New Roman"/>
                <a:ea typeface="Times New Roman"/>
                <a:cs typeface="Times New Roman"/>
                <a:sym typeface="Times New Roman"/>
              </a:rPr>
              <a:t> (closed, small number of alternatives):</a:t>
            </a:r>
            <a:endParaRPr sz="1400">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scalar implicatures</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free choice inferences: You can take an apple or an orange (implies: not both)</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u="sng">
                <a:solidFill>
                  <a:schemeClr val="dk1"/>
                </a:solidFill>
                <a:latin typeface="Times New Roman"/>
                <a:ea typeface="Times New Roman"/>
                <a:cs typeface="Times New Roman"/>
                <a:sym typeface="Times New Roman"/>
              </a:rPr>
              <a:t>Q</a:t>
            </a:r>
            <a:r>
              <a:rPr baseline="-25000" lang="ru" sz="1400" u="sng">
                <a:solidFill>
                  <a:schemeClr val="dk1"/>
                </a:solidFill>
                <a:latin typeface="Times New Roman"/>
                <a:ea typeface="Times New Roman"/>
                <a:cs typeface="Times New Roman"/>
                <a:sym typeface="Times New Roman"/>
              </a:rPr>
              <a:t>O</a:t>
            </a:r>
            <a:r>
              <a:rPr lang="ru" sz="1400" u="sng">
                <a:solidFill>
                  <a:schemeClr val="dk1"/>
                </a:solidFill>
                <a:latin typeface="Times New Roman"/>
                <a:ea typeface="Times New Roman"/>
                <a:cs typeface="Times New Roman"/>
                <a:sym typeface="Times New Roman"/>
              </a:rPr>
              <a:t>-implicatures</a:t>
            </a:r>
            <a:r>
              <a:rPr lang="ru" sz="1400">
                <a:solidFill>
                  <a:schemeClr val="dk1"/>
                </a:solidFill>
                <a:latin typeface="Times New Roman"/>
                <a:ea typeface="Times New Roman"/>
                <a:cs typeface="Times New Roman"/>
                <a:sym typeface="Times New Roman"/>
              </a:rPr>
              <a:t> (open):</a:t>
            </a:r>
            <a:endParaRPr sz="1400">
              <a:solidFill>
                <a:schemeClr val="dk1"/>
              </a:solidFill>
              <a:latin typeface="Times New Roman"/>
              <a:ea typeface="Times New Roman"/>
              <a:cs typeface="Times New Roman"/>
              <a:sym typeface="Times New Roman"/>
            </a:endParaRPr>
          </a:p>
          <a:p>
            <a:pPr indent="-317500" lvl="0" marL="457200" rtl="0" algn="l">
              <a:spcBef>
                <a:spcPts val="120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exhaustive answers, question-answer implicatures: D: Who looked at the papers assigned for the class? A: Zoe and Anton (impl.: just them) </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ru" sz="1400">
                <a:solidFill>
                  <a:schemeClr val="dk1"/>
                </a:solidFill>
                <a:latin typeface="Times New Roman"/>
                <a:ea typeface="Times New Roman"/>
                <a:cs typeface="Times New Roman"/>
                <a:sym typeface="Times New Roman"/>
              </a:rPr>
              <a:t>c</a:t>
            </a:r>
            <a:r>
              <a:rPr lang="ru" sz="1400">
                <a:solidFill>
                  <a:schemeClr val="dk1"/>
                </a:solidFill>
                <a:latin typeface="Times New Roman"/>
                <a:ea typeface="Times New Roman"/>
                <a:cs typeface="Times New Roman"/>
                <a:sym typeface="Times New Roman"/>
              </a:rPr>
              <a:t>onditional perfection: А: If you mow the lawn, I’ll give you five dollars. Implicature: If you don’t mow the lawn, I won’t give you five dollars</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38671"/>
              <a:buFont typeface="Arial"/>
              <a:buNone/>
            </a:pPr>
            <a:r>
              <a:rPr lang="ru" sz="2844">
                <a:latin typeface="Times New Roman"/>
                <a:ea typeface="Times New Roman"/>
                <a:cs typeface="Times New Roman"/>
                <a:sym typeface="Times New Roman"/>
              </a:rPr>
              <a:t>Q</a:t>
            </a:r>
            <a:r>
              <a:rPr baseline="-25000" lang="ru" sz="2844">
                <a:latin typeface="Times New Roman"/>
                <a:ea typeface="Times New Roman"/>
                <a:cs typeface="Times New Roman"/>
                <a:sym typeface="Times New Roman"/>
              </a:rPr>
              <a:t>C</a:t>
            </a:r>
            <a:r>
              <a:rPr lang="ru" sz="2844">
                <a:latin typeface="Times New Roman"/>
                <a:ea typeface="Times New Roman"/>
                <a:cs typeface="Times New Roman"/>
                <a:sym typeface="Times New Roman"/>
              </a:rPr>
              <a:t>-implicatures calculation</a:t>
            </a:r>
            <a:endParaRPr sz="4133"/>
          </a:p>
          <a:p>
            <a:pPr indent="0" lvl="0" marL="0" rtl="0" algn="l">
              <a:spcBef>
                <a:spcPts val="1200"/>
              </a:spcBef>
              <a:spcAft>
                <a:spcPts val="0"/>
              </a:spcAft>
              <a:buNone/>
            </a:pPr>
            <a:r>
              <a:t/>
            </a:r>
            <a:endParaRPr/>
          </a:p>
        </p:txBody>
      </p:sp>
      <p:sp>
        <p:nvSpPr>
          <p:cNvPr id="241" name="Google Shape;241;p42"/>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a:solidFill>
                  <a:schemeClr val="dk1"/>
                </a:solidFill>
                <a:latin typeface="Times New Roman"/>
                <a:ea typeface="Times New Roman"/>
                <a:cs typeface="Times New Roman"/>
                <a:sym typeface="Times New Roman"/>
              </a:rPr>
              <a:t>(1) Some children like marzipan.</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Instead of (1), the speaker could have used a more informative alternative in (2)</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(2) All children like marzipan.</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ru" sz="1400">
                <a:solidFill>
                  <a:schemeClr val="dk1"/>
                </a:solidFill>
                <a:latin typeface="Times New Roman"/>
                <a:ea typeface="Times New Roman"/>
                <a:cs typeface="Times New Roman"/>
                <a:sym typeface="Times New Roman"/>
              </a:rPr>
              <a:t>Weak implicature</a:t>
            </a:r>
            <a:r>
              <a:rPr lang="ru" sz="1400">
                <a:solidFill>
                  <a:schemeClr val="dk1"/>
                </a:solidFill>
                <a:latin typeface="Times New Roman"/>
                <a:ea typeface="Times New Roman"/>
                <a:cs typeface="Times New Roman"/>
                <a:sym typeface="Times New Roman"/>
              </a:rPr>
              <a:t>: the most plausible explanation is that the speaker does not believe that (2) is true.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ru" sz="1400">
                <a:solidFill>
                  <a:schemeClr val="dk1"/>
                </a:solidFill>
                <a:latin typeface="Times New Roman"/>
                <a:ea typeface="Times New Roman"/>
                <a:cs typeface="Times New Roman"/>
                <a:sym typeface="Times New Roman"/>
              </a:rPr>
              <a:t>Competence assumption</a:t>
            </a:r>
            <a:r>
              <a:rPr lang="ru" sz="1400">
                <a:solidFill>
                  <a:schemeClr val="dk1"/>
                </a:solidFill>
                <a:latin typeface="Times New Roman"/>
                <a:ea typeface="Times New Roman"/>
                <a:cs typeface="Times New Roman"/>
                <a:sym typeface="Times New Roman"/>
              </a:rPr>
              <a:t>: the speaker believes (2) to be true or false (has adequate knowledge about the issue).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ru" sz="1400">
                <a:solidFill>
                  <a:schemeClr val="dk1"/>
                </a:solidFill>
                <a:latin typeface="Times New Roman"/>
                <a:ea typeface="Times New Roman"/>
                <a:cs typeface="Times New Roman"/>
                <a:sym typeface="Times New Roman"/>
              </a:rPr>
              <a:t>Strong implicature</a:t>
            </a:r>
            <a:r>
              <a:rPr lang="ru" sz="1400">
                <a:solidFill>
                  <a:schemeClr val="dk1"/>
                </a:solidFill>
                <a:latin typeface="Times New Roman"/>
                <a:ea typeface="Times New Roman"/>
                <a:cs typeface="Times New Roman"/>
                <a:sym typeface="Times New Roman"/>
              </a:rPr>
              <a:t>: given the weak implicature and the competence assumption the listener infers that the speaker believes (2) to be false, hence the implicature: not all children like marzipan.      </a:t>
            </a:r>
            <a:r>
              <a:rPr lang="ru" sz="1400"/>
              <a:t>        </a:t>
            </a:r>
            <a:endParaRPr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b="1" sz="1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38671"/>
              <a:buFont typeface="Arial"/>
              <a:buNone/>
            </a:pPr>
            <a:r>
              <a:rPr lang="ru" sz="2844">
                <a:latin typeface="Times New Roman"/>
                <a:ea typeface="Times New Roman"/>
                <a:cs typeface="Times New Roman"/>
                <a:sym typeface="Times New Roman"/>
              </a:rPr>
              <a:t>Q</a:t>
            </a:r>
            <a:r>
              <a:rPr baseline="-25000" lang="ru" sz="2844">
                <a:latin typeface="Times New Roman"/>
                <a:ea typeface="Times New Roman"/>
                <a:cs typeface="Times New Roman"/>
                <a:sym typeface="Times New Roman"/>
              </a:rPr>
              <a:t>C</a:t>
            </a:r>
            <a:r>
              <a:rPr lang="ru" sz="2844">
                <a:latin typeface="Times New Roman"/>
                <a:ea typeface="Times New Roman"/>
                <a:cs typeface="Times New Roman"/>
                <a:sym typeface="Times New Roman"/>
              </a:rPr>
              <a:t>-implicatures calculation</a:t>
            </a:r>
            <a:endParaRPr sz="4133"/>
          </a:p>
          <a:p>
            <a:pPr indent="0" lvl="0" marL="0" rtl="0" algn="l">
              <a:spcBef>
                <a:spcPts val="1200"/>
              </a:spcBef>
              <a:spcAft>
                <a:spcPts val="0"/>
              </a:spcAft>
              <a:buNone/>
            </a:pPr>
            <a:r>
              <a:t/>
            </a:r>
            <a:endParaRPr/>
          </a:p>
        </p:txBody>
      </p:sp>
      <p:sp>
        <p:nvSpPr>
          <p:cNvPr id="247" name="Google Shape;247;p43"/>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a:solidFill>
                  <a:schemeClr val="dk1"/>
                </a:solidFill>
                <a:latin typeface="Times New Roman"/>
                <a:ea typeface="Times New Roman"/>
                <a:cs typeface="Times New Roman"/>
                <a:sym typeface="Times New Roman"/>
              </a:rPr>
              <a:t>(1) You can take an apple or an orange.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Implicature: You cannot take an apple and an orange.      </a:t>
            </a:r>
            <a:r>
              <a:rPr lang="ru" sz="1400"/>
              <a:t>        </a:t>
            </a:r>
            <a:endParaRPr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b="1" sz="1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38671"/>
              <a:buFont typeface="Arial"/>
              <a:buNone/>
            </a:pPr>
            <a:r>
              <a:rPr lang="ru" sz="2844">
                <a:latin typeface="Times New Roman"/>
                <a:ea typeface="Times New Roman"/>
                <a:cs typeface="Times New Roman"/>
                <a:sym typeface="Times New Roman"/>
              </a:rPr>
              <a:t>Q</a:t>
            </a:r>
            <a:r>
              <a:rPr baseline="-25000" lang="ru" sz="2844">
                <a:latin typeface="Times New Roman"/>
                <a:ea typeface="Times New Roman"/>
                <a:cs typeface="Times New Roman"/>
                <a:sym typeface="Times New Roman"/>
              </a:rPr>
              <a:t>C</a:t>
            </a:r>
            <a:r>
              <a:rPr lang="ru" sz="2844">
                <a:latin typeface="Times New Roman"/>
                <a:ea typeface="Times New Roman"/>
                <a:cs typeface="Times New Roman"/>
                <a:sym typeface="Times New Roman"/>
              </a:rPr>
              <a:t>-implicatures calculation</a:t>
            </a:r>
            <a:endParaRPr sz="4133"/>
          </a:p>
          <a:p>
            <a:pPr indent="0" lvl="0" marL="0" rtl="0" algn="l">
              <a:spcBef>
                <a:spcPts val="1200"/>
              </a:spcBef>
              <a:spcAft>
                <a:spcPts val="0"/>
              </a:spcAft>
              <a:buNone/>
            </a:pPr>
            <a:r>
              <a:t/>
            </a:r>
            <a:endParaRPr/>
          </a:p>
        </p:txBody>
      </p:sp>
      <p:sp>
        <p:nvSpPr>
          <p:cNvPr id="253" name="Google Shape;253;p44"/>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a:solidFill>
                  <a:schemeClr val="dk1"/>
                </a:solidFill>
                <a:latin typeface="Times New Roman"/>
                <a:ea typeface="Times New Roman"/>
                <a:cs typeface="Times New Roman"/>
                <a:sym typeface="Times New Roman"/>
              </a:rPr>
              <a:t>(1) You can take an apple or an orange.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(2) You can take an apple and an orange.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ru" sz="1400">
                <a:solidFill>
                  <a:schemeClr val="dk1"/>
                </a:solidFill>
                <a:latin typeface="Times New Roman"/>
                <a:ea typeface="Times New Roman"/>
                <a:cs typeface="Times New Roman"/>
                <a:sym typeface="Times New Roman"/>
              </a:rPr>
              <a:t>Weak implicature</a:t>
            </a:r>
            <a:r>
              <a:rPr lang="ru" sz="1400">
                <a:solidFill>
                  <a:schemeClr val="dk1"/>
                </a:solidFill>
                <a:latin typeface="Times New Roman"/>
                <a:ea typeface="Times New Roman"/>
                <a:cs typeface="Times New Roman"/>
                <a:sym typeface="Times New Roman"/>
              </a:rPr>
              <a:t>: the most plausible explanation is that the speaker does not believe that (2) is true.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ru" sz="1400">
                <a:solidFill>
                  <a:schemeClr val="dk1"/>
                </a:solidFill>
                <a:latin typeface="Times New Roman"/>
                <a:ea typeface="Times New Roman"/>
                <a:cs typeface="Times New Roman"/>
                <a:sym typeface="Times New Roman"/>
              </a:rPr>
              <a:t>Competence assumption</a:t>
            </a:r>
            <a:r>
              <a:rPr lang="ru" sz="1400">
                <a:solidFill>
                  <a:schemeClr val="dk1"/>
                </a:solidFill>
                <a:latin typeface="Times New Roman"/>
                <a:ea typeface="Times New Roman"/>
                <a:cs typeface="Times New Roman"/>
                <a:sym typeface="Times New Roman"/>
              </a:rPr>
              <a:t>: the speaker believes (2) to be true or false (has adequate knowledge about the issue).</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ru" sz="1400">
                <a:solidFill>
                  <a:schemeClr val="dk1"/>
                </a:solidFill>
                <a:latin typeface="Times New Roman"/>
                <a:ea typeface="Times New Roman"/>
                <a:cs typeface="Times New Roman"/>
                <a:sym typeface="Times New Roman"/>
              </a:rPr>
              <a:t>Strong implicature</a:t>
            </a:r>
            <a:r>
              <a:rPr lang="ru" sz="1400">
                <a:solidFill>
                  <a:schemeClr val="dk1"/>
                </a:solidFill>
                <a:latin typeface="Times New Roman"/>
                <a:ea typeface="Times New Roman"/>
                <a:cs typeface="Times New Roman"/>
                <a:sym typeface="Times New Roman"/>
              </a:rPr>
              <a:t>: given the weak implicature and the competence assumption the listener infers that the speaker believes (2) to be false, hence the implicature: You cannot take an apple and an orange.      </a:t>
            </a:r>
            <a:r>
              <a:rPr lang="ru" sz="1400"/>
              <a:t>        </a:t>
            </a:r>
            <a:endParaRPr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b="1" sz="14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38671"/>
              <a:buFont typeface="Arial"/>
              <a:buNone/>
            </a:pPr>
            <a:r>
              <a:rPr lang="ru" sz="2844">
                <a:latin typeface="Times New Roman"/>
                <a:ea typeface="Times New Roman"/>
                <a:cs typeface="Times New Roman"/>
                <a:sym typeface="Times New Roman"/>
              </a:rPr>
              <a:t>The number of </a:t>
            </a:r>
            <a:r>
              <a:rPr lang="ru" sz="2844">
                <a:latin typeface="Times New Roman"/>
                <a:ea typeface="Times New Roman"/>
                <a:cs typeface="Times New Roman"/>
                <a:sym typeface="Times New Roman"/>
              </a:rPr>
              <a:t>members</a:t>
            </a:r>
            <a:r>
              <a:rPr lang="ru" sz="2844">
                <a:latin typeface="Times New Roman"/>
                <a:ea typeface="Times New Roman"/>
                <a:cs typeface="Times New Roman"/>
                <a:sym typeface="Times New Roman"/>
              </a:rPr>
              <a:t> in a scale</a:t>
            </a:r>
            <a:endParaRPr sz="4133"/>
          </a:p>
          <a:p>
            <a:pPr indent="0" lvl="0" marL="0" rtl="0" algn="l">
              <a:spcBef>
                <a:spcPts val="1200"/>
              </a:spcBef>
              <a:spcAft>
                <a:spcPts val="0"/>
              </a:spcAft>
              <a:buNone/>
            </a:pPr>
            <a:r>
              <a:t/>
            </a:r>
            <a:endParaRPr/>
          </a:p>
        </p:txBody>
      </p:sp>
      <p:sp>
        <p:nvSpPr>
          <p:cNvPr id="259" name="Google Shape;259;p45"/>
          <p:cNvSpPr txBox="1"/>
          <p:nvPr>
            <p:ph idx="1" type="body"/>
          </p:nvPr>
        </p:nvSpPr>
        <p:spPr>
          <a:xfrm>
            <a:off x="2425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600">
                <a:solidFill>
                  <a:schemeClr val="dk1"/>
                </a:solidFill>
                <a:latin typeface="Times New Roman"/>
                <a:ea typeface="Times New Roman"/>
                <a:cs typeface="Times New Roman"/>
                <a:sym typeface="Times New Roman"/>
              </a:rPr>
              <a:t>– &lt;some, all&gt;</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ru" sz="1600">
                <a:solidFill>
                  <a:schemeClr val="dk1"/>
                </a:solidFill>
                <a:latin typeface="Times New Roman"/>
                <a:ea typeface="Times New Roman"/>
                <a:cs typeface="Times New Roman"/>
                <a:sym typeface="Times New Roman"/>
              </a:rPr>
              <a:t>– or: &lt;some, many, most, all&gt;</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ru" sz="1600">
                <a:solidFill>
                  <a:schemeClr val="dk1"/>
                </a:solidFill>
                <a:latin typeface="Times New Roman"/>
                <a:ea typeface="Times New Roman"/>
                <a:cs typeface="Times New Roman"/>
                <a:sym typeface="Times New Roman"/>
              </a:rPr>
              <a:t>(1)	a. Some Americans smoke cigarettes.</a:t>
            </a:r>
            <a:endParaRPr sz="16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Clr>
                <a:schemeClr val="dk1"/>
              </a:buClr>
              <a:buSzPts val="1100"/>
              <a:buFont typeface="Arial"/>
              <a:buNone/>
            </a:pPr>
            <a:r>
              <a:rPr lang="ru" sz="1600">
                <a:solidFill>
                  <a:schemeClr val="dk1"/>
                </a:solidFill>
                <a:latin typeface="Times New Roman"/>
                <a:ea typeface="Times New Roman"/>
                <a:cs typeface="Times New Roman"/>
                <a:sym typeface="Times New Roman"/>
              </a:rPr>
              <a:t>b. ? Some Americans are over 18.</a:t>
            </a:r>
            <a:endParaRPr sz="16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Clr>
                <a:schemeClr val="dk1"/>
              </a:buClr>
              <a:buSzPts val="1100"/>
              <a:buFont typeface="Arial"/>
              <a:buNone/>
            </a:pPr>
            <a:r>
              <a:rPr lang="ru" sz="1600">
                <a:solidFill>
                  <a:schemeClr val="dk1"/>
                </a:solidFill>
                <a:latin typeface="Times New Roman"/>
                <a:ea typeface="Times New Roman"/>
                <a:cs typeface="Times New Roman"/>
                <a:sym typeface="Times New Roman"/>
              </a:rPr>
              <a:t>c. ?? Some Americans speak English.</a:t>
            </a:r>
            <a:endParaRPr sz="1600">
              <a:solidFill>
                <a:schemeClr val="dk1"/>
              </a:solidFill>
              <a:latin typeface="Times New Roman"/>
              <a:ea typeface="Times New Roman"/>
              <a:cs typeface="Times New Roman"/>
              <a:sym typeface="Times New Roman"/>
            </a:endParaRPr>
          </a:p>
          <a:p>
            <a:pPr indent="457200" lvl="0" marL="0" rtl="0" algn="l">
              <a:spcBef>
                <a:spcPts val="1200"/>
              </a:spcBef>
              <a:spcAft>
                <a:spcPts val="0"/>
              </a:spcAft>
              <a:buClr>
                <a:schemeClr val="dk1"/>
              </a:buClr>
              <a:buSzPts val="1100"/>
              <a:buFont typeface="Arial"/>
              <a:buNone/>
            </a:pPr>
            <a:r>
              <a:rPr lang="ru" sz="1600">
                <a:solidFill>
                  <a:schemeClr val="dk1"/>
                </a:solidFill>
                <a:latin typeface="Times New Roman"/>
                <a:ea typeface="Times New Roman"/>
                <a:cs typeface="Times New Roman"/>
                <a:sym typeface="Times New Roman"/>
              </a:rPr>
              <a:t>d. ??/* Some Americans are earthlings.</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932"/>
              <a:buFont typeface="Arial"/>
              <a:buNone/>
            </a:pPr>
            <a:r>
              <a:rPr lang="ru" sz="1966">
                <a:solidFill>
                  <a:srgbClr val="000000"/>
                </a:solidFill>
                <a:latin typeface="Times New Roman"/>
                <a:ea typeface="Times New Roman"/>
                <a:cs typeface="Times New Roman"/>
                <a:sym typeface="Times New Roman"/>
              </a:rPr>
              <a:t>Processing Scalar Implicature: A Constraint-Based Approach (</a:t>
            </a:r>
            <a:r>
              <a:rPr lang="ru" sz="1966" u="sng">
                <a:solidFill>
                  <a:srgbClr val="000000"/>
                </a:solidFill>
                <a:latin typeface="Times New Roman"/>
                <a:ea typeface="Times New Roman"/>
                <a:cs typeface="Times New Roman"/>
                <a:sym typeface="Times New Roman"/>
                <a:hlinkClick r:id="rId3">
                  <a:extLst>
                    <a:ext uri="{A12FA001-AC4F-418D-AE19-62706E023703}">
                      <ahyp:hlinkClr val="tx"/>
                    </a:ext>
                  </a:extLst>
                </a:hlinkClick>
              </a:rPr>
              <a:t>Degen, Tanenhaus 2014</a:t>
            </a:r>
            <a:r>
              <a:rPr lang="ru" sz="1966">
                <a:solidFill>
                  <a:srgbClr val="000000"/>
                </a:solidFill>
                <a:latin typeface="Times New Roman"/>
                <a:ea typeface="Times New Roman"/>
                <a:cs typeface="Times New Roman"/>
                <a:sym typeface="Times New Roman"/>
              </a:rPr>
              <a:t>)</a:t>
            </a:r>
            <a:endParaRPr sz="1966">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966">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65" name="Google Shape;265;p46"/>
          <p:cNvSpPr txBox="1"/>
          <p:nvPr>
            <p:ph idx="1" type="body"/>
          </p:nvPr>
        </p:nvSpPr>
        <p:spPr>
          <a:xfrm>
            <a:off x="1663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66" name="Google Shape;266;p46"/>
          <p:cNvPicPr preferRelativeResize="0"/>
          <p:nvPr/>
        </p:nvPicPr>
        <p:blipFill>
          <a:blip r:embed="rId4">
            <a:alphaModFix/>
          </a:blip>
          <a:stretch>
            <a:fillRect/>
          </a:stretch>
        </p:blipFill>
        <p:spPr>
          <a:xfrm>
            <a:off x="1028700" y="1049363"/>
            <a:ext cx="6688850" cy="38019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911">
                <a:latin typeface="Times New Roman"/>
                <a:ea typeface="Times New Roman"/>
                <a:cs typeface="Times New Roman"/>
                <a:sym typeface="Times New Roman"/>
              </a:rPr>
              <a:t>Processing Scalar Implicature: A Constraint-Based Approach (</a:t>
            </a:r>
            <a:r>
              <a:rPr lang="ru" sz="1911" u="sng">
                <a:latin typeface="Times New Roman"/>
                <a:ea typeface="Times New Roman"/>
                <a:cs typeface="Times New Roman"/>
                <a:sym typeface="Times New Roman"/>
                <a:hlinkClick r:id="rId3"/>
              </a:rPr>
              <a:t>Degen, Tanenhaus 2014</a:t>
            </a:r>
            <a:r>
              <a:rPr lang="ru" sz="1911">
                <a:latin typeface="Times New Roman"/>
                <a:ea typeface="Times New Roman"/>
                <a:cs typeface="Times New Roman"/>
                <a:sym typeface="Times New Roman"/>
              </a:rPr>
              <a:t>)</a:t>
            </a:r>
            <a:endParaRPr sz="1911">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72" name="Google Shape;272;p47"/>
          <p:cNvSpPr txBox="1"/>
          <p:nvPr>
            <p:ph idx="1" type="body"/>
          </p:nvPr>
        </p:nvSpPr>
        <p:spPr>
          <a:xfrm>
            <a:off x="1663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a:solidFill>
                  <a:srgbClr val="000000"/>
                </a:solidFill>
                <a:latin typeface="Times New Roman"/>
                <a:ea typeface="Times New Roman"/>
                <a:cs typeface="Times New Roman"/>
                <a:sym typeface="Times New Roman"/>
              </a:rPr>
              <a:t>Three experiments investigated the processing of the implicature associated with </a:t>
            </a:r>
            <a:r>
              <a:rPr i="1" lang="ru" sz="1400">
                <a:solidFill>
                  <a:srgbClr val="000000"/>
                </a:solidFill>
                <a:latin typeface="Times New Roman"/>
                <a:ea typeface="Times New Roman"/>
                <a:cs typeface="Times New Roman"/>
                <a:sym typeface="Times New Roman"/>
              </a:rPr>
              <a:t>some</a:t>
            </a:r>
            <a:r>
              <a:rPr lang="ru" sz="1400">
                <a:solidFill>
                  <a:srgbClr val="000000"/>
                </a:solidFill>
                <a:latin typeface="Times New Roman"/>
                <a:ea typeface="Times New Roman"/>
                <a:cs typeface="Times New Roman"/>
                <a:sym typeface="Times New Roman"/>
              </a:rPr>
              <a:t> using a “gumball paradigm.” </a:t>
            </a:r>
            <a:endParaRPr sz="14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rgbClr val="000000"/>
                </a:solidFill>
                <a:latin typeface="Times New Roman"/>
                <a:ea typeface="Times New Roman"/>
                <a:cs typeface="Times New Roman"/>
                <a:sym typeface="Times New Roman"/>
              </a:rPr>
              <a:t>On each trial, participants saw an image of a gumball machine with an upper chamber with 13 gumballs and an empty lower chamber. Gumballs then dropped to the lower chamber and participants evaluated statements, such as “You got some of the gumballs.” </a:t>
            </a:r>
            <a:endParaRPr sz="14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sz="1400" u="sng">
                <a:solidFill>
                  <a:srgbClr val="000000"/>
                </a:solidFill>
                <a:latin typeface="Times New Roman"/>
                <a:ea typeface="Times New Roman"/>
                <a:cs typeface="Times New Roman"/>
                <a:sym typeface="Times New Roman"/>
              </a:rPr>
              <a:t>Experiment 1</a:t>
            </a:r>
            <a:r>
              <a:rPr lang="ru" sz="1400">
                <a:solidFill>
                  <a:srgbClr val="000000"/>
                </a:solidFill>
                <a:latin typeface="Times New Roman"/>
                <a:ea typeface="Times New Roman"/>
                <a:cs typeface="Times New Roman"/>
                <a:sym typeface="Times New Roman"/>
              </a:rPr>
              <a:t> established that some is less natural for reference to small sets (1, 2, and 3 of the 13 gumballs) and unpartitioned sets (all 13 gumballs) compared to intermediate sets (6–8). Partitive</a:t>
            </a:r>
            <a:r>
              <a:rPr i="1" lang="ru" sz="1400">
                <a:solidFill>
                  <a:srgbClr val="000000"/>
                </a:solidFill>
                <a:latin typeface="Times New Roman"/>
                <a:ea typeface="Times New Roman"/>
                <a:cs typeface="Times New Roman"/>
                <a:sym typeface="Times New Roman"/>
              </a:rPr>
              <a:t> some of </a:t>
            </a:r>
            <a:r>
              <a:rPr lang="ru" sz="1400">
                <a:solidFill>
                  <a:srgbClr val="000000"/>
                </a:solidFill>
                <a:latin typeface="Times New Roman"/>
                <a:ea typeface="Times New Roman"/>
                <a:cs typeface="Times New Roman"/>
                <a:sym typeface="Times New Roman"/>
              </a:rPr>
              <a:t>was less natural than simple </a:t>
            </a:r>
            <a:r>
              <a:rPr i="1" lang="ru" sz="1400">
                <a:solidFill>
                  <a:srgbClr val="000000"/>
                </a:solidFill>
                <a:latin typeface="Times New Roman"/>
                <a:ea typeface="Times New Roman"/>
                <a:cs typeface="Times New Roman"/>
                <a:sym typeface="Times New Roman"/>
              </a:rPr>
              <a:t>some</a:t>
            </a:r>
            <a:r>
              <a:rPr lang="ru" sz="1400">
                <a:solidFill>
                  <a:srgbClr val="000000"/>
                </a:solidFill>
                <a:latin typeface="Times New Roman"/>
                <a:ea typeface="Times New Roman"/>
                <a:cs typeface="Times New Roman"/>
                <a:sym typeface="Times New Roman"/>
              </a:rPr>
              <a:t> when used with the unpartitioned set. </a:t>
            </a:r>
            <a:endParaRPr sz="14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rgbClr val="000000"/>
                </a:solidFill>
                <a:latin typeface="Times New Roman"/>
                <a:ea typeface="Times New Roman"/>
                <a:cs typeface="Times New Roman"/>
                <a:sym typeface="Times New Roman"/>
              </a:rPr>
              <a:t>In </a:t>
            </a:r>
            <a:r>
              <a:rPr lang="ru" sz="1400" u="sng">
                <a:solidFill>
                  <a:srgbClr val="000000"/>
                </a:solidFill>
                <a:latin typeface="Times New Roman"/>
                <a:ea typeface="Times New Roman"/>
                <a:cs typeface="Times New Roman"/>
                <a:sym typeface="Times New Roman"/>
              </a:rPr>
              <a:t>Experiment 2</a:t>
            </a:r>
            <a:r>
              <a:rPr lang="ru" sz="1400">
                <a:solidFill>
                  <a:srgbClr val="000000"/>
                </a:solidFill>
                <a:latin typeface="Times New Roman"/>
                <a:ea typeface="Times New Roman"/>
                <a:cs typeface="Times New Roman"/>
                <a:sym typeface="Times New Roman"/>
              </a:rPr>
              <a:t>, including exact number descriptions lowered naturalness ratings for some with small sets but not for intermediate size sets and the unpartitioned set. </a:t>
            </a:r>
            <a:endParaRPr sz="14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rgbClr val="000000"/>
                </a:solidFill>
                <a:latin typeface="Times New Roman"/>
                <a:ea typeface="Times New Roman"/>
                <a:cs typeface="Times New Roman"/>
                <a:sym typeface="Times New Roman"/>
              </a:rPr>
              <a:t>In </a:t>
            </a:r>
            <a:r>
              <a:rPr lang="ru" sz="1400" u="sng">
                <a:solidFill>
                  <a:srgbClr val="000000"/>
                </a:solidFill>
                <a:latin typeface="Times New Roman"/>
                <a:ea typeface="Times New Roman"/>
                <a:cs typeface="Times New Roman"/>
                <a:sym typeface="Times New Roman"/>
              </a:rPr>
              <a:t>Experiment 3</a:t>
            </a:r>
            <a:r>
              <a:rPr lang="ru" sz="1400">
                <a:solidFill>
                  <a:srgbClr val="000000"/>
                </a:solidFill>
                <a:latin typeface="Times New Roman"/>
                <a:ea typeface="Times New Roman"/>
                <a:cs typeface="Times New Roman"/>
                <a:sym typeface="Times New Roman"/>
              </a:rPr>
              <a:t>, the naturalness ratings from Experiment 2 predicted response times. The results are interpreted as evidence for a Constraint-Based account of scalar implicature processing and against both two-stage, Literal-First models and pragmatic Default models.</a:t>
            </a:r>
            <a:endParaRPr sz="14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911">
                <a:latin typeface="Times New Roman"/>
                <a:ea typeface="Times New Roman"/>
                <a:cs typeface="Times New Roman"/>
                <a:sym typeface="Times New Roman"/>
              </a:rPr>
              <a:t>Processing Scalar Implicature: A Constraint-Based Approach (</a:t>
            </a:r>
            <a:r>
              <a:rPr lang="ru" sz="1911" u="sng">
                <a:latin typeface="Times New Roman"/>
                <a:ea typeface="Times New Roman"/>
                <a:cs typeface="Times New Roman"/>
                <a:sym typeface="Times New Roman"/>
                <a:hlinkClick r:id="rId3"/>
              </a:rPr>
              <a:t>Degen, Tanenhaus 2014</a:t>
            </a:r>
            <a:r>
              <a:rPr lang="ru" sz="1911">
                <a:latin typeface="Times New Roman"/>
                <a:ea typeface="Times New Roman"/>
                <a:cs typeface="Times New Roman"/>
                <a:sym typeface="Times New Roman"/>
              </a:rPr>
              <a:t>)</a:t>
            </a:r>
            <a:endParaRPr sz="1911">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78" name="Google Shape;278;p48"/>
          <p:cNvSpPr txBox="1"/>
          <p:nvPr>
            <p:ph idx="1" type="body"/>
          </p:nvPr>
        </p:nvSpPr>
        <p:spPr>
          <a:xfrm>
            <a:off x="1663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79" name="Google Shape;279;p48"/>
          <p:cNvPicPr preferRelativeResize="0"/>
          <p:nvPr/>
        </p:nvPicPr>
        <p:blipFill>
          <a:blip r:embed="rId4">
            <a:alphaModFix/>
          </a:blip>
          <a:stretch>
            <a:fillRect/>
          </a:stretch>
        </p:blipFill>
        <p:spPr>
          <a:xfrm>
            <a:off x="311700" y="1088675"/>
            <a:ext cx="8178526" cy="37942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911">
                <a:latin typeface="Times New Roman"/>
                <a:ea typeface="Times New Roman"/>
                <a:cs typeface="Times New Roman"/>
                <a:sym typeface="Times New Roman"/>
              </a:rPr>
              <a:t>Processing Scalar Implicature: A Constraint-Based Approach (</a:t>
            </a:r>
            <a:r>
              <a:rPr lang="ru" sz="1911" u="sng">
                <a:latin typeface="Times New Roman"/>
                <a:ea typeface="Times New Roman"/>
                <a:cs typeface="Times New Roman"/>
                <a:sym typeface="Times New Roman"/>
                <a:hlinkClick r:id="rId3"/>
              </a:rPr>
              <a:t>Degen, Tanenhaus 2014</a:t>
            </a:r>
            <a:r>
              <a:rPr lang="ru" sz="1911">
                <a:latin typeface="Times New Roman"/>
                <a:ea typeface="Times New Roman"/>
                <a:cs typeface="Times New Roman"/>
                <a:sym typeface="Times New Roman"/>
              </a:rPr>
              <a:t>)</a:t>
            </a:r>
            <a:endParaRPr sz="1911">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85" name="Google Shape;285;p49"/>
          <p:cNvSpPr txBox="1"/>
          <p:nvPr>
            <p:ph idx="1" type="body"/>
          </p:nvPr>
        </p:nvSpPr>
        <p:spPr>
          <a:xfrm>
            <a:off x="1663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500">
                <a:solidFill>
                  <a:schemeClr val="dk1"/>
                </a:solidFill>
                <a:latin typeface="Times New Roman"/>
                <a:ea typeface="Times New Roman"/>
                <a:cs typeface="Times New Roman"/>
                <a:sym typeface="Times New Roman"/>
              </a:rPr>
              <a:t>Under </a:t>
            </a:r>
            <a:r>
              <a:rPr lang="ru" sz="1500" u="sng">
                <a:solidFill>
                  <a:schemeClr val="dk1"/>
                </a:solidFill>
                <a:latin typeface="Times New Roman"/>
                <a:ea typeface="Times New Roman"/>
                <a:cs typeface="Times New Roman"/>
                <a:sym typeface="Times New Roman"/>
              </a:rPr>
              <a:t>the Default model</a:t>
            </a:r>
            <a:r>
              <a:rPr lang="ru" sz="1500">
                <a:solidFill>
                  <a:schemeClr val="dk1"/>
                </a:solidFill>
                <a:latin typeface="Times New Roman"/>
                <a:ea typeface="Times New Roman"/>
                <a:cs typeface="Times New Roman"/>
                <a:sym typeface="Times New Roman"/>
              </a:rPr>
              <a:t>, the distribution on states would be uniform until the word </a:t>
            </a:r>
            <a:r>
              <a:rPr i="1" lang="ru" sz="1500">
                <a:solidFill>
                  <a:schemeClr val="dk1"/>
                </a:solidFill>
                <a:latin typeface="Times New Roman"/>
                <a:ea typeface="Times New Roman"/>
                <a:cs typeface="Times New Roman"/>
                <a:sym typeface="Times New Roman"/>
              </a:rPr>
              <a:t>some</a:t>
            </a:r>
            <a:r>
              <a:rPr lang="ru" sz="1500">
                <a:solidFill>
                  <a:schemeClr val="dk1"/>
                </a:solidFill>
                <a:latin typeface="Times New Roman"/>
                <a:ea typeface="Times New Roman"/>
                <a:cs typeface="Times New Roman"/>
                <a:sym typeface="Times New Roman"/>
              </a:rPr>
              <a:t> is encountered, at which point both the zero-gumball and all-gumball state would be excluded as potential candidates, leaving a uniform distribution over states 1–12.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u="sng">
                <a:solidFill>
                  <a:schemeClr val="dk1"/>
                </a:solidFill>
                <a:latin typeface="Times New Roman"/>
                <a:ea typeface="Times New Roman"/>
                <a:cs typeface="Times New Roman"/>
                <a:sym typeface="Times New Roman"/>
              </a:rPr>
              <a:t>The Literal-First model</a:t>
            </a:r>
            <a:r>
              <a:rPr lang="ru" sz="1500">
                <a:solidFill>
                  <a:schemeClr val="dk1"/>
                </a:solidFill>
                <a:latin typeface="Times New Roman"/>
                <a:ea typeface="Times New Roman"/>
                <a:cs typeface="Times New Roman"/>
                <a:sym typeface="Times New Roman"/>
              </a:rPr>
              <a:t> predicts that upon encountering </a:t>
            </a:r>
            <a:r>
              <a:rPr i="1" lang="ru" sz="1500">
                <a:solidFill>
                  <a:schemeClr val="dk1"/>
                </a:solidFill>
                <a:latin typeface="Times New Roman"/>
                <a:ea typeface="Times New Roman"/>
                <a:cs typeface="Times New Roman"/>
                <a:sym typeface="Times New Roman"/>
              </a:rPr>
              <a:t>some</a:t>
            </a:r>
            <a:r>
              <a:rPr lang="ru" sz="1500">
                <a:solidFill>
                  <a:schemeClr val="dk1"/>
                </a:solidFill>
                <a:latin typeface="Times New Roman"/>
                <a:ea typeface="Times New Roman"/>
                <a:cs typeface="Times New Roman"/>
                <a:sym typeface="Times New Roman"/>
              </a:rPr>
              <a:t>, only the zero-gumball state should be excluded.</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Both models predict that over time, the integration of further contextual information may require re-including the all-state in the set of possible states (Default), or excluding the all-state from said set (Literal-First).</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500">
                <a:solidFill>
                  <a:schemeClr val="dk1"/>
                </a:solidFill>
                <a:latin typeface="Times New Roman"/>
                <a:ea typeface="Times New Roman"/>
                <a:cs typeface="Times New Roman"/>
                <a:sym typeface="Times New Roman"/>
              </a:rPr>
              <a:t>Neither of these models directly predicts variability in naturalness of partitive versus non-partitive some for any set size, nor variability in the naturalness of some used with different set sizes.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932"/>
              <a:buFont typeface="Arial"/>
              <a:buNone/>
            </a:pPr>
            <a:r>
              <a:rPr lang="ru" sz="1966">
                <a:solidFill>
                  <a:srgbClr val="000000"/>
                </a:solidFill>
                <a:latin typeface="Times New Roman"/>
                <a:ea typeface="Times New Roman"/>
                <a:cs typeface="Times New Roman"/>
                <a:sym typeface="Times New Roman"/>
              </a:rPr>
              <a:t>Processing Scalar Implicature: A Constraint-Based Approach (</a:t>
            </a:r>
            <a:r>
              <a:rPr lang="ru" sz="1966" u="sng">
                <a:solidFill>
                  <a:srgbClr val="000000"/>
                </a:solidFill>
                <a:latin typeface="Times New Roman"/>
                <a:ea typeface="Times New Roman"/>
                <a:cs typeface="Times New Roman"/>
                <a:sym typeface="Times New Roman"/>
                <a:hlinkClick r:id="rId3">
                  <a:extLst>
                    <a:ext uri="{A12FA001-AC4F-418D-AE19-62706E023703}">
                      <ahyp:hlinkClr val="tx"/>
                    </a:ext>
                  </a:extLst>
                </a:hlinkClick>
              </a:rPr>
              <a:t>Degen, Tanenhaus 2014</a:t>
            </a:r>
            <a:r>
              <a:rPr lang="ru" sz="1966">
                <a:solidFill>
                  <a:srgbClr val="000000"/>
                </a:solidFill>
                <a:latin typeface="Times New Roman"/>
                <a:ea typeface="Times New Roman"/>
                <a:cs typeface="Times New Roman"/>
                <a:sym typeface="Times New Roman"/>
              </a:rPr>
              <a:t>)</a:t>
            </a:r>
            <a:endParaRPr sz="1966">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966">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91" name="Google Shape;291;p50"/>
          <p:cNvSpPr txBox="1"/>
          <p:nvPr>
            <p:ph idx="1" type="body"/>
          </p:nvPr>
        </p:nvSpPr>
        <p:spPr>
          <a:xfrm>
            <a:off x="166300" y="1017725"/>
            <a:ext cx="8520600" cy="3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92" name="Google Shape;292;p50"/>
          <p:cNvPicPr preferRelativeResize="0"/>
          <p:nvPr/>
        </p:nvPicPr>
        <p:blipFill>
          <a:blip r:embed="rId4">
            <a:alphaModFix/>
          </a:blip>
          <a:stretch>
            <a:fillRect/>
          </a:stretch>
        </p:blipFill>
        <p:spPr>
          <a:xfrm>
            <a:off x="1028700" y="1049363"/>
            <a:ext cx="6688850" cy="38019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911">
                <a:latin typeface="Times New Roman"/>
                <a:ea typeface="Times New Roman"/>
                <a:cs typeface="Times New Roman"/>
                <a:sym typeface="Times New Roman"/>
              </a:rPr>
              <a:t>Processing Scalar Implicature: A Constraint-Based Approach (</a:t>
            </a:r>
            <a:r>
              <a:rPr lang="ru" sz="1911" u="sng">
                <a:latin typeface="Times New Roman"/>
                <a:ea typeface="Times New Roman"/>
                <a:cs typeface="Times New Roman"/>
                <a:sym typeface="Times New Roman"/>
                <a:hlinkClick r:id="rId3"/>
              </a:rPr>
              <a:t>Degen, Tanenhaus 2014</a:t>
            </a:r>
            <a:r>
              <a:rPr lang="ru" sz="1911">
                <a:latin typeface="Times New Roman"/>
                <a:ea typeface="Times New Roman"/>
                <a:cs typeface="Times New Roman"/>
                <a:sym typeface="Times New Roman"/>
              </a:rPr>
              <a:t>)</a:t>
            </a:r>
            <a:endParaRPr sz="1911">
              <a:latin typeface="Times New Roman"/>
              <a:ea typeface="Times New Roman"/>
              <a:cs typeface="Times New Roman"/>
              <a:sym typeface="Times New Roman"/>
            </a:endParaRPr>
          </a:p>
          <a:p>
            <a:pPr indent="0" lvl="0" marL="0" rtl="0" algn="l">
              <a:spcBef>
                <a:spcPts val="0"/>
              </a:spcBef>
              <a:spcAft>
                <a:spcPts val="0"/>
              </a:spcAft>
              <a:buNone/>
            </a:pPr>
            <a:r>
              <a:t/>
            </a:r>
            <a:endParaRPr sz="2355">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298" name="Google Shape;298;p51"/>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solidFill>
                  <a:schemeClr val="dk1"/>
                </a:solidFill>
                <a:latin typeface="Times New Roman"/>
                <a:ea typeface="Times New Roman"/>
                <a:cs typeface="Times New Roman"/>
                <a:sym typeface="Times New Roman"/>
              </a:rPr>
              <a:t>Experiment 1 was conducted to determine the naturalness of descriptions with some, some of (henceforth summa), all of (henceforth all), and none of (henceforth none) for set sizes ranging from 0 to 13.</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i="1" lang="ru" sz="1300">
                <a:solidFill>
                  <a:schemeClr val="dk1"/>
                </a:solidFill>
                <a:latin typeface="Times New Roman"/>
                <a:ea typeface="Times New Roman"/>
                <a:cs typeface="Times New Roman"/>
                <a:sym typeface="Times New Roman"/>
              </a:rPr>
              <a:t>You got X gumballs</a:t>
            </a:r>
            <a:r>
              <a:rPr lang="ru" sz="1300">
                <a:solidFill>
                  <a:schemeClr val="dk1"/>
                </a:solidFill>
                <a:latin typeface="Times New Roman"/>
                <a:ea typeface="Times New Roman"/>
                <a:cs typeface="Times New Roman"/>
                <a:sym typeface="Times New Roman"/>
              </a:rPr>
              <a:t> – how naturally the scene was described by the statement on a seven-point Likert scale, where seven was very natural and one was very unnatural. </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299" name="Google Shape;299;p51"/>
          <p:cNvPicPr preferRelativeResize="0"/>
          <p:nvPr/>
        </p:nvPicPr>
        <p:blipFill>
          <a:blip r:embed="rId4">
            <a:alphaModFix/>
          </a:blip>
          <a:stretch>
            <a:fillRect/>
          </a:stretch>
        </p:blipFill>
        <p:spPr>
          <a:xfrm>
            <a:off x="2205025" y="2096000"/>
            <a:ext cx="4601476" cy="28613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022">
                <a:latin typeface="Times New Roman"/>
                <a:ea typeface="Times New Roman"/>
                <a:cs typeface="Times New Roman"/>
                <a:sym typeface="Times New Roman"/>
              </a:rPr>
              <a:t>Processing Scalar Implicature: A Constraint-Based Approach (</a:t>
            </a:r>
            <a:r>
              <a:rPr lang="ru" sz="2022" u="sng">
                <a:latin typeface="Times New Roman"/>
                <a:ea typeface="Times New Roman"/>
                <a:cs typeface="Times New Roman"/>
                <a:sym typeface="Times New Roman"/>
                <a:hlinkClick r:id="rId3"/>
              </a:rPr>
              <a:t>Degen, Tanenhaus 2014</a:t>
            </a:r>
            <a:r>
              <a:rPr lang="ru" sz="2022">
                <a:latin typeface="Times New Roman"/>
                <a:ea typeface="Times New Roman"/>
                <a:cs typeface="Times New Roman"/>
                <a:sym typeface="Times New Roman"/>
              </a:rPr>
              <a:t>)</a:t>
            </a:r>
            <a:endParaRPr sz="2022">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05" name="Google Shape;305;p52"/>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solidFill>
                  <a:schemeClr val="dk1"/>
                </a:solidFill>
                <a:latin typeface="Times New Roman"/>
                <a:ea typeface="Times New Roman"/>
                <a:cs typeface="Times New Roman"/>
                <a:sym typeface="Times New Roman"/>
              </a:rPr>
              <a:t>Some and summa were both judged to be quite unnatural for set sizes of 1 and 2, and more natural but not quite as natural as for the preferred set size (six gumballs) for 3. Naturalness also decreased after the mid range (five to eight gumballs) and was low at the unpartitioned set. In addition, the partitive, some of, was less natural to refer to the unpartitioned set than simple some. Finally, we note that naturalness ratings for some/summa gradually decreased for set sizes above 6. </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06" name="Google Shape;306;p52"/>
          <p:cNvPicPr preferRelativeResize="0"/>
          <p:nvPr/>
        </p:nvPicPr>
        <p:blipFill>
          <a:blip r:embed="rId4">
            <a:alphaModFix/>
          </a:blip>
          <a:stretch>
            <a:fillRect/>
          </a:stretch>
        </p:blipFill>
        <p:spPr>
          <a:xfrm>
            <a:off x="2205025" y="2096000"/>
            <a:ext cx="4601476" cy="28613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latin typeface="Times New Roman"/>
                <a:ea typeface="Times New Roman"/>
                <a:cs typeface="Times New Roman"/>
                <a:sym typeface="Times New Roman"/>
              </a:rPr>
              <a:t>Processing Scalar Implicature: A Constraint-Based Approach (</a:t>
            </a:r>
            <a:r>
              <a:rPr lang="ru" sz="1800" u="sng">
                <a:latin typeface="Times New Roman"/>
                <a:ea typeface="Times New Roman"/>
                <a:cs typeface="Times New Roman"/>
                <a:sym typeface="Times New Roman"/>
                <a:hlinkClick r:id="rId3"/>
              </a:rPr>
              <a:t>Degen, Tanenhaus 2014</a:t>
            </a:r>
            <a:r>
              <a:rPr lang="ru"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12" name="Google Shape;312;p53"/>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solidFill>
                  <a:schemeClr val="dk1"/>
                </a:solidFill>
                <a:latin typeface="Times New Roman"/>
                <a:ea typeface="Times New Roman"/>
                <a:cs typeface="Times New Roman"/>
                <a:sym typeface="Times New Roman"/>
              </a:rPr>
              <a:t>Experiment 2 tested the hypothesis that when number terms are included as alternatives within the context of an experiment, the naturalness of some will be reduced when it is used with small set sizes.</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13" name="Google Shape;313;p53"/>
          <p:cNvPicPr preferRelativeResize="0"/>
          <p:nvPr/>
        </p:nvPicPr>
        <p:blipFill>
          <a:blip r:embed="rId4">
            <a:alphaModFix/>
          </a:blip>
          <a:stretch>
            <a:fillRect/>
          </a:stretch>
        </p:blipFill>
        <p:spPr>
          <a:xfrm>
            <a:off x="1556250" y="1457700"/>
            <a:ext cx="5942200" cy="34571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911">
                <a:latin typeface="Times New Roman"/>
                <a:ea typeface="Times New Roman"/>
                <a:cs typeface="Times New Roman"/>
                <a:sym typeface="Times New Roman"/>
              </a:rPr>
              <a:t>Processing Scalar Implicature: A Constraint-Based Approach (</a:t>
            </a:r>
            <a:r>
              <a:rPr lang="ru" sz="1911" u="sng">
                <a:latin typeface="Times New Roman"/>
                <a:ea typeface="Times New Roman"/>
                <a:cs typeface="Times New Roman"/>
                <a:sym typeface="Times New Roman"/>
                <a:hlinkClick r:id="rId3"/>
              </a:rPr>
              <a:t>Degen, Tanenhaus 2014</a:t>
            </a:r>
            <a:r>
              <a:rPr lang="ru" sz="1911">
                <a:latin typeface="Times New Roman"/>
                <a:ea typeface="Times New Roman"/>
                <a:cs typeface="Times New Roman"/>
                <a:sym typeface="Times New Roman"/>
              </a:rPr>
              <a:t>)</a:t>
            </a:r>
            <a:endParaRPr sz="1911">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19" name="Google Shape;319;p54"/>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solidFill>
                  <a:schemeClr val="dk1"/>
                </a:solidFill>
                <a:latin typeface="Times New Roman"/>
                <a:ea typeface="Times New Roman"/>
                <a:cs typeface="Times New Roman"/>
                <a:sym typeface="Times New Roman"/>
              </a:rPr>
              <a:t>With the exception of 6 and 7 (around half of the original set size), numbers are always judged to be more natural than some/summa when they are intermixed.</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20" name="Google Shape;320;p54"/>
          <p:cNvPicPr preferRelativeResize="0"/>
          <p:nvPr/>
        </p:nvPicPr>
        <p:blipFill>
          <a:blip r:embed="rId4">
            <a:alphaModFix/>
          </a:blip>
          <a:stretch>
            <a:fillRect/>
          </a:stretch>
        </p:blipFill>
        <p:spPr>
          <a:xfrm>
            <a:off x="1556250" y="1457700"/>
            <a:ext cx="5942200" cy="34571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800">
                <a:latin typeface="Times New Roman"/>
                <a:ea typeface="Times New Roman"/>
                <a:cs typeface="Times New Roman"/>
                <a:sym typeface="Times New Roman"/>
              </a:rPr>
              <a:t>Processing Scalar Implicature: A Constraint-Based Approach (</a:t>
            </a:r>
            <a:r>
              <a:rPr lang="ru" sz="1800" u="sng">
                <a:latin typeface="Times New Roman"/>
                <a:ea typeface="Times New Roman"/>
                <a:cs typeface="Times New Roman"/>
                <a:sym typeface="Times New Roman"/>
                <a:hlinkClick r:id="rId3"/>
              </a:rPr>
              <a:t>Degen, Tanenhaus 2014</a:t>
            </a:r>
            <a:r>
              <a:rPr lang="ru"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26" name="Google Shape;326;p55"/>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300">
                <a:solidFill>
                  <a:schemeClr val="dk1"/>
                </a:solidFill>
                <a:latin typeface="Times New Roman"/>
                <a:ea typeface="Times New Roman"/>
                <a:cs typeface="Times New Roman"/>
                <a:sym typeface="Times New Roman"/>
              </a:rPr>
              <a:t>Experiment 3 was designed to test whether the effect of available natural alternatives is reflected in response times. We recorded participants’ judgments and response times to press one of two buttons (YES or NO) depending on whether they agreed or disagreed with the description. The Constraint-Based account predicts that participants’ YES responses should be slower for more unnatural statements. </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300">
                <a:solidFill>
                  <a:schemeClr val="dk1"/>
                </a:solidFill>
                <a:latin typeface="Times New Roman"/>
                <a:ea typeface="Times New Roman"/>
                <a:cs typeface="Times New Roman"/>
                <a:sym typeface="Times New Roman"/>
              </a:rPr>
              <a:t>Note that neither the Default nor the Literal-First model predicts response time differences based on naturalness of alternatives—regardless of set size, processing of a statement with some should take the same amount of time, except for the unpartitioned set, where the Default model predicts longer response times for semantic YES responses and the Literal-First model predicts longer response times for pragmatic NO responses. In addition, neither of these models predicts when a statement with some should result in a pragmatic NO judgment despite being semantically true. In contrast, the Constraint-Based account predicts the proportion of NO judgments to be proportional to the naturalness of some used with that set size.</a:t>
            </a:r>
            <a:endParaRPr sz="1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1911">
                <a:latin typeface="Times New Roman"/>
                <a:ea typeface="Times New Roman"/>
                <a:cs typeface="Times New Roman"/>
                <a:sym typeface="Times New Roman"/>
              </a:rPr>
              <a:t>Processing Scalar Implicature: A Constraint-Based Approach (</a:t>
            </a:r>
            <a:r>
              <a:rPr lang="ru" sz="1911" u="sng">
                <a:latin typeface="Times New Roman"/>
                <a:ea typeface="Times New Roman"/>
                <a:cs typeface="Times New Roman"/>
                <a:sym typeface="Times New Roman"/>
                <a:hlinkClick r:id="rId3"/>
              </a:rPr>
              <a:t>Degen, Tanenhaus 2014</a:t>
            </a:r>
            <a:r>
              <a:rPr lang="ru" sz="1911">
                <a:latin typeface="Times New Roman"/>
                <a:ea typeface="Times New Roman"/>
                <a:cs typeface="Times New Roman"/>
                <a:sym typeface="Times New Roman"/>
              </a:rPr>
              <a:t>)</a:t>
            </a:r>
            <a:endParaRPr sz="1911">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32" name="Google Shape;332;p56"/>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pic>
        <p:nvPicPr>
          <p:cNvPr id="333" name="Google Shape;333;p56"/>
          <p:cNvPicPr preferRelativeResize="0"/>
          <p:nvPr/>
        </p:nvPicPr>
        <p:blipFill>
          <a:blip r:embed="rId4">
            <a:alphaModFix/>
          </a:blip>
          <a:stretch>
            <a:fillRect/>
          </a:stretch>
        </p:blipFill>
        <p:spPr>
          <a:xfrm>
            <a:off x="1872150" y="1123250"/>
            <a:ext cx="5234175" cy="3535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sz="2022">
                <a:solidFill>
                  <a:srgbClr val="000000"/>
                </a:solidFill>
                <a:latin typeface="Times New Roman"/>
                <a:ea typeface="Times New Roman"/>
                <a:cs typeface="Times New Roman"/>
                <a:sym typeface="Times New Roman"/>
              </a:rPr>
              <a:t>Processing Scalar Implicature: A Constraint-Based Approach (</a:t>
            </a:r>
            <a:r>
              <a:rPr lang="ru" sz="2022" u="sng">
                <a:solidFill>
                  <a:srgbClr val="000000"/>
                </a:solidFill>
                <a:latin typeface="Times New Roman"/>
                <a:ea typeface="Times New Roman"/>
                <a:cs typeface="Times New Roman"/>
                <a:sym typeface="Times New Roman"/>
                <a:hlinkClick r:id="rId3">
                  <a:extLst>
                    <a:ext uri="{A12FA001-AC4F-418D-AE19-62706E023703}">
                      <ahyp:hlinkClr val="tx"/>
                    </a:ext>
                  </a:extLst>
                </a:hlinkClick>
              </a:rPr>
              <a:t>Degen, Tanenhaus 2014</a:t>
            </a:r>
            <a:r>
              <a:rPr lang="ru" sz="2022">
                <a:solidFill>
                  <a:srgbClr val="000000"/>
                </a:solidFill>
                <a:latin typeface="Times New Roman"/>
                <a:ea typeface="Times New Roman"/>
                <a:cs typeface="Times New Roman"/>
                <a:sym typeface="Times New Roman"/>
              </a:rPr>
              <a:t>)</a:t>
            </a:r>
            <a:endParaRPr sz="2022">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2244"/>
          </a:p>
          <a:p>
            <a:pPr indent="0" lvl="0" marL="0" rtl="0" algn="l">
              <a:spcBef>
                <a:spcPts val="0"/>
              </a:spcBef>
              <a:spcAft>
                <a:spcPts val="0"/>
              </a:spcAft>
              <a:buNone/>
            </a:pPr>
            <a:r>
              <a:t/>
            </a:r>
            <a:endParaRPr sz="2244"/>
          </a:p>
          <a:p>
            <a:pPr indent="0" lvl="0" marL="0" rtl="0" algn="l">
              <a:spcBef>
                <a:spcPts val="0"/>
              </a:spcBef>
              <a:spcAft>
                <a:spcPts val="0"/>
              </a:spcAft>
              <a:buNone/>
            </a:pPr>
            <a:r>
              <a:t/>
            </a:r>
            <a:endParaRPr/>
          </a:p>
        </p:txBody>
      </p:sp>
      <p:sp>
        <p:nvSpPr>
          <p:cNvPr id="339" name="Google Shape;339;p57"/>
          <p:cNvSpPr txBox="1"/>
          <p:nvPr>
            <p:ph idx="1" type="body"/>
          </p:nvPr>
        </p:nvSpPr>
        <p:spPr>
          <a:xfrm>
            <a:off x="166300" y="915675"/>
            <a:ext cx="8520600" cy="410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400">
                <a:solidFill>
                  <a:schemeClr val="dk1"/>
                </a:solidFill>
                <a:latin typeface="Times New Roman"/>
                <a:ea typeface="Times New Roman"/>
                <a:cs typeface="Times New Roman"/>
                <a:sym typeface="Times New Roman"/>
              </a:rPr>
              <a:t>In rating studies in which the upper chamber began with 13 gumballs, we found the following results: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(1) some was less natural for small sets (1–3) than for intermediate size sets (6–8);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(2) exact number was more natural than some, with the effect being most pronounced for small and large set sizes;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(3) descriptions with some were less natural than descriptions with all for the unpartitioned set, with the effect more pronounced for partitive some than for simple some;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(4) intermixing exact number descriptions further lowered naturalness ratings for small sets (one, two, and three gumballs) but not for intermediate size sets.</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The Literal-First account has trouble explaining the naturalness effects we observed for the YES responses, in particular the slower response time for YES responses to some/summa at the unpartitioned set compared to the preferred range.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ru" sz="1400">
                <a:solidFill>
                  <a:schemeClr val="dk1"/>
                </a:solidFill>
                <a:latin typeface="Times New Roman"/>
                <a:ea typeface="Times New Roman"/>
                <a:cs typeface="Times New Roman"/>
                <a:sym typeface="Times New Roman"/>
              </a:rPr>
              <a:t>Our results are also incompatible with the Default model, which assumes that scalar implicatures are computed by default, upon encountering some.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t/>
            </a:r>
            <a:endParaRPr sz="1100"/>
          </a:p>
          <a:p>
            <a:pPr indent="45720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8"/>
          <p:cNvSpPr txBox="1"/>
          <p:nvPr>
            <p:ph type="title"/>
          </p:nvPr>
        </p:nvSpPr>
        <p:spPr>
          <a:xfrm>
            <a:off x="311700" y="350600"/>
            <a:ext cx="8520600" cy="4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ru" sz="2020">
                <a:latin typeface="Times New Roman"/>
                <a:ea typeface="Times New Roman"/>
                <a:cs typeface="Times New Roman"/>
                <a:sym typeface="Times New Roman"/>
              </a:rPr>
              <a:t>References</a:t>
            </a:r>
            <a:endParaRPr sz="2020">
              <a:latin typeface="Times New Roman"/>
              <a:ea typeface="Times New Roman"/>
              <a:cs typeface="Times New Roman"/>
              <a:sym typeface="Times New Roman"/>
            </a:endParaRPr>
          </a:p>
        </p:txBody>
      </p:sp>
      <p:sp>
        <p:nvSpPr>
          <p:cNvPr id="345" name="Google Shape;345;p58"/>
          <p:cNvSpPr txBox="1"/>
          <p:nvPr>
            <p:ph idx="1" type="body"/>
          </p:nvPr>
        </p:nvSpPr>
        <p:spPr>
          <a:xfrm>
            <a:off x="311700" y="846500"/>
            <a:ext cx="8520600" cy="4296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Banga A., Heutinck I., Berends S. M., Hendriks P. (2009). Some implicatures reveal semantic differences // Linguistics in the Netherlands / ed. by B. Botma, J. van Kampen. P. 1–13.</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Chierchia G. (2004). Scalar implicatures, polarity phenomena and the syntax/pragmatics interface // Structures and beyond. Oxford University Press. P. 39–103.</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ru" sz="900">
                <a:solidFill>
                  <a:schemeClr val="dk1"/>
                </a:solidFill>
                <a:latin typeface="Times New Roman"/>
                <a:ea typeface="Times New Roman"/>
                <a:cs typeface="Times New Roman"/>
                <a:sym typeface="Times New Roman"/>
              </a:rPr>
              <a:t>Doran R., Ward G., Larson M., McNabb Y., Baker R. E. (2012). A novel experimental paradigm for distinguishing between what is said and what is implicated // Language. Vol. 88, No. 1. P. 124–154.</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ru" sz="900">
                <a:solidFill>
                  <a:schemeClr val="dk1"/>
                </a:solidFill>
                <a:latin typeface="Times New Roman"/>
                <a:ea typeface="Times New Roman"/>
                <a:cs typeface="Times New Roman"/>
                <a:sym typeface="Times New Roman"/>
              </a:rPr>
              <a:t>Foppolo F., Guasti M. T., Chierchia G. (2012). Scalar implicatures in child language: give children a chance // Language Learning and Development. Vol. 8, No. 4. P. 365–394.</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Fox D. (2007). Free choice and the theory of scalar implicatures // Presupposition and implicature in compositional semantics / ed. by U. Sauerland, P. Stateva. Houndmills: Palgrave Macmillan. P. 71–120.</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Gazdar G. (1979). Pragmatics: implicature, presupposition and logical form. New-York: Academic Press.</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Geis M. L., Zwicky A. M. (1971). On invited inferences // Linguistic Inquiry. Vol. 2, No. 4. P. 561–566.</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Geurts B. (2010). Quantity implicatures. Cambridge: Cambridge University Press.</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Groenendijk J., Stokhof M. (1984). Studies in the semantics of questions and the pragmatics of answers: PhD thesis / Jeroen Groenendijk, M. Stokhof. University of Amsterdam.</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Hirschberg, Julia. 1985. A theory of scalar implicature: University of Pennsylvania dissertation.</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275"/>
              <a:buNone/>
            </a:pPr>
            <a:r>
              <a:rPr lang="ru" sz="900">
                <a:solidFill>
                  <a:schemeClr val="dk1"/>
                </a:solidFill>
                <a:latin typeface="Times New Roman"/>
                <a:ea typeface="Times New Roman"/>
                <a:cs typeface="Times New Roman"/>
                <a:sym typeface="Times New Roman"/>
              </a:rPr>
              <a:t>Horn L. R. (1972). On the semantic properties of logical operators in English: PhD thesis / Laurence R Horn. UCLA.</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275"/>
              <a:buNone/>
            </a:pPr>
            <a:r>
              <a:rPr lang="ru" sz="900">
                <a:solidFill>
                  <a:schemeClr val="dk1"/>
                </a:solidFill>
                <a:latin typeface="Times New Roman"/>
                <a:ea typeface="Times New Roman"/>
                <a:cs typeface="Times New Roman"/>
                <a:sym typeface="Times New Roman"/>
              </a:rPr>
              <a:t>Horn L. R. (2000). From if to iff: conditional perfection as pragmatic strengthening // Journal of Pragmatics. Vol. 32, No. 3. P. 289–326.</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275"/>
              <a:buNone/>
            </a:pPr>
            <a:r>
              <a:rPr lang="ru" sz="900">
                <a:solidFill>
                  <a:schemeClr val="dk1"/>
                </a:solidFill>
                <a:latin typeface="Times New Roman"/>
                <a:ea typeface="Times New Roman"/>
                <a:cs typeface="Times New Roman"/>
                <a:sym typeface="Times New Roman"/>
              </a:rPr>
              <a:t>Horn L. R. (2009). WJ-40: implicature, truth, and meaning // International Review of Pragmatics. Vol. 1. P. 3–34.</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275"/>
              <a:buNone/>
            </a:pPr>
            <a:r>
              <a:rPr lang="ru" sz="900">
                <a:solidFill>
                  <a:schemeClr val="dk1"/>
                </a:solidFill>
                <a:latin typeface="Times New Roman"/>
                <a:ea typeface="Times New Roman"/>
                <a:cs typeface="Times New Roman"/>
                <a:sym typeface="Times New Roman"/>
              </a:rPr>
              <a:t>Jennings R. E. (1994). The “or” of free choice permission // Topoi. Vol. 13, No. 1. P. 3–10.</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ru" sz="900">
                <a:solidFill>
                  <a:schemeClr val="dk1"/>
                </a:solidFill>
                <a:latin typeface="Times New Roman"/>
                <a:ea typeface="Times New Roman"/>
                <a:cs typeface="Times New Roman"/>
                <a:sym typeface="Times New Roman"/>
              </a:rPr>
              <a:t>Katsos N., Bishop D. V. M. (2011). Pragmatic tolerance: implications for the acquisition of informativeness and implicature // Cognition. Vol. 120, No. 1. P. 67–81.</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ru" sz="900">
                <a:solidFill>
                  <a:schemeClr val="dk1"/>
                </a:solidFill>
                <a:latin typeface="Times New Roman"/>
                <a:ea typeface="Times New Roman"/>
                <a:cs typeface="Times New Roman"/>
                <a:sym typeface="Times New Roman"/>
              </a:rPr>
              <a:t>Katsos N. (2014). Scalar implicature // Pragmatic development in first language acquisition / ed. by D. Matthews. Amsterdam: John Benjamins Publishing Company. P. 183–197.</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Matsumoto Y. (1995). The conversational condition on Horn scales // Linguistics and Philosophy. Vol. 18. P. 21–60.</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Pouscoulous N., Noveck I., Politzer G., Bastide A. (2007). A developmental investigation of processing costs in implicature production // Language Acquisition. Vol. 14, No. 4. P. 347–376.</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ru" sz="900">
                <a:solidFill>
                  <a:schemeClr val="dk1"/>
                </a:solidFill>
                <a:latin typeface="Times New Roman"/>
                <a:ea typeface="Times New Roman"/>
                <a:cs typeface="Times New Roman"/>
                <a:sym typeface="Times New Roman"/>
              </a:rPr>
              <a:t>Rubio-Fernandez P. (2016). How redundant are redundant color adjectives? An efficiency-based analysis of color overspecification // Frontiers in Psychology. Vol. 7. P. 1–15.</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100"/>
              <a:buNone/>
            </a:pPr>
            <a:r>
              <a:rPr lang="ru" sz="900">
                <a:solidFill>
                  <a:schemeClr val="dk1"/>
                </a:solidFill>
                <a:latin typeface="Times New Roman"/>
                <a:ea typeface="Times New Roman"/>
                <a:cs typeface="Times New Roman"/>
                <a:sym typeface="Times New Roman"/>
              </a:rPr>
              <a:t>Stiller A., Goodman N. D., Franke M., Frank M. C. (2011). Ad-hoc scalar implicature in adults and children // Proceedings of the thirty-third annual conference of the Cognitive Science Society / ed. by L. Carlson, C. Holscher, T. Shipley. Boston. P. 2134–2139.</a:t>
            </a:r>
            <a:endParaRPr sz="9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275"/>
              <a:buNone/>
            </a:pPr>
            <a:r>
              <a:rPr lang="ru" sz="900">
                <a:solidFill>
                  <a:schemeClr val="dk1"/>
                </a:solidFill>
                <a:latin typeface="Times New Roman"/>
                <a:ea typeface="Times New Roman"/>
                <a:cs typeface="Times New Roman"/>
                <a:sym typeface="Times New Roman"/>
              </a:rPr>
              <a:t>van der Auwera J. (1997). Pragmatics in the last quarter century: the case of conditional perfection // Journal of Pragmatics. Vol. 27, No. 3. P. 261–274.</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0"/>
              </a:spcBef>
              <a:spcAft>
                <a:spcPts val="0"/>
              </a:spcAft>
              <a:buSzPts val="275"/>
              <a:buNone/>
            </a:pPr>
            <a:r>
              <a:t/>
            </a:r>
            <a:endParaRPr sz="900">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chemeClr val="dk1"/>
              </a:buClr>
              <a:buSzPts val="275"/>
              <a:buFont typeface="Arial"/>
              <a:buNone/>
            </a:pPr>
            <a:r>
              <a:t/>
            </a:r>
            <a:endParaRPr sz="700">
              <a:latin typeface="Times New Roman"/>
              <a:ea typeface="Times New Roman"/>
              <a:cs typeface="Times New Roman"/>
              <a:sym typeface="Times New Roman"/>
            </a:endParaRPr>
          </a:p>
          <a:p>
            <a:pPr indent="0" lvl="0" marL="0" rtl="0" algn="l">
              <a:lnSpc>
                <a:spcPct val="95000"/>
              </a:lnSpc>
              <a:spcBef>
                <a:spcPts val="1200"/>
              </a:spcBef>
              <a:spcAft>
                <a:spcPts val="1200"/>
              </a:spcAft>
              <a:buSzPts val="275"/>
              <a:buNone/>
            </a:pPr>
            <a:r>
              <a:t/>
            </a:r>
            <a:endParaRPr sz="7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